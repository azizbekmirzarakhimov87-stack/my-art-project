
<file path=[Content_Types].xml><?xml version="1.0" encoding="utf-8"?>
<Types xmlns="http://schemas.openxmlformats.org/package/2006/content-types">
  <Default Extension="png" ContentType="image/png"/>
  <Default Extension="webp" ContentType="image/webp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Liter" panose="020B0604020202020204" charset="0"/>
      <p:regular r:id="rId16"/>
    </p:embeddedFont>
    <p:embeddedFont>
      <p:font typeface="MiSans" panose="020B0604020202020204" charset="-122"/>
      <p:regular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2982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eb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0.wp.com/2b5a2f839954468ecdceb4cc677912ba5d416450.jpg"/>
          <p:cNvPicPr>
            <a:picLocks noChangeAspect="1"/>
          </p:cNvPicPr>
          <p:nvPr/>
        </p:nvPicPr>
        <p:blipFill>
          <a:blip r:embed="rId3"/>
          <a:srcRect t="7547" b="7547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3A5C">
                  <a:alpha val="95000"/>
                </a:srgbClr>
              </a:gs>
              <a:gs pos="50000">
                <a:srgbClr val="1A3A5C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229201"/>
            <a:ext cx="2219325" cy="381000"/>
          </a:xfrm>
          <a:custGeom>
            <a:avLst/>
            <a:gdLst/>
            <a:ahLst/>
            <a:cxnLst/>
            <a:rect l="l" t="t" r="r" b="b"/>
            <a:pathLst>
              <a:path w="2219325" h="381000">
                <a:moveTo>
                  <a:pt x="190500" y="0"/>
                </a:moveTo>
                <a:lnTo>
                  <a:pt x="2028825" y="0"/>
                </a:lnTo>
                <a:cubicBezTo>
                  <a:pt x="2133965" y="0"/>
                  <a:pt x="2219325" y="85360"/>
                  <a:pt x="2219325" y="190500"/>
                </a:cubicBezTo>
                <a:lnTo>
                  <a:pt x="2219325" y="190500"/>
                </a:lnTo>
                <a:cubicBezTo>
                  <a:pt x="2219325" y="295640"/>
                  <a:pt x="2133965" y="381000"/>
                  <a:pt x="2028825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1229201"/>
            <a:ext cx="2295525" cy="381000"/>
          </a:xfrm>
          <a:prstGeom prst="rect">
            <a:avLst/>
          </a:prstGeom>
          <a:noFill/>
          <a:ln/>
        </p:spPr>
        <p:txBody>
          <a:bodyPr wrap="square" lIns="190500" tIns="76200" rIns="190500" bIns="762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STRATEGIK INNOVATSIYA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838801"/>
            <a:ext cx="7010400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Raqamli Filarmoniya 2026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576161"/>
            <a:ext cx="914400" cy="57150"/>
          </a:xfrm>
          <a:custGeom>
            <a:avLst/>
            <a:gdLst/>
            <a:ahLst/>
            <a:cxnLst/>
            <a:rect l="l" t="t" r="r" b="b"/>
            <a:pathLst>
              <a:path w="914400" h="57150">
                <a:moveTo>
                  <a:pt x="0" y="0"/>
                </a:moveTo>
                <a:lnTo>
                  <a:pt x="914400" y="0"/>
                </a:lnTo>
                <a:lnTo>
                  <a:pt x="9144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3861911"/>
            <a:ext cx="68389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 err="1">
                <a:solidFill>
                  <a:srgbClr val="D4A5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Xalqaro</a:t>
            </a:r>
            <a:r>
              <a:rPr lang="en-US" sz="2700" b="1" dirty="0">
                <a:solidFill>
                  <a:srgbClr val="D4A5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2700" b="1" dirty="0" smtClean="0">
                <a:solidFill>
                  <a:srgbClr val="D4A5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</a:t>
            </a:r>
            <a:r>
              <a:rPr lang="en-US" sz="2700" b="1" dirty="0" err="1" smtClean="0">
                <a:solidFill>
                  <a:srgbClr val="D4A5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amkorlikda</a:t>
            </a:r>
            <a:r>
              <a:rPr lang="en-US" sz="2700" b="1" dirty="0" smtClean="0">
                <a:solidFill>
                  <a:srgbClr val="D4A5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700" b="1" dirty="0">
                <a:solidFill>
                  <a:srgbClr val="D4A5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</a:t>
            </a:r>
            <a:r>
              <a:rPr lang="uz-Latn-UZ" sz="2700" b="1" dirty="0" smtClean="0">
                <a:solidFill>
                  <a:srgbClr val="D4A5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r>
              <a:rPr lang="en-US" sz="2700" b="1" dirty="0" err="1" smtClean="0">
                <a:solidFill>
                  <a:srgbClr val="D4A5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nqilobi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4595336"/>
            <a:ext cx="58102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 err="1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Strategik</a:t>
            </a:r>
            <a:r>
              <a:rPr lang="en-US" sz="1500" b="1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500" b="1" dirty="0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</a:t>
            </a:r>
            <a:r>
              <a:rPr lang="en-US" sz="1500" b="1" dirty="0" err="1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aruriyat</a:t>
            </a:r>
            <a:r>
              <a:rPr lang="en-US" sz="1500" b="1" dirty="0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500" b="1" dirty="0" err="1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</a:t>
            </a:r>
            <a:r>
              <a:rPr lang="en-US" sz="1500" b="1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500" b="1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r>
              <a:rPr lang="en-US" sz="1500" b="1" dirty="0" err="1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nnovatsion</a:t>
            </a:r>
            <a:r>
              <a:rPr lang="en-US" sz="1500" b="1" dirty="0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500" b="1" dirty="0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</a:t>
            </a:r>
            <a:r>
              <a:rPr lang="en-US" sz="1500" b="1" dirty="0" err="1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echim</a:t>
            </a:r>
            <a:endParaRPr lang="en-US" sz="1600" b="1" dirty="0"/>
          </a:p>
        </p:txBody>
      </p:sp>
      <p:sp>
        <p:nvSpPr>
          <p:cNvPr id="10" name="Shape 7"/>
          <p:cNvSpPr/>
          <p:nvPr/>
        </p:nvSpPr>
        <p:spPr>
          <a:xfrm>
            <a:off x="416719" y="5400199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1" name="Text 8"/>
          <p:cNvSpPr/>
          <p:nvPr/>
        </p:nvSpPr>
        <p:spPr>
          <a:xfrm>
            <a:off x="733425" y="5362099"/>
            <a:ext cx="48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465302" y="540019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3" name="Text 10"/>
          <p:cNvSpPr/>
          <p:nvPr/>
        </p:nvSpPr>
        <p:spPr>
          <a:xfrm>
            <a:off x="1793915" y="5362099"/>
            <a:ext cx="46068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 err="1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Xalqaro</a:t>
            </a:r>
            <a:r>
              <a:rPr lang="en-US" sz="1350" b="1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350" b="1" dirty="0" smtClean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</a:t>
            </a:r>
            <a:r>
              <a:rPr lang="en-US" sz="1350" b="1" dirty="0" err="1" smtClean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amkorlik</a:t>
            </a:r>
            <a:r>
              <a:rPr lang="uz-Latn-UZ" sz="1350" b="1" dirty="0" smtClean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va investitsiyalarni jalb qilish bo‘limi</a:t>
            </a:r>
            <a:endParaRPr lang="en-US" sz="1600" b="1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4A90A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TARKIB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 err="1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Taqdimot</a:t>
            </a:r>
            <a:r>
              <a:rPr lang="en-US" sz="36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uz-Latn-UZ" sz="360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</a:t>
            </a:r>
            <a:r>
              <a:rPr lang="en-US" sz="3600" b="1" dirty="0" err="1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arkibi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95400"/>
            <a:ext cx="762000" cy="57150"/>
          </a:xfrm>
          <a:custGeom>
            <a:avLst/>
            <a:gdLst/>
            <a:ahLst/>
            <a:cxnLst/>
            <a:rect l="l" t="t" r="r" b="b"/>
            <a:pathLst>
              <a:path w="762000" h="57150">
                <a:moveTo>
                  <a:pt x="0" y="0"/>
                </a:moveTo>
                <a:lnTo>
                  <a:pt x="762000" y="0"/>
                </a:lnTo>
                <a:lnTo>
                  <a:pt x="762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657350"/>
            <a:ext cx="5581650" cy="1685925"/>
          </a:xfrm>
          <a:custGeom>
            <a:avLst/>
            <a:gdLst/>
            <a:ahLst/>
            <a:cxnLst/>
            <a:rect l="l" t="t" r="r" b="b"/>
            <a:pathLst>
              <a:path w="5581650" h="1685925">
                <a:moveTo>
                  <a:pt x="38100" y="0"/>
                </a:moveTo>
                <a:lnTo>
                  <a:pt x="5467344" y="0"/>
                </a:lnTo>
                <a:cubicBezTo>
                  <a:pt x="5530474" y="0"/>
                  <a:pt x="5581650" y="51176"/>
                  <a:pt x="5581650" y="114306"/>
                </a:cubicBezTo>
                <a:lnTo>
                  <a:pt x="5581650" y="1571619"/>
                </a:lnTo>
                <a:cubicBezTo>
                  <a:pt x="5581650" y="1634749"/>
                  <a:pt x="5530474" y="1685925"/>
                  <a:pt x="5467344" y="1685925"/>
                </a:cubicBezTo>
                <a:lnTo>
                  <a:pt x="38100" y="1685925"/>
                </a:lnTo>
                <a:cubicBezTo>
                  <a:pt x="17072" y="1685925"/>
                  <a:pt x="0" y="1668853"/>
                  <a:pt x="0" y="16478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657350"/>
            <a:ext cx="38100" cy="1685925"/>
          </a:xfrm>
          <a:custGeom>
            <a:avLst/>
            <a:gdLst/>
            <a:ahLst/>
            <a:cxnLst/>
            <a:rect l="l" t="t" r="r" b="b"/>
            <a:pathLst>
              <a:path w="38100" h="1685925">
                <a:moveTo>
                  <a:pt x="38100" y="0"/>
                </a:moveTo>
                <a:lnTo>
                  <a:pt x="38100" y="0"/>
                </a:lnTo>
                <a:lnTo>
                  <a:pt x="38100" y="1685925"/>
                </a:lnTo>
                <a:lnTo>
                  <a:pt x="38100" y="1685925"/>
                </a:lnTo>
                <a:cubicBezTo>
                  <a:pt x="17072" y="1685925"/>
                  <a:pt x="0" y="1668853"/>
                  <a:pt x="0" y="16478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8859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590550" y="18859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33500" y="188595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 err="1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Hozirgi</a:t>
            </a:r>
            <a:r>
              <a:rPr lang="en-US" sz="18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uz-Latn-UZ" sz="180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</a:t>
            </a:r>
            <a:r>
              <a:rPr lang="en-US" sz="1800" b="1" dirty="0" err="1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aziyat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304931"/>
            <a:ext cx="4495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Muammolar va Status Quo - </a:t>
            </a:r>
            <a:r>
              <a:rPr lang="uz-Latn-UZ" sz="1200" dirty="0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</a:t>
            </a:r>
            <a:r>
              <a:rPr lang="en-US" sz="1200" dirty="0" err="1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avjud</a:t>
            </a:r>
            <a:r>
              <a:rPr lang="en-US" sz="1200" dirty="0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tizimning </a:t>
            </a:r>
            <a:r>
              <a:rPr lang="en-US" sz="1200" dirty="0" err="1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zaifliklari</a:t>
            </a: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200" dirty="0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/>
            </a:r>
            <a:br>
              <a:rPr lang="uz-Latn-UZ" sz="1200" dirty="0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</a:br>
            <a:r>
              <a:rPr lang="en-US" sz="1200" dirty="0" err="1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</a:t>
            </a:r>
            <a:r>
              <a:rPr lang="en-US" sz="1200" dirty="0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monitoring yetishmovchiligi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29350" y="1657350"/>
            <a:ext cx="5581650" cy="1685925"/>
          </a:xfrm>
          <a:custGeom>
            <a:avLst/>
            <a:gdLst/>
            <a:ahLst/>
            <a:cxnLst/>
            <a:rect l="l" t="t" r="r" b="b"/>
            <a:pathLst>
              <a:path w="5581650" h="1685925">
                <a:moveTo>
                  <a:pt x="38100" y="0"/>
                </a:moveTo>
                <a:lnTo>
                  <a:pt x="5467344" y="0"/>
                </a:lnTo>
                <a:cubicBezTo>
                  <a:pt x="5530474" y="0"/>
                  <a:pt x="5581650" y="51176"/>
                  <a:pt x="5581650" y="114306"/>
                </a:cubicBezTo>
                <a:lnTo>
                  <a:pt x="5581650" y="1571619"/>
                </a:lnTo>
                <a:cubicBezTo>
                  <a:pt x="5581650" y="1634749"/>
                  <a:pt x="5530474" y="1685925"/>
                  <a:pt x="5467344" y="1685925"/>
                </a:cubicBezTo>
                <a:lnTo>
                  <a:pt x="38100" y="1685925"/>
                </a:lnTo>
                <a:cubicBezTo>
                  <a:pt x="17072" y="1685925"/>
                  <a:pt x="0" y="1668853"/>
                  <a:pt x="0" y="16478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29350" y="1657350"/>
            <a:ext cx="38100" cy="1685925"/>
          </a:xfrm>
          <a:custGeom>
            <a:avLst/>
            <a:gdLst/>
            <a:ahLst/>
            <a:cxnLst/>
            <a:rect l="l" t="t" r="r" b="b"/>
            <a:pathLst>
              <a:path w="38100" h="1685925">
                <a:moveTo>
                  <a:pt x="38100" y="0"/>
                </a:moveTo>
                <a:lnTo>
                  <a:pt x="38100" y="0"/>
                </a:lnTo>
                <a:lnTo>
                  <a:pt x="38100" y="1685925"/>
                </a:lnTo>
                <a:lnTo>
                  <a:pt x="38100" y="1685925"/>
                </a:lnTo>
                <a:cubicBezTo>
                  <a:pt x="17072" y="1685925"/>
                  <a:pt x="0" y="1668853"/>
                  <a:pt x="0" y="16478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13" name="Shape 11"/>
          <p:cNvSpPr/>
          <p:nvPr/>
        </p:nvSpPr>
        <p:spPr>
          <a:xfrm>
            <a:off x="6477000" y="18859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14" name="Text 12"/>
          <p:cNvSpPr/>
          <p:nvPr/>
        </p:nvSpPr>
        <p:spPr>
          <a:xfrm>
            <a:off x="6419850" y="18859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62800" y="188595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</a:t>
            </a:r>
            <a:r>
              <a:rPr lang="uz-Latn-UZ" sz="180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</a:t>
            </a:r>
            <a:r>
              <a:rPr lang="en-US" sz="1800" b="1" dirty="0" err="1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echimi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62800" y="2304931"/>
            <a:ext cx="4495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 err="1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Uchta</a:t>
            </a: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200" dirty="0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</a:t>
            </a:r>
            <a:r>
              <a:rPr lang="en-US" sz="1200" dirty="0" err="1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sosiy</a:t>
            </a:r>
            <a:r>
              <a:rPr lang="en-US" sz="1200" dirty="0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200" dirty="0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</a:t>
            </a:r>
            <a:r>
              <a:rPr lang="en-US" sz="1200" dirty="0" err="1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omponent</a:t>
            </a:r>
            <a:r>
              <a:rPr lang="en-US" sz="1200" dirty="0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Grant Hunter, Proposal Architect, Compliance Bot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571875"/>
            <a:ext cx="5581650" cy="1685925"/>
          </a:xfrm>
          <a:custGeom>
            <a:avLst/>
            <a:gdLst/>
            <a:ahLst/>
            <a:cxnLst/>
            <a:rect l="l" t="t" r="r" b="b"/>
            <a:pathLst>
              <a:path w="5581650" h="1685925">
                <a:moveTo>
                  <a:pt x="38100" y="0"/>
                </a:moveTo>
                <a:lnTo>
                  <a:pt x="5467344" y="0"/>
                </a:lnTo>
                <a:cubicBezTo>
                  <a:pt x="5530474" y="0"/>
                  <a:pt x="5581650" y="51176"/>
                  <a:pt x="5581650" y="114306"/>
                </a:cubicBezTo>
                <a:lnTo>
                  <a:pt x="5581650" y="1571619"/>
                </a:lnTo>
                <a:cubicBezTo>
                  <a:pt x="5581650" y="1634749"/>
                  <a:pt x="5530474" y="1685925"/>
                  <a:pt x="5467344" y="1685925"/>
                </a:cubicBezTo>
                <a:lnTo>
                  <a:pt x="38100" y="1685925"/>
                </a:lnTo>
                <a:cubicBezTo>
                  <a:pt x="17072" y="1685925"/>
                  <a:pt x="0" y="1668853"/>
                  <a:pt x="0" y="16478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0050" y="3571875"/>
            <a:ext cx="38100" cy="1685925"/>
          </a:xfrm>
          <a:custGeom>
            <a:avLst/>
            <a:gdLst/>
            <a:ahLst/>
            <a:cxnLst/>
            <a:rect l="l" t="t" r="r" b="b"/>
            <a:pathLst>
              <a:path w="38100" h="1685925">
                <a:moveTo>
                  <a:pt x="38100" y="0"/>
                </a:moveTo>
                <a:lnTo>
                  <a:pt x="38100" y="0"/>
                </a:lnTo>
                <a:lnTo>
                  <a:pt x="38100" y="1685925"/>
                </a:lnTo>
                <a:lnTo>
                  <a:pt x="38100" y="1685925"/>
                </a:lnTo>
                <a:cubicBezTo>
                  <a:pt x="17072" y="1685925"/>
                  <a:pt x="0" y="1668853"/>
                  <a:pt x="0" y="16478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700" y="38004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20" name="Text 18"/>
          <p:cNvSpPr/>
          <p:nvPr/>
        </p:nvSpPr>
        <p:spPr>
          <a:xfrm>
            <a:off x="590550" y="3800475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33500" y="3800475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 err="1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Iqtisodiy</a:t>
            </a:r>
            <a:r>
              <a:rPr lang="en-US" sz="18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uz-Latn-UZ" sz="180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</a:t>
            </a:r>
            <a:r>
              <a:rPr lang="en-US" sz="1800" b="1" dirty="0" err="1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amaradorlik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33500" y="4219456"/>
            <a:ext cx="4495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 err="1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Investitsiya</a:t>
            </a: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200" dirty="0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</a:t>
            </a:r>
            <a:r>
              <a:rPr lang="en-US" sz="1200" dirty="0" err="1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ahlili</a:t>
            </a:r>
            <a:r>
              <a:rPr lang="en-US" sz="1200" dirty="0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 ROI - </a:t>
            </a:r>
            <a:r>
              <a:rPr lang="uz-Latn-UZ" sz="1200" dirty="0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</a:t>
            </a:r>
            <a:r>
              <a:rPr lang="en-US" sz="1200" dirty="0" err="1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oliyaviy</a:t>
            </a:r>
            <a:r>
              <a:rPr lang="en-US" sz="1200" dirty="0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200" dirty="0" err="1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ko'rsatkichlar</a:t>
            </a: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200" dirty="0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/>
            </a:r>
            <a:br>
              <a:rPr lang="uz-Latn-UZ" sz="1200" dirty="0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</a:br>
            <a:r>
              <a:rPr lang="en-US" sz="1200" dirty="0" err="1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</a:t>
            </a:r>
            <a:r>
              <a:rPr lang="en-US" sz="1200" dirty="0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kutilayotgan natijalar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9350" y="3571875"/>
            <a:ext cx="5581650" cy="1685925"/>
          </a:xfrm>
          <a:custGeom>
            <a:avLst/>
            <a:gdLst/>
            <a:ahLst/>
            <a:cxnLst/>
            <a:rect l="l" t="t" r="r" b="b"/>
            <a:pathLst>
              <a:path w="5581650" h="1685925">
                <a:moveTo>
                  <a:pt x="38100" y="0"/>
                </a:moveTo>
                <a:lnTo>
                  <a:pt x="5467344" y="0"/>
                </a:lnTo>
                <a:cubicBezTo>
                  <a:pt x="5530474" y="0"/>
                  <a:pt x="5581650" y="51176"/>
                  <a:pt x="5581650" y="114306"/>
                </a:cubicBezTo>
                <a:lnTo>
                  <a:pt x="5581650" y="1571619"/>
                </a:lnTo>
                <a:cubicBezTo>
                  <a:pt x="5581650" y="1634749"/>
                  <a:pt x="5530474" y="1685925"/>
                  <a:pt x="5467344" y="1685925"/>
                </a:cubicBezTo>
                <a:lnTo>
                  <a:pt x="38100" y="1685925"/>
                </a:lnTo>
                <a:cubicBezTo>
                  <a:pt x="17072" y="1685925"/>
                  <a:pt x="0" y="1668853"/>
                  <a:pt x="0" y="16478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29350" y="3571875"/>
            <a:ext cx="38100" cy="1685925"/>
          </a:xfrm>
          <a:custGeom>
            <a:avLst/>
            <a:gdLst/>
            <a:ahLst/>
            <a:cxnLst/>
            <a:rect l="l" t="t" r="r" b="b"/>
            <a:pathLst>
              <a:path w="38100" h="1685925">
                <a:moveTo>
                  <a:pt x="38100" y="0"/>
                </a:moveTo>
                <a:lnTo>
                  <a:pt x="38100" y="0"/>
                </a:lnTo>
                <a:lnTo>
                  <a:pt x="38100" y="1685925"/>
                </a:lnTo>
                <a:lnTo>
                  <a:pt x="38100" y="1685925"/>
                </a:lnTo>
                <a:cubicBezTo>
                  <a:pt x="17072" y="1685925"/>
                  <a:pt x="0" y="1668853"/>
                  <a:pt x="0" y="16478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25" name="Shape 23"/>
          <p:cNvSpPr/>
          <p:nvPr/>
        </p:nvSpPr>
        <p:spPr>
          <a:xfrm>
            <a:off x="6477000" y="38004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6419850" y="3800475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62800" y="3800475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 err="1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Ijtimoiy</a:t>
            </a:r>
            <a:r>
              <a:rPr lang="en-US" sz="18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uz-Latn-UZ" sz="180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</a:t>
            </a:r>
            <a:r>
              <a:rPr lang="en-US" sz="1800" b="1" dirty="0" err="1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a'sir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62800" y="4219456"/>
            <a:ext cx="4495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 err="1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Inson</a:t>
            </a: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200" dirty="0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</a:t>
            </a:r>
            <a:r>
              <a:rPr lang="en-US" sz="1200" dirty="0" err="1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adri</a:t>
            </a:r>
            <a:r>
              <a:rPr lang="en-US" sz="1200" dirty="0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200" dirty="0" err="1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</a:t>
            </a: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200" dirty="0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</a:t>
            </a:r>
            <a:r>
              <a:rPr lang="en-US" sz="1200" dirty="0" err="1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adaniy</a:t>
            </a:r>
            <a:r>
              <a:rPr lang="en-US" sz="1200" dirty="0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</a:t>
            </a:r>
            <a:r>
              <a:rPr lang="en-US" sz="1200" dirty="0" err="1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ub</a:t>
            </a:r>
            <a:r>
              <a:rPr lang="en-US" sz="1200" dirty="0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</a:t>
            </a:r>
            <a:r>
              <a:rPr lang="uz-Latn-UZ" sz="1200" dirty="0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</a:t>
            </a:r>
            <a:r>
              <a:rPr lang="en-US" sz="1200" dirty="0" err="1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oshlar</a:t>
            </a:r>
            <a:r>
              <a:rPr lang="en-US" sz="1200" dirty="0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uchun </a:t>
            </a:r>
            <a:r>
              <a:rPr lang="en-US" sz="1200" dirty="0" err="1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imkoniyatlar</a:t>
            </a: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200" dirty="0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/>
            </a:r>
            <a:br>
              <a:rPr lang="uz-Latn-UZ" sz="1200" dirty="0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</a:br>
            <a:r>
              <a:rPr lang="en-US" sz="1200" dirty="0" err="1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</a:t>
            </a:r>
            <a:r>
              <a:rPr lang="en-US" sz="1200" dirty="0" smtClean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madaniy eksport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1000" y="5486400"/>
            <a:ext cx="11430000" cy="990600"/>
          </a:xfrm>
          <a:custGeom>
            <a:avLst/>
            <a:gdLst/>
            <a:ahLst/>
            <a:cxnLst/>
            <a:rect l="l" t="t" r="r" b="b"/>
            <a:pathLst>
              <a:path w="11430000" h="990600">
                <a:moveTo>
                  <a:pt x="114295" y="0"/>
                </a:moveTo>
                <a:lnTo>
                  <a:pt x="11315705" y="0"/>
                </a:lnTo>
                <a:cubicBezTo>
                  <a:pt x="11378786" y="0"/>
                  <a:pt x="11430000" y="51214"/>
                  <a:pt x="11430000" y="114295"/>
                </a:cubicBezTo>
                <a:lnTo>
                  <a:pt x="11430000" y="876305"/>
                </a:lnTo>
                <a:cubicBezTo>
                  <a:pt x="11430000" y="939386"/>
                  <a:pt x="11378786" y="990600"/>
                  <a:pt x="11315705" y="990600"/>
                </a:cubicBezTo>
                <a:lnTo>
                  <a:pt x="114295" y="990600"/>
                </a:lnTo>
                <a:cubicBezTo>
                  <a:pt x="51214" y="990600"/>
                  <a:pt x="0" y="939386"/>
                  <a:pt x="0" y="8763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1A3A5C"/>
              </a:gs>
              <a:gs pos="100000">
                <a:srgbClr val="4A90A4"/>
              </a:gs>
            </a:gsLst>
            <a:lin ang="0" scaled="1"/>
          </a:gradFill>
          <a:ln/>
        </p:spPr>
      </p:sp>
      <p:sp>
        <p:nvSpPr>
          <p:cNvPr id="30" name="Shape 28"/>
          <p:cNvSpPr/>
          <p:nvPr/>
        </p:nvSpPr>
        <p:spPr>
          <a:xfrm>
            <a:off x="645319" y="58388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31" name="Text 29"/>
          <p:cNvSpPr/>
          <p:nvPr/>
        </p:nvSpPr>
        <p:spPr>
          <a:xfrm>
            <a:off x="1081088" y="5734050"/>
            <a:ext cx="4486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Asosiy</a:t>
            </a: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350" b="1" dirty="0" smtClean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</a:t>
            </a:r>
            <a:r>
              <a:rPr lang="en-US" sz="1350" b="1" dirty="0" err="1" smtClean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aqsad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81088" y="6000750"/>
            <a:ext cx="447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Raqamli transformatsiya orqali xalqaro hamkorlikni kuchaytirish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260806" y="5676900"/>
            <a:ext cx="1362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D4A5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$100K+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356056" y="6057900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Yillik ROI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innovationinbusiness.com/753571254b111dbcbb6855e56c96cb8fa0f314b5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3A5C">
                  <a:alpha val="90000"/>
                </a:srgbClr>
              </a:gs>
              <a:gs pos="50000">
                <a:srgbClr val="1A3A5C">
                  <a:alpha val="80000"/>
                </a:srgbClr>
              </a:gs>
              <a:gs pos="100000">
                <a:srgbClr val="4A90A4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264229" y="1314450"/>
            <a:ext cx="1666875" cy="533400"/>
          </a:xfrm>
          <a:custGeom>
            <a:avLst/>
            <a:gdLst/>
            <a:ahLst/>
            <a:cxnLst/>
            <a:rect l="l" t="t" r="r" b="b"/>
            <a:pathLst>
              <a:path w="1666875" h="533400">
                <a:moveTo>
                  <a:pt x="266700" y="0"/>
                </a:moveTo>
                <a:lnTo>
                  <a:pt x="1400175" y="0"/>
                </a:lnTo>
                <a:cubicBezTo>
                  <a:pt x="1547371" y="0"/>
                  <a:pt x="1666875" y="119504"/>
                  <a:pt x="1666875" y="266700"/>
                </a:cubicBezTo>
                <a:lnTo>
                  <a:pt x="1666875" y="266700"/>
                </a:lnTo>
                <a:cubicBezTo>
                  <a:pt x="1666875" y="413896"/>
                  <a:pt x="1547371" y="533400"/>
                  <a:pt x="1400175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5" name="Text 2"/>
          <p:cNvSpPr/>
          <p:nvPr/>
        </p:nvSpPr>
        <p:spPr>
          <a:xfrm>
            <a:off x="5207079" y="1314450"/>
            <a:ext cx="1781175" cy="533400"/>
          </a:xfrm>
          <a:prstGeom prst="rect">
            <a:avLst/>
          </a:prstGeom>
          <a:noFill/>
          <a:ln/>
        </p:spPr>
        <p:txBody>
          <a:bodyPr wrap="square" lIns="304800" tIns="114300" rIns="304800" bIns="11430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BO'LIM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62005" y="2152531"/>
            <a:ext cx="486727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Hozirgi</a:t>
            </a:r>
            <a:r>
              <a:rPr lang="en-US" sz="5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uz-Latn-UZ" sz="5400" b="1" dirty="0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</a:t>
            </a:r>
            <a:r>
              <a:rPr lang="en-US" sz="5400" b="1" dirty="0" err="1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aziyat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3238381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8" name="Text 5"/>
          <p:cNvSpPr/>
          <p:nvPr/>
        </p:nvSpPr>
        <p:spPr>
          <a:xfrm>
            <a:off x="4282321" y="3600331"/>
            <a:ext cx="36290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Muammolar </a:t>
            </a:r>
            <a:r>
              <a:rPr lang="en-US" sz="2250" b="1" dirty="0" err="1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</a:t>
            </a:r>
            <a:r>
              <a:rPr lang="en-US" sz="2250" b="1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2250" b="1" dirty="0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</a:t>
            </a:r>
            <a:r>
              <a:rPr lang="en-US" sz="2250" b="1" dirty="0" err="1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tatus</a:t>
            </a:r>
            <a:r>
              <a:rPr lang="en-US" sz="2250" b="1" dirty="0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2250" b="1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</a:t>
            </a:r>
            <a:r>
              <a:rPr lang="en-US" sz="2250" b="1" dirty="0" err="1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uo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164092" y="4400431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404598" y="463855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51079" y="0"/>
                  <a:pt x="158614" y="4521"/>
                  <a:pt x="162520" y="11720"/>
                </a:cubicBezTo>
                <a:lnTo>
                  <a:pt x="283071" y="234962"/>
                </a:lnTo>
                <a:cubicBezTo>
                  <a:pt x="286810" y="241883"/>
                  <a:pt x="286643" y="250254"/>
                  <a:pt x="282625" y="257008"/>
                </a:cubicBezTo>
                <a:cubicBezTo>
                  <a:pt x="278606" y="263761"/>
                  <a:pt x="271295" y="267891"/>
                  <a:pt x="263426" y="267891"/>
                </a:cubicBezTo>
                <a:lnTo>
                  <a:pt x="22324" y="267891"/>
                </a:lnTo>
                <a:cubicBezTo>
                  <a:pt x="14455" y="267891"/>
                  <a:pt x="7200" y="263761"/>
                  <a:pt x="3125" y="257008"/>
                </a:cubicBezTo>
                <a:cubicBezTo>
                  <a:pt x="-949" y="250254"/>
                  <a:pt x="-1060" y="241883"/>
                  <a:pt x="2679" y="234962"/>
                </a:cubicBezTo>
                <a:lnTo>
                  <a:pt x="123230" y="11720"/>
                </a:lnTo>
                <a:cubicBezTo>
                  <a:pt x="127136" y="4521"/>
                  <a:pt x="134671" y="0"/>
                  <a:pt x="142875" y="0"/>
                </a:cubicBezTo>
                <a:close/>
                <a:moveTo>
                  <a:pt x="142875" y="93762"/>
                </a:moveTo>
                <a:cubicBezTo>
                  <a:pt x="135452" y="93762"/>
                  <a:pt x="129480" y="99733"/>
                  <a:pt x="129480" y="107156"/>
                </a:cubicBezTo>
                <a:lnTo>
                  <a:pt x="129480" y="169664"/>
                </a:lnTo>
                <a:cubicBezTo>
                  <a:pt x="129480" y="177087"/>
                  <a:pt x="135452" y="183059"/>
                  <a:pt x="142875" y="183059"/>
                </a:cubicBezTo>
                <a:cubicBezTo>
                  <a:pt x="150298" y="183059"/>
                  <a:pt x="156270" y="177087"/>
                  <a:pt x="156270" y="169664"/>
                </a:cubicBezTo>
                <a:lnTo>
                  <a:pt x="156270" y="107156"/>
                </a:lnTo>
                <a:cubicBezTo>
                  <a:pt x="156270" y="99733"/>
                  <a:pt x="150298" y="93762"/>
                  <a:pt x="142875" y="93762"/>
                </a:cubicBezTo>
                <a:close/>
                <a:moveTo>
                  <a:pt x="157776" y="214313"/>
                </a:moveTo>
                <a:cubicBezTo>
                  <a:pt x="158115" y="208781"/>
                  <a:pt x="155357" y="203519"/>
                  <a:pt x="150615" y="200651"/>
                </a:cubicBezTo>
                <a:cubicBezTo>
                  <a:pt x="145874" y="197783"/>
                  <a:pt x="139932" y="197783"/>
                  <a:pt x="135190" y="200651"/>
                </a:cubicBezTo>
                <a:cubicBezTo>
                  <a:pt x="130449" y="203519"/>
                  <a:pt x="127690" y="208781"/>
                  <a:pt x="128029" y="214312"/>
                </a:cubicBezTo>
                <a:cubicBezTo>
                  <a:pt x="127690" y="219844"/>
                  <a:pt x="130449" y="225106"/>
                  <a:pt x="135190" y="227974"/>
                </a:cubicBezTo>
                <a:cubicBezTo>
                  <a:pt x="139932" y="230842"/>
                  <a:pt x="145874" y="230842"/>
                  <a:pt x="150615" y="227974"/>
                </a:cubicBezTo>
                <a:cubicBezTo>
                  <a:pt x="155357" y="225106"/>
                  <a:pt x="158115" y="219844"/>
                  <a:pt x="157776" y="214313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1" name="Text 8"/>
          <p:cNvSpPr/>
          <p:nvPr/>
        </p:nvSpPr>
        <p:spPr>
          <a:xfrm>
            <a:off x="3560802" y="5276731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Monitoring </a:t>
            </a:r>
            <a:r>
              <a:rPr lang="uz-Latn-UZ" sz="1350" dirty="0" smtClean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</a:t>
            </a:r>
            <a:r>
              <a:rPr lang="en-US" sz="1350" dirty="0" err="1" smtClean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uammolari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997536" y="4400431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6238042" y="463855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60734" y="17859"/>
                </a:moveTo>
                <a:cubicBezTo>
                  <a:pt x="160734" y="7981"/>
                  <a:pt x="152753" y="0"/>
                  <a:pt x="142875" y="0"/>
                </a:cubicBezTo>
                <a:cubicBezTo>
                  <a:pt x="132997" y="0"/>
                  <a:pt x="125016" y="7981"/>
                  <a:pt x="125016" y="17859"/>
                </a:cubicBezTo>
                <a:lnTo>
                  <a:pt x="125016" y="133945"/>
                </a:lnTo>
                <a:cubicBezTo>
                  <a:pt x="125016" y="138857"/>
                  <a:pt x="120997" y="142875"/>
                  <a:pt x="116086" y="142875"/>
                </a:cubicBezTo>
                <a:cubicBezTo>
                  <a:pt x="111175" y="142875"/>
                  <a:pt x="107156" y="138857"/>
                  <a:pt x="107156" y="133945"/>
                </a:cubicBezTo>
                <a:lnTo>
                  <a:pt x="107156" y="35719"/>
                </a:lnTo>
                <a:cubicBezTo>
                  <a:pt x="107156" y="25840"/>
                  <a:pt x="99175" y="17859"/>
                  <a:pt x="89297" y="17859"/>
                </a:cubicBezTo>
                <a:cubicBezTo>
                  <a:pt x="79418" y="17859"/>
                  <a:pt x="71438" y="25840"/>
                  <a:pt x="71438" y="35719"/>
                </a:cubicBezTo>
                <a:lnTo>
                  <a:pt x="71438" y="187523"/>
                </a:lnTo>
                <a:cubicBezTo>
                  <a:pt x="71438" y="188361"/>
                  <a:pt x="71438" y="189254"/>
                  <a:pt x="71493" y="190091"/>
                </a:cubicBezTo>
                <a:lnTo>
                  <a:pt x="37728" y="157944"/>
                </a:lnTo>
                <a:cubicBezTo>
                  <a:pt x="28798" y="149461"/>
                  <a:pt x="14678" y="149796"/>
                  <a:pt x="6139" y="158725"/>
                </a:cubicBezTo>
                <a:cubicBezTo>
                  <a:pt x="-2400" y="167655"/>
                  <a:pt x="-2009" y="181775"/>
                  <a:pt x="6921" y="190314"/>
                </a:cubicBezTo>
                <a:lnTo>
                  <a:pt x="69652" y="250031"/>
                </a:lnTo>
                <a:cubicBezTo>
                  <a:pt x="93706" y="272969"/>
                  <a:pt x="125685" y="285750"/>
                  <a:pt x="158948" y="285750"/>
                </a:cubicBezTo>
                <a:lnTo>
                  <a:pt x="169664" y="285750"/>
                </a:lnTo>
                <a:cubicBezTo>
                  <a:pt x="223912" y="285750"/>
                  <a:pt x="267891" y="241771"/>
                  <a:pt x="267891" y="187523"/>
                </a:cubicBezTo>
                <a:lnTo>
                  <a:pt x="267891" y="71438"/>
                </a:lnTo>
                <a:cubicBezTo>
                  <a:pt x="267891" y="61559"/>
                  <a:pt x="259910" y="53578"/>
                  <a:pt x="250031" y="53578"/>
                </a:cubicBezTo>
                <a:cubicBezTo>
                  <a:pt x="240153" y="53578"/>
                  <a:pt x="232172" y="61559"/>
                  <a:pt x="232172" y="71438"/>
                </a:cubicBezTo>
                <a:lnTo>
                  <a:pt x="232172" y="133945"/>
                </a:lnTo>
                <a:cubicBezTo>
                  <a:pt x="232172" y="138857"/>
                  <a:pt x="228154" y="142875"/>
                  <a:pt x="223242" y="142875"/>
                </a:cubicBezTo>
                <a:cubicBezTo>
                  <a:pt x="218331" y="142875"/>
                  <a:pt x="214313" y="138857"/>
                  <a:pt x="214313" y="133945"/>
                </a:cubicBezTo>
                <a:lnTo>
                  <a:pt x="214313" y="35719"/>
                </a:lnTo>
                <a:cubicBezTo>
                  <a:pt x="214313" y="25840"/>
                  <a:pt x="206332" y="17859"/>
                  <a:pt x="196453" y="17859"/>
                </a:cubicBezTo>
                <a:cubicBezTo>
                  <a:pt x="186575" y="17859"/>
                  <a:pt x="178594" y="25840"/>
                  <a:pt x="178594" y="35719"/>
                </a:cubicBezTo>
                <a:lnTo>
                  <a:pt x="178594" y="133945"/>
                </a:lnTo>
                <a:cubicBezTo>
                  <a:pt x="178594" y="138857"/>
                  <a:pt x="174575" y="142875"/>
                  <a:pt x="169664" y="142875"/>
                </a:cubicBezTo>
                <a:cubicBezTo>
                  <a:pt x="164753" y="142875"/>
                  <a:pt x="160734" y="138857"/>
                  <a:pt x="160734" y="133945"/>
                </a:cubicBezTo>
                <a:lnTo>
                  <a:pt x="160734" y="17859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4" name="Text 11"/>
          <p:cNvSpPr/>
          <p:nvPr/>
        </p:nvSpPr>
        <p:spPr>
          <a:xfrm>
            <a:off x="5748576" y="5276731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Qo'lda</a:t>
            </a:r>
            <a:r>
              <a:rPr lang="en-US" sz="13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350" dirty="0" smtClean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</a:t>
            </a:r>
            <a:r>
              <a:rPr lang="en-US" sz="1350" dirty="0" err="1" smtClean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ajarish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548443" y="4400431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7788950" y="463855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7" name="Text 14"/>
          <p:cNvSpPr/>
          <p:nvPr/>
        </p:nvSpPr>
        <p:spPr>
          <a:xfrm>
            <a:off x="7227689" y="5276731"/>
            <a:ext cx="140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Past </a:t>
            </a:r>
            <a:r>
              <a:rPr lang="uz-Latn-UZ" sz="1350" dirty="0" smtClean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</a:t>
            </a:r>
            <a:r>
              <a:rPr lang="en-US" sz="1350" dirty="0" err="1" smtClean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ozibadorlik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4A90A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MUAMMOLAR TAHILI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 err="1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Mavjud</a:t>
            </a:r>
            <a:r>
              <a:rPr lang="en-US" sz="27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uz-Latn-UZ" sz="270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</a:t>
            </a:r>
            <a:r>
              <a:rPr lang="en-US" sz="2700" b="1" dirty="0" err="1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izimning</a:t>
            </a:r>
            <a:r>
              <a:rPr lang="en-US" sz="270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uz-Latn-UZ" sz="27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</a:t>
            </a:r>
            <a:r>
              <a:rPr lang="en-US" sz="2700" b="1" dirty="0" err="1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aifliklari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57150"/>
          </a:xfrm>
          <a:custGeom>
            <a:avLst/>
            <a:gdLst/>
            <a:ahLst/>
            <a:cxnLst/>
            <a:rect l="l" t="t" r="r" b="b"/>
            <a:pathLst>
              <a:path w="762000" h="57150">
                <a:moveTo>
                  <a:pt x="0" y="0"/>
                </a:moveTo>
                <a:lnTo>
                  <a:pt x="762000" y="0"/>
                </a:lnTo>
                <a:lnTo>
                  <a:pt x="762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485900"/>
            <a:ext cx="5600700" cy="2390775"/>
          </a:xfrm>
          <a:custGeom>
            <a:avLst/>
            <a:gdLst/>
            <a:ahLst/>
            <a:cxnLst/>
            <a:rect l="l" t="t" r="r" b="b"/>
            <a:pathLst>
              <a:path w="5600700" h="2390775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2276472"/>
                </a:lnTo>
                <a:cubicBezTo>
                  <a:pt x="5600700" y="2339600"/>
                  <a:pt x="5549525" y="2390775"/>
                  <a:pt x="5486397" y="2390775"/>
                </a:cubicBezTo>
                <a:lnTo>
                  <a:pt x="114303" y="2390775"/>
                </a:lnTo>
                <a:cubicBezTo>
                  <a:pt x="51175" y="2390775"/>
                  <a:pt x="0" y="2339600"/>
                  <a:pt x="0" y="227647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485900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7335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1A3A5C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28675" y="19240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39291" y="28575"/>
                </a:moveTo>
                <a:cubicBezTo>
                  <a:pt x="33352" y="28575"/>
                  <a:pt x="28575" y="33352"/>
                  <a:pt x="28575" y="39291"/>
                </a:cubicBezTo>
                <a:cubicBezTo>
                  <a:pt x="28575" y="45229"/>
                  <a:pt x="33352" y="50006"/>
                  <a:pt x="39291" y="50006"/>
                </a:cubicBezTo>
                <a:lnTo>
                  <a:pt x="60722" y="50006"/>
                </a:lnTo>
                <a:cubicBezTo>
                  <a:pt x="66660" y="50006"/>
                  <a:pt x="71438" y="45229"/>
                  <a:pt x="71438" y="39291"/>
                </a:cubicBezTo>
                <a:cubicBezTo>
                  <a:pt x="71438" y="33352"/>
                  <a:pt x="66660" y="28575"/>
                  <a:pt x="60722" y="28575"/>
                </a:cubicBezTo>
                <a:lnTo>
                  <a:pt x="39291" y="28575"/>
                </a:lnTo>
                <a:close/>
                <a:moveTo>
                  <a:pt x="39291" y="71438"/>
                </a:moveTo>
                <a:cubicBezTo>
                  <a:pt x="33352" y="71438"/>
                  <a:pt x="28575" y="76215"/>
                  <a:pt x="28575" y="82153"/>
                </a:cubicBezTo>
                <a:cubicBezTo>
                  <a:pt x="28575" y="88091"/>
                  <a:pt x="33352" y="92869"/>
                  <a:pt x="39291" y="92869"/>
                </a:cubicBezTo>
                <a:lnTo>
                  <a:pt x="60722" y="92869"/>
                </a:lnTo>
                <a:cubicBezTo>
                  <a:pt x="66660" y="92869"/>
                  <a:pt x="71438" y="88091"/>
                  <a:pt x="71438" y="82153"/>
                </a:cubicBezTo>
                <a:cubicBezTo>
                  <a:pt x="71438" y="76215"/>
                  <a:pt x="66660" y="71438"/>
                  <a:pt x="60722" y="71438"/>
                </a:cubicBezTo>
                <a:lnTo>
                  <a:pt x="39291" y="71438"/>
                </a:lnTo>
                <a:close/>
                <a:moveTo>
                  <a:pt x="70678" y="142875"/>
                </a:moveTo>
                <a:cubicBezTo>
                  <a:pt x="65633" y="142875"/>
                  <a:pt x="60900" y="145152"/>
                  <a:pt x="57775" y="149081"/>
                </a:cubicBezTo>
                <a:lnTo>
                  <a:pt x="30941" y="182612"/>
                </a:lnTo>
                <a:cubicBezTo>
                  <a:pt x="27236" y="187211"/>
                  <a:pt x="27995" y="193997"/>
                  <a:pt x="32593" y="197659"/>
                </a:cubicBezTo>
                <a:cubicBezTo>
                  <a:pt x="37192" y="201320"/>
                  <a:pt x="43979" y="200605"/>
                  <a:pt x="47640" y="195962"/>
                </a:cubicBezTo>
                <a:lnTo>
                  <a:pt x="68669" y="169709"/>
                </a:lnTo>
                <a:lnTo>
                  <a:pt x="75456" y="192345"/>
                </a:lnTo>
                <a:cubicBezTo>
                  <a:pt x="76795" y="196900"/>
                  <a:pt x="80992" y="199980"/>
                  <a:pt x="85725" y="199980"/>
                </a:cubicBezTo>
                <a:lnTo>
                  <a:pt x="132159" y="199980"/>
                </a:lnTo>
                <a:cubicBezTo>
                  <a:pt x="138098" y="199980"/>
                  <a:pt x="142875" y="195203"/>
                  <a:pt x="142875" y="189265"/>
                </a:cubicBezTo>
                <a:cubicBezTo>
                  <a:pt x="142875" y="183326"/>
                  <a:pt x="138098" y="178549"/>
                  <a:pt x="132159" y="178549"/>
                </a:cubicBezTo>
                <a:lnTo>
                  <a:pt x="93717" y="178549"/>
                </a:lnTo>
                <a:lnTo>
                  <a:pt x="86529" y="154618"/>
                </a:lnTo>
                <a:cubicBezTo>
                  <a:pt x="84430" y="147608"/>
                  <a:pt x="78001" y="142830"/>
                  <a:pt x="70678" y="14283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733550"/>
            <a:ext cx="449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Memorandum </a:t>
            </a:r>
            <a:r>
              <a:rPr lang="uz-Latn-UZ" sz="180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</a:t>
            </a:r>
            <a:r>
              <a:rPr lang="en-US" sz="1800" b="1" dirty="0" err="1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onitoringi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152531"/>
            <a:ext cx="44577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15+ xalqaro memorandum</a:t>
            </a: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monitoringi sust amalga oshirilmoqda. Aksariyat hujjatlar muddati o'tgan holatda qolmoqda, chunki jarayon qo'lda boshqariladi va eslatmalar tizimi yo'q.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3257431"/>
            <a:ext cx="1571625" cy="266700"/>
          </a:xfrm>
          <a:custGeom>
            <a:avLst/>
            <a:gdLst/>
            <a:ahLst/>
            <a:cxnLst/>
            <a:rect l="l" t="t" r="r" b="b"/>
            <a:pathLst>
              <a:path w="1571625" h="266700">
                <a:moveTo>
                  <a:pt x="133350" y="0"/>
                </a:moveTo>
                <a:lnTo>
                  <a:pt x="1438275" y="0"/>
                </a:lnTo>
                <a:cubicBezTo>
                  <a:pt x="1511873" y="0"/>
                  <a:pt x="1571625" y="59752"/>
                  <a:pt x="1571625" y="133350"/>
                </a:cubicBezTo>
                <a:lnTo>
                  <a:pt x="1571625" y="133350"/>
                </a:lnTo>
                <a:cubicBezTo>
                  <a:pt x="1571625" y="206948"/>
                  <a:pt x="1511873" y="266700"/>
                  <a:pt x="14382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E2E2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257431"/>
            <a:ext cx="16383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100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Muddati o'tgan: 60%+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056572" y="3257431"/>
            <a:ext cx="1352550" cy="266700"/>
          </a:xfrm>
          <a:custGeom>
            <a:avLst/>
            <a:gdLst/>
            <a:ahLst/>
            <a:cxnLst/>
            <a:rect l="l" t="t" r="r" b="b"/>
            <a:pathLst>
              <a:path w="1352550" h="266700">
                <a:moveTo>
                  <a:pt x="133350" y="0"/>
                </a:moveTo>
                <a:lnTo>
                  <a:pt x="1219200" y="0"/>
                </a:lnTo>
                <a:cubicBezTo>
                  <a:pt x="1292798" y="0"/>
                  <a:pt x="1352550" y="59752"/>
                  <a:pt x="1352550" y="133350"/>
                </a:cubicBezTo>
                <a:lnTo>
                  <a:pt x="1352550" y="133350"/>
                </a:lnTo>
                <a:cubicBezTo>
                  <a:pt x="1352550" y="206948"/>
                  <a:pt x="1292798" y="266700"/>
                  <a:pt x="12192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EDD4"/>
          </a:solidFill>
          <a:ln/>
        </p:spPr>
      </p:sp>
      <p:sp>
        <p:nvSpPr>
          <p:cNvPr id="14" name="Text 12"/>
          <p:cNvSpPr/>
          <p:nvPr/>
        </p:nvSpPr>
        <p:spPr>
          <a:xfrm>
            <a:off x="3056572" y="3257431"/>
            <a:ext cx="14192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A35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Monitoring: Qo'lda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1000" y="4086225"/>
            <a:ext cx="5600700" cy="2390775"/>
          </a:xfrm>
          <a:custGeom>
            <a:avLst/>
            <a:gdLst/>
            <a:ahLst/>
            <a:cxnLst/>
            <a:rect l="l" t="t" r="r" b="b"/>
            <a:pathLst>
              <a:path w="5600700" h="2390775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2276472"/>
                </a:lnTo>
                <a:cubicBezTo>
                  <a:pt x="5600700" y="2339600"/>
                  <a:pt x="5549525" y="2390775"/>
                  <a:pt x="5486397" y="2390775"/>
                </a:cubicBezTo>
                <a:lnTo>
                  <a:pt x="114303" y="2390775"/>
                </a:lnTo>
                <a:cubicBezTo>
                  <a:pt x="51175" y="2390775"/>
                  <a:pt x="0" y="2339600"/>
                  <a:pt x="0" y="227647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1000" y="4086225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600" y="43338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90A4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00100" y="45243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4655" y="42863"/>
                </a:moveTo>
                <a:cubicBezTo>
                  <a:pt x="89743" y="42863"/>
                  <a:pt x="85725" y="46881"/>
                  <a:pt x="85725" y="51792"/>
                </a:cubicBezTo>
                <a:lnTo>
                  <a:pt x="85725" y="53578"/>
                </a:lnTo>
                <a:cubicBezTo>
                  <a:pt x="72866" y="53712"/>
                  <a:pt x="62508" y="64160"/>
                  <a:pt x="62508" y="77019"/>
                </a:cubicBezTo>
                <a:cubicBezTo>
                  <a:pt x="62508" y="88493"/>
                  <a:pt x="70768" y="98271"/>
                  <a:pt x="82108" y="100146"/>
                </a:cubicBezTo>
                <a:lnTo>
                  <a:pt x="100727" y="103272"/>
                </a:lnTo>
                <a:cubicBezTo>
                  <a:pt x="103406" y="103718"/>
                  <a:pt x="105370" y="106040"/>
                  <a:pt x="105370" y="108764"/>
                </a:cubicBezTo>
                <a:cubicBezTo>
                  <a:pt x="105370" y="111844"/>
                  <a:pt x="102870" y="114345"/>
                  <a:pt x="99789" y="114345"/>
                </a:cubicBezTo>
                <a:lnTo>
                  <a:pt x="75009" y="114300"/>
                </a:lnTo>
                <a:cubicBezTo>
                  <a:pt x="70098" y="114300"/>
                  <a:pt x="66080" y="118318"/>
                  <a:pt x="66080" y="123230"/>
                </a:cubicBezTo>
                <a:cubicBezTo>
                  <a:pt x="66080" y="128141"/>
                  <a:pt x="70098" y="132159"/>
                  <a:pt x="75009" y="132159"/>
                </a:cubicBezTo>
                <a:lnTo>
                  <a:pt x="85725" y="132159"/>
                </a:lnTo>
                <a:lnTo>
                  <a:pt x="85725" y="133945"/>
                </a:lnTo>
                <a:cubicBezTo>
                  <a:pt x="85725" y="138857"/>
                  <a:pt x="89743" y="142875"/>
                  <a:pt x="94655" y="142875"/>
                </a:cubicBezTo>
                <a:cubicBezTo>
                  <a:pt x="99566" y="142875"/>
                  <a:pt x="103584" y="138857"/>
                  <a:pt x="103584" y="133945"/>
                </a:cubicBezTo>
                <a:lnTo>
                  <a:pt x="103584" y="131847"/>
                </a:lnTo>
                <a:cubicBezTo>
                  <a:pt x="114746" y="130016"/>
                  <a:pt x="123230" y="120372"/>
                  <a:pt x="123230" y="108719"/>
                </a:cubicBezTo>
                <a:cubicBezTo>
                  <a:pt x="123230" y="97244"/>
                  <a:pt x="114970" y="87466"/>
                  <a:pt x="103629" y="85591"/>
                </a:cubicBezTo>
                <a:lnTo>
                  <a:pt x="85011" y="82466"/>
                </a:lnTo>
                <a:cubicBezTo>
                  <a:pt x="82332" y="82019"/>
                  <a:pt x="80367" y="79697"/>
                  <a:pt x="80367" y="76974"/>
                </a:cubicBezTo>
                <a:cubicBezTo>
                  <a:pt x="80367" y="73893"/>
                  <a:pt x="82867" y="71393"/>
                  <a:pt x="85948" y="71393"/>
                </a:cubicBezTo>
                <a:lnTo>
                  <a:pt x="107156" y="71393"/>
                </a:lnTo>
                <a:cubicBezTo>
                  <a:pt x="112068" y="71393"/>
                  <a:pt x="116086" y="67374"/>
                  <a:pt x="116086" y="62463"/>
                </a:cubicBezTo>
                <a:cubicBezTo>
                  <a:pt x="116086" y="57552"/>
                  <a:pt x="112068" y="53533"/>
                  <a:pt x="107156" y="53533"/>
                </a:cubicBezTo>
                <a:lnTo>
                  <a:pt x="103584" y="53533"/>
                </a:lnTo>
                <a:lnTo>
                  <a:pt x="103584" y="51748"/>
                </a:lnTo>
                <a:cubicBezTo>
                  <a:pt x="103584" y="46836"/>
                  <a:pt x="99566" y="42818"/>
                  <a:pt x="94655" y="42818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4333875"/>
            <a:ext cx="449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Grant </a:t>
            </a:r>
            <a:r>
              <a:rPr lang="uz-Latn-UZ" sz="180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</a:t>
            </a:r>
            <a:r>
              <a:rPr lang="en-US" sz="1800" b="1" dirty="0" err="1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idirish</a:t>
            </a:r>
            <a:r>
              <a:rPr lang="en-US" sz="180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uz-Latn-UZ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</a:t>
            </a:r>
            <a:r>
              <a:rPr lang="en-US" sz="1800" b="1" dirty="0" err="1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arayoni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752856"/>
            <a:ext cx="4457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Xalqaro grantlarni qidirish</a:t>
            </a: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va loyiha yozish jarayoni to'liq qo'lda bajariladi. Bu jarayon oylab vaqt talab qiladi va ko'p hollarda muhim imkoniyatlarni boy berishga olib keladi.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71600" y="5610106"/>
            <a:ext cx="1447800" cy="266700"/>
          </a:xfrm>
          <a:custGeom>
            <a:avLst/>
            <a:gdLst/>
            <a:ahLst/>
            <a:cxnLst/>
            <a:rect l="l" t="t" r="r" b="b"/>
            <a:pathLst>
              <a:path w="1447800" h="266700">
                <a:moveTo>
                  <a:pt x="133350" y="0"/>
                </a:moveTo>
                <a:lnTo>
                  <a:pt x="1314450" y="0"/>
                </a:lnTo>
                <a:cubicBezTo>
                  <a:pt x="1388048" y="0"/>
                  <a:pt x="1447800" y="59752"/>
                  <a:pt x="1447800" y="133350"/>
                </a:cubicBezTo>
                <a:lnTo>
                  <a:pt x="1447800" y="133350"/>
                </a:lnTo>
                <a:cubicBezTo>
                  <a:pt x="1447800" y="206948"/>
                  <a:pt x="1388048" y="266700"/>
                  <a:pt x="13144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E2E2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5610106"/>
            <a:ext cx="15144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100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Samarasizlik: Yuqori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934653" y="5610106"/>
            <a:ext cx="1238250" cy="266700"/>
          </a:xfrm>
          <a:custGeom>
            <a:avLst/>
            <a:gdLst/>
            <a:ahLst/>
            <a:cxnLst/>
            <a:rect l="l" t="t" r="r" b="b"/>
            <a:pathLst>
              <a:path w="1238250" h="266700">
                <a:moveTo>
                  <a:pt x="133350" y="0"/>
                </a:moveTo>
                <a:lnTo>
                  <a:pt x="1104900" y="0"/>
                </a:lnTo>
                <a:cubicBezTo>
                  <a:pt x="1178498" y="0"/>
                  <a:pt x="1238250" y="59752"/>
                  <a:pt x="1238250" y="133350"/>
                </a:cubicBezTo>
                <a:lnTo>
                  <a:pt x="1238250" y="133350"/>
                </a:lnTo>
                <a:cubicBezTo>
                  <a:pt x="1238250" y="206948"/>
                  <a:pt x="1178498" y="266700"/>
                  <a:pt x="11049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EDD4"/>
          </a:solidFill>
          <a:ln/>
        </p:spPr>
      </p:sp>
      <p:sp>
        <p:nvSpPr>
          <p:cNvPr id="24" name="Text 22"/>
          <p:cNvSpPr/>
          <p:nvPr/>
        </p:nvSpPr>
        <p:spPr>
          <a:xfrm>
            <a:off x="2934653" y="5610106"/>
            <a:ext cx="13049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A35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Vaqt sarfi: Oylab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0300" y="1485900"/>
            <a:ext cx="5600700" cy="2409825"/>
          </a:xfrm>
          <a:custGeom>
            <a:avLst/>
            <a:gdLst/>
            <a:ahLst/>
            <a:cxnLst/>
            <a:rect l="l" t="t" r="r" b="b"/>
            <a:pathLst>
              <a:path w="5600700" h="2409825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2295527"/>
                </a:lnTo>
                <a:cubicBezTo>
                  <a:pt x="5600700" y="2358610"/>
                  <a:pt x="5549485" y="2409825"/>
                  <a:pt x="5486402" y="2409825"/>
                </a:cubicBezTo>
                <a:lnTo>
                  <a:pt x="114298" y="2409825"/>
                </a:lnTo>
                <a:cubicBezTo>
                  <a:pt x="51215" y="2409825"/>
                  <a:pt x="0" y="2358610"/>
                  <a:pt x="0" y="229552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0300" y="1485900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27" name="Shape 25"/>
          <p:cNvSpPr/>
          <p:nvPr/>
        </p:nvSpPr>
        <p:spPr>
          <a:xfrm>
            <a:off x="6438900" y="17335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4A574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600825" y="19240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57175" y="21431"/>
                </a:moveTo>
                <a:cubicBezTo>
                  <a:pt x="257175" y="16475"/>
                  <a:pt x="254630" y="11876"/>
                  <a:pt x="250388" y="9287"/>
                </a:cubicBezTo>
                <a:cubicBezTo>
                  <a:pt x="246147" y="6697"/>
                  <a:pt x="240923" y="6429"/>
                  <a:pt x="236503" y="8662"/>
                </a:cubicBezTo>
                <a:lnTo>
                  <a:pt x="184621" y="34603"/>
                </a:lnTo>
                <a:lnTo>
                  <a:pt x="104522" y="7858"/>
                </a:lnTo>
                <a:cubicBezTo>
                  <a:pt x="100905" y="6653"/>
                  <a:pt x="97021" y="6921"/>
                  <a:pt x="93628" y="8617"/>
                </a:cubicBezTo>
                <a:lnTo>
                  <a:pt x="36478" y="37192"/>
                </a:lnTo>
                <a:cubicBezTo>
                  <a:pt x="31611" y="39648"/>
                  <a:pt x="28575" y="44604"/>
                  <a:pt x="28575" y="50006"/>
                </a:cubicBezTo>
                <a:lnTo>
                  <a:pt x="28575" y="207169"/>
                </a:lnTo>
                <a:cubicBezTo>
                  <a:pt x="28575" y="212125"/>
                  <a:pt x="31120" y="216724"/>
                  <a:pt x="35362" y="219313"/>
                </a:cubicBezTo>
                <a:cubicBezTo>
                  <a:pt x="39603" y="221903"/>
                  <a:pt x="44827" y="222171"/>
                  <a:pt x="49247" y="219938"/>
                </a:cubicBezTo>
                <a:lnTo>
                  <a:pt x="101084" y="193997"/>
                </a:lnTo>
                <a:lnTo>
                  <a:pt x="178460" y="219804"/>
                </a:lnTo>
                <a:cubicBezTo>
                  <a:pt x="176540" y="216947"/>
                  <a:pt x="174665" y="213955"/>
                  <a:pt x="172834" y="210919"/>
                </a:cubicBezTo>
                <a:cubicBezTo>
                  <a:pt x="167923" y="202749"/>
                  <a:pt x="163056" y="193372"/>
                  <a:pt x="159440" y="183326"/>
                </a:cubicBezTo>
                <a:lnTo>
                  <a:pt x="114255" y="168280"/>
                </a:lnTo>
                <a:lnTo>
                  <a:pt x="114255" y="41255"/>
                </a:lnTo>
                <a:lnTo>
                  <a:pt x="171405" y="60320"/>
                </a:lnTo>
                <a:lnTo>
                  <a:pt x="171405" y="104656"/>
                </a:lnTo>
                <a:cubicBezTo>
                  <a:pt x="185246" y="88672"/>
                  <a:pt x="205785" y="78581"/>
                  <a:pt x="228555" y="78581"/>
                </a:cubicBezTo>
                <a:cubicBezTo>
                  <a:pt x="238646" y="78581"/>
                  <a:pt x="248290" y="80546"/>
                  <a:pt x="257130" y="84162"/>
                </a:cubicBezTo>
                <a:lnTo>
                  <a:pt x="257175" y="21431"/>
                </a:lnTo>
                <a:close/>
                <a:moveTo>
                  <a:pt x="228600" y="100013"/>
                </a:moveTo>
                <a:cubicBezTo>
                  <a:pt x="198998" y="100013"/>
                  <a:pt x="175022" y="123587"/>
                  <a:pt x="175022" y="152653"/>
                </a:cubicBezTo>
                <a:cubicBezTo>
                  <a:pt x="175022" y="183416"/>
                  <a:pt x="203642" y="219804"/>
                  <a:pt x="219045" y="237173"/>
                </a:cubicBezTo>
                <a:cubicBezTo>
                  <a:pt x="224224" y="242977"/>
                  <a:pt x="233020" y="242977"/>
                  <a:pt x="238199" y="237173"/>
                </a:cubicBezTo>
                <a:cubicBezTo>
                  <a:pt x="253603" y="219804"/>
                  <a:pt x="282223" y="183416"/>
                  <a:pt x="282223" y="152653"/>
                </a:cubicBezTo>
                <a:cubicBezTo>
                  <a:pt x="282223" y="123587"/>
                  <a:pt x="258247" y="100013"/>
                  <a:pt x="228645" y="100013"/>
                </a:cubicBezTo>
                <a:close/>
                <a:moveTo>
                  <a:pt x="210741" y="153591"/>
                </a:moveTo>
                <a:cubicBezTo>
                  <a:pt x="210741" y="143734"/>
                  <a:pt x="218743" y="135731"/>
                  <a:pt x="228600" y="135731"/>
                </a:cubicBezTo>
                <a:cubicBezTo>
                  <a:pt x="238457" y="135731"/>
                  <a:pt x="246459" y="143734"/>
                  <a:pt x="246459" y="153591"/>
                </a:cubicBezTo>
                <a:cubicBezTo>
                  <a:pt x="246459" y="163447"/>
                  <a:pt x="238457" y="171450"/>
                  <a:pt x="228600" y="171450"/>
                </a:cubicBezTo>
                <a:cubicBezTo>
                  <a:pt x="218743" y="171450"/>
                  <a:pt x="210741" y="163447"/>
                  <a:pt x="210741" y="153591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29" name="Text 27"/>
          <p:cNvSpPr/>
          <p:nvPr/>
        </p:nvSpPr>
        <p:spPr>
          <a:xfrm>
            <a:off x="7200900" y="1733550"/>
            <a:ext cx="449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 err="1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Hududiy</a:t>
            </a:r>
            <a:r>
              <a:rPr lang="en-US" sz="18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uz-Latn-UZ" sz="180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r>
              <a:rPr lang="en-US" sz="1800" b="1" dirty="0" err="1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o'limlar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00900" y="2152531"/>
            <a:ext cx="4457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Hududiy bo'limlarning</a:t>
            </a: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investitsiyaviy jozibadorligi past. Xalqaro hamkorlar va investorlar uchun yetarli ma'lumot va professional taqdimotlar mavjud emas.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200900" y="3009781"/>
            <a:ext cx="1285875" cy="266700"/>
          </a:xfrm>
          <a:custGeom>
            <a:avLst/>
            <a:gdLst/>
            <a:ahLst/>
            <a:cxnLst/>
            <a:rect l="l" t="t" r="r" b="b"/>
            <a:pathLst>
              <a:path w="1285875" h="266700">
                <a:moveTo>
                  <a:pt x="133350" y="0"/>
                </a:moveTo>
                <a:lnTo>
                  <a:pt x="1152525" y="0"/>
                </a:lnTo>
                <a:cubicBezTo>
                  <a:pt x="1226123" y="0"/>
                  <a:pt x="1285875" y="59752"/>
                  <a:pt x="1285875" y="133350"/>
                </a:cubicBezTo>
                <a:lnTo>
                  <a:pt x="1285875" y="133350"/>
                </a:lnTo>
                <a:cubicBezTo>
                  <a:pt x="1285875" y="206948"/>
                  <a:pt x="1226123" y="266700"/>
                  <a:pt x="11525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E2E2"/>
          </a:solidFill>
          <a:ln/>
        </p:spPr>
      </p:sp>
      <p:sp>
        <p:nvSpPr>
          <p:cNvPr id="32" name="Text 30"/>
          <p:cNvSpPr/>
          <p:nvPr/>
        </p:nvSpPr>
        <p:spPr>
          <a:xfrm>
            <a:off x="7200900" y="3009781"/>
            <a:ext cx="13525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100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Jozibadorlik: Past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601075" y="3009781"/>
            <a:ext cx="1047750" cy="266700"/>
          </a:xfrm>
          <a:custGeom>
            <a:avLst/>
            <a:gdLst/>
            <a:ahLst/>
            <a:cxnLst/>
            <a:rect l="l" t="t" r="r" b="b"/>
            <a:pathLst>
              <a:path w="1047750" h="266700">
                <a:moveTo>
                  <a:pt x="133350" y="0"/>
                </a:moveTo>
                <a:lnTo>
                  <a:pt x="914400" y="0"/>
                </a:lnTo>
                <a:cubicBezTo>
                  <a:pt x="987998" y="0"/>
                  <a:pt x="1047750" y="59752"/>
                  <a:pt x="1047750" y="133350"/>
                </a:cubicBezTo>
                <a:lnTo>
                  <a:pt x="1047750" y="133350"/>
                </a:lnTo>
                <a:cubicBezTo>
                  <a:pt x="1047750" y="206948"/>
                  <a:pt x="987998" y="266700"/>
                  <a:pt x="9144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EDD4"/>
          </a:solidFill>
          <a:ln/>
        </p:spPr>
      </p:sp>
      <p:sp>
        <p:nvSpPr>
          <p:cNvPr id="34" name="Text 32"/>
          <p:cNvSpPr/>
          <p:nvPr/>
        </p:nvSpPr>
        <p:spPr>
          <a:xfrm>
            <a:off x="8601075" y="3009781"/>
            <a:ext cx="11144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A35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Ko'rinish: Zaif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0300" y="4086225"/>
            <a:ext cx="5600700" cy="2390775"/>
          </a:xfrm>
          <a:custGeom>
            <a:avLst/>
            <a:gdLst/>
            <a:ahLst/>
            <a:cxnLst/>
            <a:rect l="l" t="t" r="r" b="b"/>
            <a:pathLst>
              <a:path w="5600700" h="2390775">
                <a:moveTo>
                  <a:pt x="114303" y="0"/>
                </a:moveTo>
                <a:lnTo>
                  <a:pt x="5486397" y="0"/>
                </a:lnTo>
                <a:cubicBezTo>
                  <a:pt x="5549525" y="0"/>
                  <a:pt x="5600700" y="51175"/>
                  <a:pt x="5600700" y="114303"/>
                </a:cubicBezTo>
                <a:lnTo>
                  <a:pt x="5600700" y="2276472"/>
                </a:lnTo>
                <a:cubicBezTo>
                  <a:pt x="5600700" y="2339600"/>
                  <a:pt x="5549525" y="2390775"/>
                  <a:pt x="5486397" y="2390775"/>
                </a:cubicBezTo>
                <a:lnTo>
                  <a:pt x="114303" y="2390775"/>
                </a:lnTo>
                <a:cubicBezTo>
                  <a:pt x="51175" y="2390775"/>
                  <a:pt x="0" y="2339600"/>
                  <a:pt x="0" y="2276472"/>
                </a:cubicBezTo>
                <a:lnTo>
                  <a:pt x="0" y="114303"/>
                </a:lnTo>
                <a:cubicBezTo>
                  <a:pt x="0" y="51175"/>
                  <a:pt x="51175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1A3A5C"/>
              </a:gs>
              <a:gs pos="100000">
                <a:srgbClr val="4A90A4"/>
              </a:gs>
            </a:gsLst>
            <a:lin ang="2700000" scaled="1"/>
          </a:gradFill>
          <a:ln/>
        </p:spPr>
      </p:sp>
      <p:sp>
        <p:nvSpPr>
          <p:cNvPr id="36" name="Shape 34"/>
          <p:cNvSpPr/>
          <p:nvPr/>
        </p:nvSpPr>
        <p:spPr>
          <a:xfrm>
            <a:off x="6438900" y="43148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629400" y="45053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60722"/>
                </a:moveTo>
                <a:cubicBezTo>
                  <a:pt x="120238" y="60722"/>
                  <a:pt x="125016" y="65499"/>
                  <a:pt x="125016" y="71438"/>
                </a:cubicBezTo>
                <a:lnTo>
                  <a:pt x="125016" y="121444"/>
                </a:lnTo>
                <a:cubicBezTo>
                  <a:pt x="125016" y="127382"/>
                  <a:pt x="120238" y="132159"/>
                  <a:pt x="114300" y="132159"/>
                </a:cubicBezTo>
                <a:cubicBezTo>
                  <a:pt x="108362" y="132159"/>
                  <a:pt x="103584" y="127382"/>
                  <a:pt x="103584" y="121444"/>
                </a:cubicBezTo>
                <a:lnTo>
                  <a:pt x="103584" y="71438"/>
                </a:lnTo>
                <a:cubicBezTo>
                  <a:pt x="103584" y="65499"/>
                  <a:pt x="108362" y="60722"/>
                  <a:pt x="114300" y="60722"/>
                </a:cubicBezTo>
                <a:close/>
                <a:moveTo>
                  <a:pt x="102379" y="157163"/>
                </a:moveTo>
                <a:cubicBezTo>
                  <a:pt x="102108" y="152738"/>
                  <a:pt x="104314" y="148528"/>
                  <a:pt x="108108" y="146233"/>
                </a:cubicBezTo>
                <a:cubicBezTo>
                  <a:pt x="111901" y="143939"/>
                  <a:pt x="116654" y="143939"/>
                  <a:pt x="120448" y="146233"/>
                </a:cubicBezTo>
                <a:cubicBezTo>
                  <a:pt x="124241" y="148528"/>
                  <a:pt x="126448" y="152738"/>
                  <a:pt x="126176" y="157162"/>
                </a:cubicBezTo>
                <a:cubicBezTo>
                  <a:pt x="126448" y="161587"/>
                  <a:pt x="124241" y="165797"/>
                  <a:pt x="120448" y="168092"/>
                </a:cubicBezTo>
                <a:cubicBezTo>
                  <a:pt x="116654" y="170386"/>
                  <a:pt x="111901" y="170386"/>
                  <a:pt x="108108" y="168092"/>
                </a:cubicBezTo>
                <a:cubicBezTo>
                  <a:pt x="104314" y="165797"/>
                  <a:pt x="102108" y="161587"/>
                  <a:pt x="102379" y="157163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38" name="Text 36"/>
          <p:cNvSpPr/>
          <p:nvPr/>
        </p:nvSpPr>
        <p:spPr>
          <a:xfrm>
            <a:off x="7200900" y="4314825"/>
            <a:ext cx="449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Umumiy</a:t>
            </a: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uz-Latn-UZ" sz="1800" b="1" dirty="0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</a:t>
            </a:r>
            <a:r>
              <a:rPr lang="en-US" sz="1800" b="1" dirty="0" err="1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qibatlar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219950" y="477190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A2A2"/>
          </a:solidFill>
          <a:ln/>
        </p:spPr>
      </p:sp>
      <p:sp>
        <p:nvSpPr>
          <p:cNvPr id="40" name="Text 38"/>
          <p:cNvSpPr/>
          <p:nvPr/>
        </p:nvSpPr>
        <p:spPr>
          <a:xfrm>
            <a:off x="7467600" y="4733806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Moliyaviy imkoniyatlarni yo'qotish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219950" y="507670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A2A2"/>
          </a:solidFill>
          <a:ln/>
        </p:spPr>
      </p:sp>
      <p:sp>
        <p:nvSpPr>
          <p:cNvPr id="42" name="Text 40"/>
          <p:cNvSpPr/>
          <p:nvPr/>
        </p:nvSpPr>
        <p:spPr>
          <a:xfrm>
            <a:off x="7467600" y="5038606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Vaqtning samarasiz sarflanishi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219950" y="538150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A2A2"/>
          </a:solidFill>
          <a:ln/>
        </p:spPr>
      </p:sp>
      <p:sp>
        <p:nvSpPr>
          <p:cNvPr id="44" name="Text 42"/>
          <p:cNvSpPr/>
          <p:nvPr/>
        </p:nvSpPr>
        <p:spPr>
          <a:xfrm>
            <a:off x="7467600" y="5343406"/>
            <a:ext cx="230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Xalqaro aloqalarning zaiflashishi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4A90A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TIZIM TAHLILI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Monitoring </a:t>
            </a:r>
            <a:r>
              <a:rPr lang="uz-Latn-UZ" sz="270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</a:t>
            </a:r>
            <a:r>
              <a:rPr lang="en-US" sz="2700" b="1" dirty="0" err="1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izimining</a:t>
            </a:r>
            <a:r>
              <a:rPr lang="en-US" sz="270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uz-Latn-UZ" sz="27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</a:t>
            </a:r>
            <a:r>
              <a:rPr lang="en-US" sz="2700" b="1" dirty="0" err="1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etishmovchiligi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57150"/>
          </a:xfrm>
          <a:custGeom>
            <a:avLst/>
            <a:gdLst/>
            <a:ahLst/>
            <a:cxnLst/>
            <a:rect l="l" t="t" r="r" b="b"/>
            <a:pathLst>
              <a:path w="762000" h="57150">
                <a:moveTo>
                  <a:pt x="0" y="0"/>
                </a:moveTo>
                <a:lnTo>
                  <a:pt x="762000" y="0"/>
                </a:lnTo>
                <a:lnTo>
                  <a:pt x="762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428750"/>
            <a:ext cx="3686175" cy="5048250"/>
          </a:xfrm>
          <a:custGeom>
            <a:avLst/>
            <a:gdLst/>
            <a:ahLst/>
            <a:cxnLst/>
            <a:rect l="l" t="t" r="r" b="b"/>
            <a:pathLst>
              <a:path w="3686175" h="5048250">
                <a:moveTo>
                  <a:pt x="114308" y="0"/>
                </a:moveTo>
                <a:lnTo>
                  <a:pt x="3571867" y="0"/>
                </a:lnTo>
                <a:cubicBezTo>
                  <a:pt x="3634997" y="0"/>
                  <a:pt x="3686175" y="51178"/>
                  <a:pt x="3686175" y="114308"/>
                </a:cubicBezTo>
                <a:lnTo>
                  <a:pt x="3686175" y="4933942"/>
                </a:lnTo>
                <a:cubicBezTo>
                  <a:pt x="3686175" y="4997072"/>
                  <a:pt x="3634997" y="5048250"/>
                  <a:pt x="3571867" y="5048250"/>
                </a:cubicBezTo>
                <a:lnTo>
                  <a:pt x="114308" y="5048250"/>
                </a:lnTo>
                <a:cubicBezTo>
                  <a:pt x="51178" y="5048250"/>
                  <a:pt x="0" y="4997072"/>
                  <a:pt x="0" y="493394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9600" y="16573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E2E2"/>
          </a:solidFill>
          <a:ln/>
        </p:spPr>
      </p:sp>
      <p:sp>
        <p:nvSpPr>
          <p:cNvPr id="7" name="Shape 5"/>
          <p:cNvSpPr/>
          <p:nvPr/>
        </p:nvSpPr>
        <p:spPr>
          <a:xfrm>
            <a:off x="776288" y="18097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130329" y="98271"/>
                </a:moveTo>
                <a:cubicBezTo>
                  <a:pt x="126132" y="94074"/>
                  <a:pt x="119345" y="94074"/>
                  <a:pt x="115193" y="98271"/>
                </a:cubicBezTo>
                <a:lnTo>
                  <a:pt x="100057" y="113407"/>
                </a:lnTo>
                <a:lnTo>
                  <a:pt x="84921" y="98271"/>
                </a:lnTo>
                <a:cubicBezTo>
                  <a:pt x="80724" y="94074"/>
                  <a:pt x="73938" y="94074"/>
                  <a:pt x="69786" y="98271"/>
                </a:cubicBezTo>
                <a:cubicBezTo>
                  <a:pt x="65633" y="102468"/>
                  <a:pt x="65589" y="109255"/>
                  <a:pt x="69786" y="113407"/>
                </a:cubicBezTo>
                <a:lnTo>
                  <a:pt x="84921" y="128543"/>
                </a:lnTo>
                <a:lnTo>
                  <a:pt x="69786" y="143679"/>
                </a:lnTo>
                <a:cubicBezTo>
                  <a:pt x="65589" y="147876"/>
                  <a:pt x="65589" y="154662"/>
                  <a:pt x="69786" y="158814"/>
                </a:cubicBezTo>
                <a:cubicBezTo>
                  <a:pt x="73982" y="162967"/>
                  <a:pt x="80769" y="163011"/>
                  <a:pt x="84921" y="158814"/>
                </a:cubicBezTo>
                <a:lnTo>
                  <a:pt x="100057" y="143679"/>
                </a:lnTo>
                <a:lnTo>
                  <a:pt x="115193" y="158814"/>
                </a:lnTo>
                <a:cubicBezTo>
                  <a:pt x="119390" y="163011"/>
                  <a:pt x="126176" y="163011"/>
                  <a:pt x="130329" y="158814"/>
                </a:cubicBezTo>
                <a:cubicBezTo>
                  <a:pt x="134481" y="154618"/>
                  <a:pt x="134526" y="147831"/>
                  <a:pt x="130329" y="143679"/>
                </a:cubicBezTo>
                <a:lnTo>
                  <a:pt x="115193" y="128543"/>
                </a:lnTo>
                <a:lnTo>
                  <a:pt x="130329" y="113407"/>
                </a:lnTo>
                <a:cubicBezTo>
                  <a:pt x="134526" y="109210"/>
                  <a:pt x="134526" y="102424"/>
                  <a:pt x="130329" y="98271"/>
                </a:cubicBezTo>
                <a:close/>
              </a:path>
            </a:pathLst>
          </a:custGeom>
          <a:solidFill>
            <a:srgbClr val="E7000B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1790700"/>
            <a:ext cx="2114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 err="1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Muddati</a:t>
            </a:r>
            <a:r>
              <a:rPr lang="en-US" sz="15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uz-Latn-UZ" sz="150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</a:t>
            </a:r>
            <a:r>
              <a:rPr lang="en-US" sz="150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</a:t>
            </a:r>
            <a:r>
              <a:rPr lang="en-US" sz="1500" b="1" dirty="0" err="1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tgan</a:t>
            </a:r>
            <a:r>
              <a:rPr lang="en-US" sz="150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uz-Latn-UZ" sz="15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</a:t>
            </a:r>
            <a:r>
              <a:rPr lang="en-US" sz="1500" b="1" dirty="0" err="1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ujjatlar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600" y="2343150"/>
            <a:ext cx="3228975" cy="1104900"/>
          </a:xfrm>
          <a:custGeom>
            <a:avLst/>
            <a:gdLst/>
            <a:ahLst/>
            <a:cxnLst/>
            <a:rect l="l" t="t" r="r" b="b"/>
            <a:pathLst>
              <a:path w="3228975" h="1104900">
                <a:moveTo>
                  <a:pt x="76205" y="0"/>
                </a:moveTo>
                <a:lnTo>
                  <a:pt x="3152770" y="0"/>
                </a:lnTo>
                <a:cubicBezTo>
                  <a:pt x="3194857" y="0"/>
                  <a:pt x="3228975" y="34118"/>
                  <a:pt x="3228975" y="76205"/>
                </a:cubicBezTo>
                <a:lnTo>
                  <a:pt x="3228975" y="1028695"/>
                </a:lnTo>
                <a:cubicBezTo>
                  <a:pt x="3228975" y="1070782"/>
                  <a:pt x="3194857" y="1104900"/>
                  <a:pt x="3152770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2552700"/>
            <a:ext cx="122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Memorandumlar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25723" y="2495550"/>
            <a:ext cx="904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700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60%+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2914650"/>
            <a:ext cx="2924175" cy="114300"/>
          </a:xfrm>
          <a:custGeom>
            <a:avLst/>
            <a:gdLst/>
            <a:ahLst/>
            <a:cxnLst/>
            <a:rect l="l" t="t" r="r" b="b"/>
            <a:pathLst>
              <a:path w="2924175" h="114300">
                <a:moveTo>
                  <a:pt x="57150" y="0"/>
                </a:moveTo>
                <a:lnTo>
                  <a:pt x="2867025" y="0"/>
                </a:lnTo>
                <a:cubicBezTo>
                  <a:pt x="2898567" y="0"/>
                  <a:pt x="2924175" y="25608"/>
                  <a:pt x="2924175" y="57150"/>
                </a:cubicBezTo>
                <a:lnTo>
                  <a:pt x="2924175" y="57150"/>
                </a:lnTo>
                <a:cubicBezTo>
                  <a:pt x="2924175" y="88692"/>
                  <a:pt x="2898567" y="114300"/>
                  <a:pt x="286702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FC9C9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2914650"/>
            <a:ext cx="1752600" cy="114300"/>
          </a:xfrm>
          <a:custGeom>
            <a:avLst/>
            <a:gdLst/>
            <a:ahLst/>
            <a:cxnLst/>
            <a:rect l="l" t="t" r="r" b="b"/>
            <a:pathLst>
              <a:path w="1752600" h="114300">
                <a:moveTo>
                  <a:pt x="57150" y="0"/>
                </a:moveTo>
                <a:lnTo>
                  <a:pt x="1695450" y="0"/>
                </a:lnTo>
                <a:cubicBezTo>
                  <a:pt x="1726992" y="0"/>
                  <a:pt x="1752600" y="25608"/>
                  <a:pt x="1752600" y="57150"/>
                </a:cubicBezTo>
                <a:lnTo>
                  <a:pt x="1752600" y="57150"/>
                </a:lnTo>
                <a:cubicBezTo>
                  <a:pt x="1752600" y="88692"/>
                  <a:pt x="1726992" y="114300"/>
                  <a:pt x="16954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E7000B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3105150"/>
            <a:ext cx="2990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C7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Muddati o'tgan yoki bekor qilingan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9600" y="3600450"/>
            <a:ext cx="3228975" cy="1104900"/>
          </a:xfrm>
          <a:custGeom>
            <a:avLst/>
            <a:gdLst/>
            <a:ahLst/>
            <a:cxnLst/>
            <a:rect l="l" t="t" r="r" b="b"/>
            <a:pathLst>
              <a:path w="3228975" h="1104900">
                <a:moveTo>
                  <a:pt x="76205" y="0"/>
                </a:moveTo>
                <a:lnTo>
                  <a:pt x="3152770" y="0"/>
                </a:lnTo>
                <a:cubicBezTo>
                  <a:pt x="3194857" y="0"/>
                  <a:pt x="3228975" y="34118"/>
                  <a:pt x="3228975" y="76205"/>
                </a:cubicBezTo>
                <a:lnTo>
                  <a:pt x="3228975" y="1028695"/>
                </a:lnTo>
                <a:cubicBezTo>
                  <a:pt x="3228975" y="1070782"/>
                  <a:pt x="3194857" y="1104900"/>
                  <a:pt x="3152770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FF7ED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3810000"/>
            <a:ext cx="101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Shartnomalar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110508" y="3752850"/>
            <a:ext cx="714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549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45%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4171950"/>
            <a:ext cx="2924175" cy="114300"/>
          </a:xfrm>
          <a:custGeom>
            <a:avLst/>
            <a:gdLst/>
            <a:ahLst/>
            <a:cxnLst/>
            <a:rect l="l" t="t" r="r" b="b"/>
            <a:pathLst>
              <a:path w="2924175" h="114300">
                <a:moveTo>
                  <a:pt x="57150" y="0"/>
                </a:moveTo>
                <a:lnTo>
                  <a:pt x="2867025" y="0"/>
                </a:lnTo>
                <a:cubicBezTo>
                  <a:pt x="2898567" y="0"/>
                  <a:pt x="2924175" y="25608"/>
                  <a:pt x="2924175" y="57150"/>
                </a:cubicBezTo>
                <a:lnTo>
                  <a:pt x="2924175" y="57150"/>
                </a:lnTo>
                <a:cubicBezTo>
                  <a:pt x="2924175" y="88692"/>
                  <a:pt x="2898567" y="114300"/>
                  <a:pt x="286702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FD6A7"/>
          </a:solidFill>
          <a:ln/>
        </p:spPr>
      </p:sp>
      <p:sp>
        <p:nvSpPr>
          <p:cNvPr id="19" name="Shape 17"/>
          <p:cNvSpPr/>
          <p:nvPr/>
        </p:nvSpPr>
        <p:spPr>
          <a:xfrm>
            <a:off x="762000" y="4171950"/>
            <a:ext cx="1314450" cy="114300"/>
          </a:xfrm>
          <a:custGeom>
            <a:avLst/>
            <a:gdLst/>
            <a:ahLst/>
            <a:cxnLst/>
            <a:rect l="l" t="t" r="r" b="b"/>
            <a:pathLst>
              <a:path w="1314450" h="114300">
                <a:moveTo>
                  <a:pt x="57150" y="0"/>
                </a:moveTo>
                <a:lnTo>
                  <a:pt x="1257300" y="0"/>
                </a:lnTo>
                <a:cubicBezTo>
                  <a:pt x="1288842" y="0"/>
                  <a:pt x="1314450" y="25608"/>
                  <a:pt x="1314450" y="57150"/>
                </a:cubicBezTo>
                <a:lnTo>
                  <a:pt x="1314450" y="57150"/>
                </a:lnTo>
                <a:cubicBezTo>
                  <a:pt x="1314450" y="88692"/>
                  <a:pt x="1288842" y="114300"/>
                  <a:pt x="125730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54900"/>
          </a:solidFill>
          <a:ln/>
        </p:spPr>
      </p:sp>
      <p:sp>
        <p:nvSpPr>
          <p:cNvPr id="20" name="Text 18"/>
          <p:cNvSpPr/>
          <p:nvPr/>
        </p:nvSpPr>
        <p:spPr>
          <a:xfrm>
            <a:off x="762000" y="4362450"/>
            <a:ext cx="2990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C7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Yangilanmagan yoki nazoratsiz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8650" y="5638800"/>
            <a:ext cx="3209925" cy="609600"/>
          </a:xfrm>
          <a:custGeom>
            <a:avLst/>
            <a:gdLst/>
            <a:ahLst/>
            <a:cxnLst/>
            <a:rect l="l" t="t" r="r" b="b"/>
            <a:pathLst>
              <a:path w="3209925" h="609600">
                <a:moveTo>
                  <a:pt x="38100" y="0"/>
                </a:moveTo>
                <a:lnTo>
                  <a:pt x="3133725" y="0"/>
                </a:lnTo>
                <a:cubicBezTo>
                  <a:pt x="3175781" y="0"/>
                  <a:pt x="3209925" y="34144"/>
                  <a:pt x="3209925" y="76200"/>
                </a:cubicBezTo>
                <a:lnTo>
                  <a:pt x="3209925" y="533400"/>
                </a:lnTo>
                <a:cubicBezTo>
                  <a:pt x="3209925" y="575456"/>
                  <a:pt x="3175781" y="609600"/>
                  <a:pt x="31337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22" name="Shape 20"/>
          <p:cNvSpPr/>
          <p:nvPr/>
        </p:nvSpPr>
        <p:spPr>
          <a:xfrm>
            <a:off x="628650" y="563880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3" name="Shape 21"/>
          <p:cNvSpPr/>
          <p:nvPr/>
        </p:nvSpPr>
        <p:spPr>
          <a:xfrm>
            <a:off x="781050" y="57912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C10007"/>
          </a:solidFill>
          <a:ln/>
        </p:spPr>
      </p:sp>
      <p:sp>
        <p:nvSpPr>
          <p:cNvPr id="24" name="Text 22"/>
          <p:cNvSpPr/>
          <p:nvPr/>
        </p:nvSpPr>
        <p:spPr>
          <a:xfrm>
            <a:off x="990600" y="5753100"/>
            <a:ext cx="2800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100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Monitoring tizimi yo'qligi sababli hujjatlar o'z vaqtida yangilanmaydi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54460" y="1428750"/>
            <a:ext cx="3686175" cy="5048250"/>
          </a:xfrm>
          <a:custGeom>
            <a:avLst/>
            <a:gdLst/>
            <a:ahLst/>
            <a:cxnLst/>
            <a:rect l="l" t="t" r="r" b="b"/>
            <a:pathLst>
              <a:path w="3686175" h="5048250">
                <a:moveTo>
                  <a:pt x="114308" y="0"/>
                </a:moveTo>
                <a:lnTo>
                  <a:pt x="3571867" y="0"/>
                </a:lnTo>
                <a:cubicBezTo>
                  <a:pt x="3634997" y="0"/>
                  <a:pt x="3686175" y="51178"/>
                  <a:pt x="3686175" y="114308"/>
                </a:cubicBezTo>
                <a:lnTo>
                  <a:pt x="3686175" y="4933942"/>
                </a:lnTo>
                <a:cubicBezTo>
                  <a:pt x="3686175" y="4997072"/>
                  <a:pt x="3634997" y="5048250"/>
                  <a:pt x="3571867" y="5048250"/>
                </a:cubicBezTo>
                <a:lnTo>
                  <a:pt x="114308" y="5048250"/>
                </a:lnTo>
                <a:cubicBezTo>
                  <a:pt x="51178" y="5048250"/>
                  <a:pt x="0" y="4997072"/>
                  <a:pt x="0" y="493394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83060" y="16573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EDD4"/>
          </a:solidFill>
          <a:ln/>
        </p:spPr>
      </p:sp>
      <p:sp>
        <p:nvSpPr>
          <p:cNvPr id="27" name="Shape 25"/>
          <p:cNvSpPr/>
          <p:nvPr/>
        </p:nvSpPr>
        <p:spPr>
          <a:xfrm>
            <a:off x="4621173" y="18097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-7144"/>
                </a:moveTo>
                <a:cubicBezTo>
                  <a:pt x="122649" y="-7144"/>
                  <a:pt x="117872" y="-2366"/>
                  <a:pt x="117872" y="3572"/>
                </a:cubicBezTo>
                <a:lnTo>
                  <a:pt x="117872" y="8930"/>
                </a:lnTo>
                <a:lnTo>
                  <a:pt x="117068" y="8930"/>
                </a:lnTo>
                <a:cubicBezTo>
                  <a:pt x="100727" y="8930"/>
                  <a:pt x="87511" y="22190"/>
                  <a:pt x="87511" y="38487"/>
                </a:cubicBezTo>
                <a:cubicBezTo>
                  <a:pt x="87511" y="53400"/>
                  <a:pt x="98628" y="65990"/>
                  <a:pt x="113407" y="67821"/>
                </a:cubicBezTo>
                <a:lnTo>
                  <a:pt x="140643" y="71214"/>
                </a:lnTo>
                <a:cubicBezTo>
                  <a:pt x="142920" y="71482"/>
                  <a:pt x="144661" y="73447"/>
                  <a:pt x="144661" y="75768"/>
                </a:cubicBezTo>
                <a:cubicBezTo>
                  <a:pt x="144661" y="78313"/>
                  <a:pt x="142607" y="80323"/>
                  <a:pt x="140107" y="80323"/>
                </a:cubicBezTo>
                <a:lnTo>
                  <a:pt x="107156" y="80367"/>
                </a:lnTo>
                <a:cubicBezTo>
                  <a:pt x="100236" y="80367"/>
                  <a:pt x="94655" y="85948"/>
                  <a:pt x="94655" y="92869"/>
                </a:cubicBezTo>
                <a:cubicBezTo>
                  <a:pt x="94655" y="99789"/>
                  <a:pt x="100236" y="105370"/>
                  <a:pt x="107156" y="105370"/>
                </a:cubicBezTo>
                <a:lnTo>
                  <a:pt x="117872" y="105370"/>
                </a:lnTo>
                <a:lnTo>
                  <a:pt x="117872" y="110728"/>
                </a:lnTo>
                <a:cubicBezTo>
                  <a:pt x="117872" y="116666"/>
                  <a:pt x="122649" y="121444"/>
                  <a:pt x="128588" y="121444"/>
                </a:cubicBezTo>
                <a:cubicBezTo>
                  <a:pt x="134526" y="121444"/>
                  <a:pt x="139303" y="116666"/>
                  <a:pt x="139303" y="110728"/>
                </a:cubicBezTo>
                <a:lnTo>
                  <a:pt x="139303" y="105370"/>
                </a:lnTo>
                <a:lnTo>
                  <a:pt x="140107" y="105370"/>
                </a:lnTo>
                <a:cubicBezTo>
                  <a:pt x="156448" y="105370"/>
                  <a:pt x="169664" y="92110"/>
                  <a:pt x="169664" y="75813"/>
                </a:cubicBezTo>
                <a:cubicBezTo>
                  <a:pt x="169664" y="60900"/>
                  <a:pt x="158547" y="48310"/>
                  <a:pt x="143768" y="46479"/>
                </a:cubicBezTo>
                <a:lnTo>
                  <a:pt x="116532" y="43086"/>
                </a:lnTo>
                <a:cubicBezTo>
                  <a:pt x="114255" y="42818"/>
                  <a:pt x="112514" y="40853"/>
                  <a:pt x="112514" y="38532"/>
                </a:cubicBezTo>
                <a:cubicBezTo>
                  <a:pt x="112514" y="35987"/>
                  <a:pt x="114568" y="33977"/>
                  <a:pt x="117068" y="33977"/>
                </a:cubicBezTo>
                <a:lnTo>
                  <a:pt x="146447" y="33933"/>
                </a:lnTo>
                <a:cubicBezTo>
                  <a:pt x="153367" y="33933"/>
                  <a:pt x="158948" y="28352"/>
                  <a:pt x="158948" y="21431"/>
                </a:cubicBezTo>
                <a:cubicBezTo>
                  <a:pt x="158948" y="14511"/>
                  <a:pt x="153367" y="8930"/>
                  <a:pt x="146447" y="8930"/>
                </a:cubicBezTo>
                <a:lnTo>
                  <a:pt x="139303" y="8930"/>
                </a:lnTo>
                <a:lnTo>
                  <a:pt x="139303" y="3572"/>
                </a:lnTo>
                <a:cubicBezTo>
                  <a:pt x="139303" y="-2366"/>
                  <a:pt x="134526" y="-7144"/>
                  <a:pt x="128588" y="-7144"/>
                </a:cubicBezTo>
                <a:close/>
                <a:moveTo>
                  <a:pt x="48801" y="152474"/>
                </a:moveTo>
                <a:lnTo>
                  <a:pt x="29781" y="171450"/>
                </a:lnTo>
                <a:lnTo>
                  <a:pt x="14288" y="171450"/>
                </a:lnTo>
                <a:cubicBezTo>
                  <a:pt x="6385" y="171450"/>
                  <a:pt x="0" y="177835"/>
                  <a:pt x="0" y="185738"/>
                </a:cubicBezTo>
                <a:lnTo>
                  <a:pt x="0" y="214313"/>
                </a:lnTo>
                <a:cubicBezTo>
                  <a:pt x="0" y="222215"/>
                  <a:pt x="6385" y="228600"/>
                  <a:pt x="14288" y="228600"/>
                </a:cubicBezTo>
                <a:lnTo>
                  <a:pt x="157386" y="228600"/>
                </a:lnTo>
                <a:cubicBezTo>
                  <a:pt x="170334" y="228600"/>
                  <a:pt x="182969" y="224448"/>
                  <a:pt x="193417" y="216768"/>
                </a:cubicBezTo>
                <a:lnTo>
                  <a:pt x="249942" y="175111"/>
                </a:lnTo>
                <a:cubicBezTo>
                  <a:pt x="257889" y="169262"/>
                  <a:pt x="259586" y="158100"/>
                  <a:pt x="253737" y="150153"/>
                </a:cubicBezTo>
                <a:cubicBezTo>
                  <a:pt x="247888" y="142205"/>
                  <a:pt x="236726" y="140509"/>
                  <a:pt x="228779" y="146358"/>
                </a:cubicBezTo>
                <a:lnTo>
                  <a:pt x="175290" y="185738"/>
                </a:lnTo>
                <a:lnTo>
                  <a:pt x="125016" y="185738"/>
                </a:lnTo>
                <a:cubicBezTo>
                  <a:pt x="119077" y="185738"/>
                  <a:pt x="114300" y="180960"/>
                  <a:pt x="114300" y="175022"/>
                </a:cubicBezTo>
                <a:cubicBezTo>
                  <a:pt x="114300" y="169084"/>
                  <a:pt x="119077" y="164306"/>
                  <a:pt x="125016" y="164306"/>
                </a:cubicBezTo>
                <a:lnTo>
                  <a:pt x="157163" y="164306"/>
                </a:lnTo>
                <a:cubicBezTo>
                  <a:pt x="165065" y="164306"/>
                  <a:pt x="171450" y="157922"/>
                  <a:pt x="171450" y="150019"/>
                </a:cubicBezTo>
                <a:cubicBezTo>
                  <a:pt x="171450" y="142116"/>
                  <a:pt x="165065" y="135731"/>
                  <a:pt x="157163" y="135731"/>
                </a:cubicBezTo>
                <a:lnTo>
                  <a:pt x="89208" y="135731"/>
                </a:lnTo>
                <a:cubicBezTo>
                  <a:pt x="74072" y="135731"/>
                  <a:pt x="59516" y="141759"/>
                  <a:pt x="48801" y="152474"/>
                </a:cubicBezTo>
                <a:close/>
              </a:path>
            </a:pathLst>
          </a:custGeom>
          <a:solidFill>
            <a:srgbClr val="F54900"/>
          </a:solidFill>
          <a:ln/>
        </p:spPr>
      </p:sp>
      <p:sp>
        <p:nvSpPr>
          <p:cNvPr id="28" name="Text 26"/>
          <p:cNvSpPr/>
          <p:nvPr/>
        </p:nvSpPr>
        <p:spPr>
          <a:xfrm>
            <a:off x="5130761" y="1790700"/>
            <a:ext cx="2219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Samarasiz Grant </a:t>
            </a:r>
            <a:r>
              <a:rPr lang="uz-Latn-UZ" sz="150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</a:t>
            </a:r>
            <a:r>
              <a:rPr lang="en-US" sz="1500" b="1" dirty="0" err="1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arayoni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83060" y="2343150"/>
            <a:ext cx="3228975" cy="647700"/>
          </a:xfrm>
          <a:custGeom>
            <a:avLst/>
            <a:gdLst/>
            <a:ahLst/>
            <a:cxnLst/>
            <a:rect l="l" t="t" r="r" b="b"/>
            <a:pathLst>
              <a:path w="3228975" h="647700">
                <a:moveTo>
                  <a:pt x="76202" y="0"/>
                </a:moveTo>
                <a:lnTo>
                  <a:pt x="3152773" y="0"/>
                </a:lnTo>
                <a:cubicBezTo>
                  <a:pt x="3194858" y="0"/>
                  <a:pt x="3228975" y="34117"/>
                  <a:pt x="3228975" y="76202"/>
                </a:cubicBezTo>
                <a:lnTo>
                  <a:pt x="3228975" y="571498"/>
                </a:lnTo>
                <a:cubicBezTo>
                  <a:pt x="3228975" y="613583"/>
                  <a:pt x="3194858" y="647700"/>
                  <a:pt x="31527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0" name="Shape 28"/>
          <p:cNvSpPr/>
          <p:nvPr/>
        </p:nvSpPr>
        <p:spPr>
          <a:xfrm>
            <a:off x="4621173" y="24955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ubicBezTo>
                  <a:pt x="0" y="38412"/>
                  <a:pt x="38412" y="0"/>
                  <a:pt x="85725" y="0"/>
                </a:cubicBezTo>
                <a:close/>
                <a:moveTo>
                  <a:pt x="77688" y="40184"/>
                </a:moveTo>
                <a:lnTo>
                  <a:pt x="77688" y="85725"/>
                </a:lnTo>
                <a:cubicBezTo>
                  <a:pt x="77688" y="88404"/>
                  <a:pt x="79028" y="90915"/>
                  <a:pt x="81271" y="92422"/>
                </a:cubicBezTo>
                <a:lnTo>
                  <a:pt x="113418" y="113854"/>
                </a:lnTo>
                <a:cubicBezTo>
                  <a:pt x="117102" y="116332"/>
                  <a:pt x="122091" y="115327"/>
                  <a:pt x="124569" y="111610"/>
                </a:cubicBezTo>
                <a:cubicBezTo>
                  <a:pt x="127047" y="107893"/>
                  <a:pt x="126043" y="102937"/>
                  <a:pt x="122326" y="100459"/>
                </a:cubicBezTo>
                <a:lnTo>
                  <a:pt x="93762" y="81439"/>
                </a:lnTo>
                <a:lnTo>
                  <a:pt x="93762" y="40184"/>
                </a:lnTo>
                <a:cubicBezTo>
                  <a:pt x="93762" y="35730"/>
                  <a:pt x="90179" y="32147"/>
                  <a:pt x="85725" y="32147"/>
                </a:cubicBezTo>
                <a:cubicBezTo>
                  <a:pt x="81271" y="32147"/>
                  <a:pt x="77688" y="35730"/>
                  <a:pt x="77688" y="40184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31" name="Text 29"/>
          <p:cNvSpPr/>
          <p:nvPr/>
        </p:nvSpPr>
        <p:spPr>
          <a:xfrm>
            <a:off x="4925973" y="2457450"/>
            <a:ext cx="259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 err="1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Vaqt</a:t>
            </a:r>
            <a:r>
              <a:rPr lang="en-US" sz="1200" b="1" dirty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200" b="1" dirty="0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</a:t>
            </a:r>
            <a:r>
              <a:rPr lang="en-US" sz="1200" b="1" dirty="0" err="1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arfi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925973" y="2686050"/>
            <a:ext cx="2581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Har bir grant uchun </a:t>
            </a:r>
            <a:r>
              <a:rPr lang="en-US" sz="1050" b="1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2-4 hafta</a:t>
            </a:r>
            <a:r>
              <a:rPr lang="en-US" sz="105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vaqt ketadi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83060" y="3105150"/>
            <a:ext cx="3228975" cy="647700"/>
          </a:xfrm>
          <a:custGeom>
            <a:avLst/>
            <a:gdLst/>
            <a:ahLst/>
            <a:cxnLst/>
            <a:rect l="l" t="t" r="r" b="b"/>
            <a:pathLst>
              <a:path w="3228975" h="647700">
                <a:moveTo>
                  <a:pt x="76202" y="0"/>
                </a:moveTo>
                <a:lnTo>
                  <a:pt x="3152773" y="0"/>
                </a:lnTo>
                <a:cubicBezTo>
                  <a:pt x="3194858" y="0"/>
                  <a:pt x="3228975" y="34117"/>
                  <a:pt x="3228975" y="76202"/>
                </a:cubicBezTo>
                <a:lnTo>
                  <a:pt x="3228975" y="571498"/>
                </a:lnTo>
                <a:cubicBezTo>
                  <a:pt x="3228975" y="613583"/>
                  <a:pt x="3194858" y="647700"/>
                  <a:pt x="31527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4" name="Shape 32"/>
          <p:cNvSpPr/>
          <p:nvPr/>
        </p:nvSpPr>
        <p:spPr>
          <a:xfrm>
            <a:off x="4599742" y="325755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35" name="Text 33"/>
          <p:cNvSpPr/>
          <p:nvPr/>
        </p:nvSpPr>
        <p:spPr>
          <a:xfrm>
            <a:off x="4925973" y="3219450"/>
            <a:ext cx="260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 err="1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Xodimlar</a:t>
            </a:r>
            <a:r>
              <a:rPr lang="en-US" sz="1200" b="1" dirty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200" b="1" dirty="0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r>
              <a:rPr lang="en-US" sz="1200" b="1" dirty="0" err="1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</a:t>
            </a:r>
            <a:r>
              <a:rPr lang="en-US" sz="1200" b="1" dirty="0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200" b="1" dirty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</a:t>
            </a:r>
            <a:r>
              <a:rPr lang="en-US" sz="1200" b="1" dirty="0" err="1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uki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925973" y="3448050"/>
            <a:ext cx="2600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3-5 kishi</a:t>
            </a:r>
            <a:r>
              <a:rPr lang="en-US" sz="105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bir vaqtning o'zida ishlashi kerak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83060" y="3867150"/>
            <a:ext cx="3228975" cy="647700"/>
          </a:xfrm>
          <a:custGeom>
            <a:avLst/>
            <a:gdLst/>
            <a:ahLst/>
            <a:cxnLst/>
            <a:rect l="l" t="t" r="r" b="b"/>
            <a:pathLst>
              <a:path w="3228975" h="647700">
                <a:moveTo>
                  <a:pt x="76202" y="0"/>
                </a:moveTo>
                <a:lnTo>
                  <a:pt x="3152773" y="0"/>
                </a:lnTo>
                <a:cubicBezTo>
                  <a:pt x="3194858" y="0"/>
                  <a:pt x="3228975" y="34117"/>
                  <a:pt x="3228975" y="76202"/>
                </a:cubicBezTo>
                <a:lnTo>
                  <a:pt x="3228975" y="571498"/>
                </a:lnTo>
                <a:cubicBezTo>
                  <a:pt x="3228975" y="613583"/>
                  <a:pt x="3194858" y="647700"/>
                  <a:pt x="31527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8" name="Shape 36"/>
          <p:cNvSpPr/>
          <p:nvPr/>
        </p:nvSpPr>
        <p:spPr>
          <a:xfrm>
            <a:off x="4621173" y="40195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39" name="Text 37"/>
          <p:cNvSpPr/>
          <p:nvPr/>
        </p:nvSpPr>
        <p:spPr>
          <a:xfrm>
            <a:off x="4925973" y="3981450"/>
            <a:ext cx="2143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 err="1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Natija</a:t>
            </a:r>
            <a:r>
              <a:rPr lang="en-US" sz="1200" b="1" dirty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200" b="1" dirty="0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</a:t>
            </a:r>
            <a:r>
              <a:rPr lang="en-US" sz="1200" b="1" dirty="0" err="1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amaradorligi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925973" y="4210050"/>
            <a:ext cx="213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Faqat </a:t>
            </a:r>
            <a:r>
              <a:rPr lang="en-US" sz="1050" b="1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15-20%</a:t>
            </a:r>
            <a:r>
              <a:rPr lang="en-US" sz="105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muvaffaqiyatli ariza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502110" y="5638800"/>
            <a:ext cx="3209925" cy="609600"/>
          </a:xfrm>
          <a:custGeom>
            <a:avLst/>
            <a:gdLst/>
            <a:ahLst/>
            <a:cxnLst/>
            <a:rect l="l" t="t" r="r" b="b"/>
            <a:pathLst>
              <a:path w="3209925" h="609600">
                <a:moveTo>
                  <a:pt x="38100" y="0"/>
                </a:moveTo>
                <a:lnTo>
                  <a:pt x="3133725" y="0"/>
                </a:lnTo>
                <a:cubicBezTo>
                  <a:pt x="3175781" y="0"/>
                  <a:pt x="3209925" y="34144"/>
                  <a:pt x="3209925" y="76200"/>
                </a:cubicBezTo>
                <a:lnTo>
                  <a:pt x="3209925" y="533400"/>
                </a:lnTo>
                <a:cubicBezTo>
                  <a:pt x="3209925" y="575456"/>
                  <a:pt x="3175781" y="609600"/>
                  <a:pt x="31337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7ED"/>
          </a:solidFill>
          <a:ln/>
        </p:spPr>
      </p:sp>
      <p:sp>
        <p:nvSpPr>
          <p:cNvPr id="42" name="Shape 40"/>
          <p:cNvSpPr/>
          <p:nvPr/>
        </p:nvSpPr>
        <p:spPr>
          <a:xfrm>
            <a:off x="4502110" y="563880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43" name="Shape 41"/>
          <p:cNvSpPr/>
          <p:nvPr/>
        </p:nvSpPr>
        <p:spPr>
          <a:xfrm>
            <a:off x="4654510" y="57912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CA3500"/>
          </a:solidFill>
          <a:ln/>
        </p:spPr>
      </p:sp>
      <p:sp>
        <p:nvSpPr>
          <p:cNvPr id="44" name="Text 42"/>
          <p:cNvSpPr/>
          <p:nvPr/>
        </p:nvSpPr>
        <p:spPr>
          <a:xfrm>
            <a:off x="4864060" y="5753100"/>
            <a:ext cx="2800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A35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Qo'lda jarayon ko'p vaqt talab qiladi va xatolarga olib keladi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27921" y="1428750"/>
            <a:ext cx="3686175" cy="5048250"/>
          </a:xfrm>
          <a:custGeom>
            <a:avLst/>
            <a:gdLst/>
            <a:ahLst/>
            <a:cxnLst/>
            <a:rect l="l" t="t" r="r" b="b"/>
            <a:pathLst>
              <a:path w="3686175" h="5048250">
                <a:moveTo>
                  <a:pt x="114308" y="0"/>
                </a:moveTo>
                <a:lnTo>
                  <a:pt x="3571867" y="0"/>
                </a:lnTo>
                <a:cubicBezTo>
                  <a:pt x="3634997" y="0"/>
                  <a:pt x="3686175" y="51178"/>
                  <a:pt x="3686175" y="114308"/>
                </a:cubicBezTo>
                <a:lnTo>
                  <a:pt x="3686175" y="4933942"/>
                </a:lnTo>
                <a:cubicBezTo>
                  <a:pt x="3686175" y="4997072"/>
                  <a:pt x="3634997" y="5048250"/>
                  <a:pt x="3571867" y="5048250"/>
                </a:cubicBezTo>
                <a:lnTo>
                  <a:pt x="114308" y="5048250"/>
                </a:lnTo>
                <a:cubicBezTo>
                  <a:pt x="51178" y="5048250"/>
                  <a:pt x="0" y="4997072"/>
                  <a:pt x="0" y="493394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356521" y="16573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EF9C2"/>
          </a:solidFill>
          <a:ln/>
        </p:spPr>
      </p:sp>
      <p:sp>
        <p:nvSpPr>
          <p:cNvPr id="47" name="Shape 45"/>
          <p:cNvSpPr/>
          <p:nvPr/>
        </p:nvSpPr>
        <p:spPr>
          <a:xfrm>
            <a:off x="8494633" y="18097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8306" y="-11117"/>
                </a:moveTo>
                <a:cubicBezTo>
                  <a:pt x="14109" y="-15314"/>
                  <a:pt x="7322" y="-15314"/>
                  <a:pt x="3170" y="-11117"/>
                </a:cubicBezTo>
                <a:cubicBezTo>
                  <a:pt x="-982" y="-6921"/>
                  <a:pt x="-1027" y="-134"/>
                  <a:pt x="3125" y="4063"/>
                </a:cubicBezTo>
                <a:lnTo>
                  <a:pt x="238869" y="239807"/>
                </a:lnTo>
                <a:cubicBezTo>
                  <a:pt x="243066" y="244004"/>
                  <a:pt x="249853" y="244004"/>
                  <a:pt x="254005" y="239807"/>
                </a:cubicBezTo>
                <a:cubicBezTo>
                  <a:pt x="258157" y="235610"/>
                  <a:pt x="258202" y="228823"/>
                  <a:pt x="254005" y="224671"/>
                </a:cubicBezTo>
                <a:lnTo>
                  <a:pt x="210964" y="181630"/>
                </a:lnTo>
                <a:cubicBezTo>
                  <a:pt x="212169" y="180558"/>
                  <a:pt x="213375" y="179487"/>
                  <a:pt x="214536" y="178415"/>
                </a:cubicBezTo>
                <a:cubicBezTo>
                  <a:pt x="235431" y="158993"/>
                  <a:pt x="249406" y="135821"/>
                  <a:pt x="256059" y="119881"/>
                </a:cubicBezTo>
                <a:cubicBezTo>
                  <a:pt x="257532" y="116354"/>
                  <a:pt x="257532" y="112425"/>
                  <a:pt x="256059" y="108898"/>
                </a:cubicBezTo>
                <a:cubicBezTo>
                  <a:pt x="249406" y="92958"/>
                  <a:pt x="235431" y="69741"/>
                  <a:pt x="214536" y="50363"/>
                </a:cubicBezTo>
                <a:cubicBezTo>
                  <a:pt x="193506" y="30852"/>
                  <a:pt x="164619" y="14377"/>
                  <a:pt x="128543" y="14377"/>
                </a:cubicBezTo>
                <a:cubicBezTo>
                  <a:pt x="103183" y="14377"/>
                  <a:pt x="81394" y="22503"/>
                  <a:pt x="63356" y="34111"/>
                </a:cubicBezTo>
                <a:lnTo>
                  <a:pt x="18306" y="-11117"/>
                </a:lnTo>
                <a:close/>
                <a:moveTo>
                  <a:pt x="91306" y="61927"/>
                </a:moveTo>
                <a:cubicBezTo>
                  <a:pt x="101798" y="54426"/>
                  <a:pt x="114702" y="50006"/>
                  <a:pt x="128588" y="50006"/>
                </a:cubicBezTo>
                <a:cubicBezTo>
                  <a:pt x="164083" y="50006"/>
                  <a:pt x="192881" y="78804"/>
                  <a:pt x="192881" y="114300"/>
                </a:cubicBezTo>
                <a:cubicBezTo>
                  <a:pt x="192881" y="128186"/>
                  <a:pt x="188461" y="141044"/>
                  <a:pt x="180960" y="151581"/>
                </a:cubicBezTo>
                <a:lnTo>
                  <a:pt x="165467" y="136088"/>
                </a:lnTo>
                <a:cubicBezTo>
                  <a:pt x="171137" y="126534"/>
                  <a:pt x="173057" y="114791"/>
                  <a:pt x="169977" y="103183"/>
                </a:cubicBezTo>
                <a:cubicBezTo>
                  <a:pt x="163860" y="80323"/>
                  <a:pt x="140330" y="66749"/>
                  <a:pt x="117470" y="72866"/>
                </a:cubicBezTo>
                <a:cubicBezTo>
                  <a:pt x="113630" y="73893"/>
                  <a:pt x="110014" y="75411"/>
                  <a:pt x="106754" y="77331"/>
                </a:cubicBezTo>
                <a:lnTo>
                  <a:pt x="91261" y="61838"/>
                </a:lnTo>
                <a:close/>
                <a:moveTo>
                  <a:pt x="145241" y="176406"/>
                </a:moveTo>
                <a:cubicBezTo>
                  <a:pt x="139928" y="177835"/>
                  <a:pt x="134347" y="178594"/>
                  <a:pt x="128588" y="178594"/>
                </a:cubicBezTo>
                <a:cubicBezTo>
                  <a:pt x="93092" y="178594"/>
                  <a:pt x="64294" y="149796"/>
                  <a:pt x="64294" y="114300"/>
                </a:cubicBezTo>
                <a:cubicBezTo>
                  <a:pt x="64294" y="108540"/>
                  <a:pt x="65053" y="102959"/>
                  <a:pt x="66482" y="97646"/>
                </a:cubicBezTo>
                <a:lnTo>
                  <a:pt x="30986" y="62151"/>
                </a:lnTo>
                <a:cubicBezTo>
                  <a:pt x="16431" y="78581"/>
                  <a:pt x="6429" y="95994"/>
                  <a:pt x="1116" y="108808"/>
                </a:cubicBezTo>
                <a:cubicBezTo>
                  <a:pt x="-357" y="112335"/>
                  <a:pt x="-357" y="116265"/>
                  <a:pt x="1116" y="119792"/>
                </a:cubicBezTo>
                <a:cubicBezTo>
                  <a:pt x="7769" y="135731"/>
                  <a:pt x="21744" y="158948"/>
                  <a:pt x="42639" y="178326"/>
                </a:cubicBezTo>
                <a:cubicBezTo>
                  <a:pt x="63669" y="197837"/>
                  <a:pt x="92556" y="214313"/>
                  <a:pt x="128632" y="214313"/>
                </a:cubicBezTo>
                <a:cubicBezTo>
                  <a:pt x="145286" y="214313"/>
                  <a:pt x="160422" y="210785"/>
                  <a:pt x="173950" y="205115"/>
                </a:cubicBezTo>
                <a:lnTo>
                  <a:pt x="145286" y="176451"/>
                </a:lnTo>
                <a:close/>
              </a:path>
            </a:pathLst>
          </a:custGeom>
          <a:solidFill>
            <a:srgbClr val="D08700"/>
          </a:solidFill>
          <a:ln/>
        </p:spPr>
      </p:sp>
      <p:sp>
        <p:nvSpPr>
          <p:cNvPr id="48" name="Text 46"/>
          <p:cNvSpPr/>
          <p:nvPr/>
        </p:nvSpPr>
        <p:spPr>
          <a:xfrm>
            <a:off x="9004221" y="1790700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Past </a:t>
            </a:r>
            <a:r>
              <a:rPr lang="uz-Latn-UZ" sz="150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</a:t>
            </a:r>
            <a:r>
              <a:rPr lang="en-US" sz="1500" b="1" dirty="0" err="1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o'rinish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356521" y="2343150"/>
            <a:ext cx="3228975" cy="1333500"/>
          </a:xfrm>
          <a:custGeom>
            <a:avLst/>
            <a:gdLst/>
            <a:ahLst/>
            <a:cxnLst/>
            <a:rect l="l" t="t" r="r" b="b"/>
            <a:pathLst>
              <a:path w="3228975" h="1333500">
                <a:moveTo>
                  <a:pt x="76196" y="0"/>
                </a:moveTo>
                <a:lnTo>
                  <a:pt x="3152779" y="0"/>
                </a:lnTo>
                <a:cubicBezTo>
                  <a:pt x="3194861" y="0"/>
                  <a:pt x="3228975" y="34114"/>
                  <a:pt x="3228975" y="76196"/>
                </a:cubicBezTo>
                <a:lnTo>
                  <a:pt x="3228975" y="1257304"/>
                </a:lnTo>
                <a:cubicBezTo>
                  <a:pt x="3228975" y="1299386"/>
                  <a:pt x="3194861" y="1333500"/>
                  <a:pt x="3152779" y="1333500"/>
                </a:cubicBezTo>
                <a:lnTo>
                  <a:pt x="76196" y="1333500"/>
                </a:lnTo>
                <a:cubicBezTo>
                  <a:pt x="34114" y="1333500"/>
                  <a:pt x="0" y="1299386"/>
                  <a:pt x="0" y="12573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EFCE8"/>
          </a:solidFill>
          <a:ln/>
        </p:spPr>
      </p:sp>
      <p:sp>
        <p:nvSpPr>
          <p:cNvPr id="50" name="Text 48"/>
          <p:cNvSpPr/>
          <p:nvPr/>
        </p:nvSpPr>
        <p:spPr>
          <a:xfrm>
            <a:off x="8508921" y="2495550"/>
            <a:ext cx="3000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 err="1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Investitsiyaviy</a:t>
            </a:r>
            <a:r>
              <a:rPr lang="en-US" sz="1200" b="1" dirty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200" b="1" dirty="0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</a:t>
            </a:r>
            <a:r>
              <a:rPr lang="en-US" sz="1200" b="1" dirty="0" err="1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ozibadorlik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536305" y="28384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0" y="66675"/>
                </a:moveTo>
                <a:cubicBezTo>
                  <a:pt x="0" y="62065"/>
                  <a:pt x="3724" y="58341"/>
                  <a:pt x="8334" y="58341"/>
                </a:cubicBezTo>
                <a:lnTo>
                  <a:pt x="108347" y="58341"/>
                </a:lnTo>
                <a:cubicBezTo>
                  <a:pt x="112957" y="58341"/>
                  <a:pt x="116681" y="62065"/>
                  <a:pt x="116681" y="66675"/>
                </a:cubicBezTo>
                <a:cubicBezTo>
                  <a:pt x="116681" y="71285"/>
                  <a:pt x="112957" y="75009"/>
                  <a:pt x="108347" y="75009"/>
                </a:cubicBezTo>
                <a:lnTo>
                  <a:pt x="8334" y="75009"/>
                </a:lnTo>
                <a:cubicBezTo>
                  <a:pt x="3724" y="75009"/>
                  <a:pt x="0" y="71285"/>
                  <a:pt x="0" y="66675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52" name="Text 50"/>
          <p:cNvSpPr/>
          <p:nvPr/>
        </p:nvSpPr>
        <p:spPr>
          <a:xfrm>
            <a:off x="8751808" y="2800350"/>
            <a:ext cx="1838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Professional taqdimotlar yo'q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536305" y="31051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0" y="66675"/>
                </a:moveTo>
                <a:cubicBezTo>
                  <a:pt x="0" y="62065"/>
                  <a:pt x="3724" y="58341"/>
                  <a:pt x="8334" y="58341"/>
                </a:cubicBezTo>
                <a:lnTo>
                  <a:pt x="108347" y="58341"/>
                </a:lnTo>
                <a:cubicBezTo>
                  <a:pt x="112957" y="58341"/>
                  <a:pt x="116681" y="62065"/>
                  <a:pt x="116681" y="66675"/>
                </a:cubicBezTo>
                <a:cubicBezTo>
                  <a:pt x="116681" y="71285"/>
                  <a:pt x="112957" y="75009"/>
                  <a:pt x="108347" y="75009"/>
                </a:cubicBezTo>
                <a:lnTo>
                  <a:pt x="8334" y="75009"/>
                </a:lnTo>
                <a:cubicBezTo>
                  <a:pt x="3724" y="75009"/>
                  <a:pt x="0" y="71285"/>
                  <a:pt x="0" y="66675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54" name="Text 52"/>
          <p:cNvSpPr/>
          <p:nvPr/>
        </p:nvSpPr>
        <p:spPr>
          <a:xfrm>
            <a:off x="8751808" y="3067050"/>
            <a:ext cx="219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Raqamli platformalar mavjud emas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536305" y="33718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0" y="66675"/>
                </a:moveTo>
                <a:cubicBezTo>
                  <a:pt x="0" y="62065"/>
                  <a:pt x="3724" y="58341"/>
                  <a:pt x="8334" y="58341"/>
                </a:cubicBezTo>
                <a:lnTo>
                  <a:pt x="108347" y="58341"/>
                </a:lnTo>
                <a:cubicBezTo>
                  <a:pt x="112957" y="58341"/>
                  <a:pt x="116681" y="62065"/>
                  <a:pt x="116681" y="66675"/>
                </a:cubicBezTo>
                <a:cubicBezTo>
                  <a:pt x="116681" y="71285"/>
                  <a:pt x="112957" y="75009"/>
                  <a:pt x="108347" y="75009"/>
                </a:cubicBezTo>
                <a:lnTo>
                  <a:pt x="8334" y="75009"/>
                </a:lnTo>
                <a:cubicBezTo>
                  <a:pt x="3724" y="75009"/>
                  <a:pt x="0" y="71285"/>
                  <a:pt x="0" y="66675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56" name="Text 54"/>
          <p:cNvSpPr/>
          <p:nvPr/>
        </p:nvSpPr>
        <p:spPr>
          <a:xfrm>
            <a:off x="8751808" y="3333750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Xalqaro reytingda past o'rin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356521" y="3790950"/>
            <a:ext cx="3228975" cy="1066800"/>
          </a:xfrm>
          <a:custGeom>
            <a:avLst/>
            <a:gdLst/>
            <a:ahLst/>
            <a:cxnLst/>
            <a:rect l="l" t="t" r="r" b="b"/>
            <a:pathLst>
              <a:path w="3228975" h="1066800">
                <a:moveTo>
                  <a:pt x="76202" y="0"/>
                </a:moveTo>
                <a:lnTo>
                  <a:pt x="3152773" y="0"/>
                </a:lnTo>
                <a:cubicBezTo>
                  <a:pt x="3194858" y="0"/>
                  <a:pt x="3228975" y="34117"/>
                  <a:pt x="3228975" y="76202"/>
                </a:cubicBezTo>
                <a:lnTo>
                  <a:pt x="3228975" y="990598"/>
                </a:lnTo>
                <a:cubicBezTo>
                  <a:pt x="3228975" y="1032683"/>
                  <a:pt x="3194858" y="1066800"/>
                  <a:pt x="3152773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8" name="Text 56"/>
          <p:cNvSpPr/>
          <p:nvPr/>
        </p:nvSpPr>
        <p:spPr>
          <a:xfrm>
            <a:off x="8508921" y="3943350"/>
            <a:ext cx="3000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 err="1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Xalqaro</a:t>
            </a:r>
            <a:r>
              <a:rPr lang="en-US" sz="1200" b="1" dirty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200" b="1" dirty="0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</a:t>
            </a:r>
            <a:r>
              <a:rPr lang="en-US" sz="1200" b="1" dirty="0" err="1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anilish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536305" y="42862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0" y="66675"/>
                </a:moveTo>
                <a:cubicBezTo>
                  <a:pt x="0" y="62065"/>
                  <a:pt x="3724" y="58341"/>
                  <a:pt x="8334" y="58341"/>
                </a:cubicBezTo>
                <a:lnTo>
                  <a:pt x="108347" y="58341"/>
                </a:lnTo>
                <a:cubicBezTo>
                  <a:pt x="112957" y="58341"/>
                  <a:pt x="116681" y="62065"/>
                  <a:pt x="116681" y="66675"/>
                </a:cubicBezTo>
                <a:cubicBezTo>
                  <a:pt x="116681" y="71285"/>
                  <a:pt x="112957" y="75009"/>
                  <a:pt x="108347" y="75009"/>
                </a:cubicBezTo>
                <a:lnTo>
                  <a:pt x="8334" y="75009"/>
                </a:lnTo>
                <a:cubicBezTo>
                  <a:pt x="3724" y="75009"/>
                  <a:pt x="0" y="71285"/>
                  <a:pt x="0" y="66675"/>
                </a:cubicBezTo>
                <a:close/>
              </a:path>
            </a:pathLst>
          </a:custGeom>
          <a:solidFill>
            <a:srgbClr val="99A1AF"/>
          </a:solidFill>
          <a:ln/>
        </p:spPr>
      </p:sp>
      <p:sp>
        <p:nvSpPr>
          <p:cNvPr id="60" name="Text 58"/>
          <p:cNvSpPr/>
          <p:nvPr/>
        </p:nvSpPr>
        <p:spPr>
          <a:xfrm>
            <a:off x="8751808" y="4248150"/>
            <a:ext cx="145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Cheklanglobal aloqalar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536305" y="45529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0" y="66675"/>
                </a:moveTo>
                <a:cubicBezTo>
                  <a:pt x="0" y="62065"/>
                  <a:pt x="3724" y="58341"/>
                  <a:pt x="8334" y="58341"/>
                </a:cubicBezTo>
                <a:lnTo>
                  <a:pt x="108347" y="58341"/>
                </a:lnTo>
                <a:cubicBezTo>
                  <a:pt x="112957" y="58341"/>
                  <a:pt x="116681" y="62065"/>
                  <a:pt x="116681" y="66675"/>
                </a:cubicBezTo>
                <a:cubicBezTo>
                  <a:pt x="116681" y="71285"/>
                  <a:pt x="112957" y="75009"/>
                  <a:pt x="108347" y="75009"/>
                </a:cubicBezTo>
                <a:lnTo>
                  <a:pt x="8334" y="75009"/>
                </a:lnTo>
                <a:cubicBezTo>
                  <a:pt x="3724" y="75009"/>
                  <a:pt x="0" y="71285"/>
                  <a:pt x="0" y="66675"/>
                </a:cubicBezTo>
                <a:close/>
              </a:path>
            </a:pathLst>
          </a:custGeom>
          <a:solidFill>
            <a:srgbClr val="99A1AF"/>
          </a:solidFill>
          <a:ln/>
        </p:spPr>
      </p:sp>
      <p:sp>
        <p:nvSpPr>
          <p:cNvPr id="62" name="Text 60"/>
          <p:cNvSpPr/>
          <p:nvPr/>
        </p:nvSpPr>
        <p:spPr>
          <a:xfrm>
            <a:off x="8751808" y="451485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Kam xalqaro loyihalar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375571" y="5638800"/>
            <a:ext cx="3209925" cy="609600"/>
          </a:xfrm>
          <a:custGeom>
            <a:avLst/>
            <a:gdLst/>
            <a:ahLst/>
            <a:cxnLst/>
            <a:rect l="l" t="t" r="r" b="b"/>
            <a:pathLst>
              <a:path w="3209925" h="609600">
                <a:moveTo>
                  <a:pt x="38100" y="0"/>
                </a:moveTo>
                <a:lnTo>
                  <a:pt x="3133725" y="0"/>
                </a:lnTo>
                <a:cubicBezTo>
                  <a:pt x="3175781" y="0"/>
                  <a:pt x="3209925" y="34144"/>
                  <a:pt x="3209925" y="76200"/>
                </a:cubicBezTo>
                <a:lnTo>
                  <a:pt x="3209925" y="533400"/>
                </a:lnTo>
                <a:cubicBezTo>
                  <a:pt x="3209925" y="575456"/>
                  <a:pt x="3175781" y="609600"/>
                  <a:pt x="31337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EFCE8"/>
          </a:solidFill>
          <a:ln/>
        </p:spPr>
      </p:sp>
      <p:sp>
        <p:nvSpPr>
          <p:cNvPr id="64" name="Shape 62"/>
          <p:cNvSpPr/>
          <p:nvPr/>
        </p:nvSpPr>
        <p:spPr>
          <a:xfrm>
            <a:off x="8375571" y="563880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65" name="Shape 63"/>
          <p:cNvSpPr/>
          <p:nvPr/>
        </p:nvSpPr>
        <p:spPr>
          <a:xfrm>
            <a:off x="8544639" y="579120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A65F00"/>
          </a:solidFill>
          <a:ln/>
        </p:spPr>
      </p:sp>
      <p:sp>
        <p:nvSpPr>
          <p:cNvPr id="66" name="Text 64"/>
          <p:cNvSpPr/>
          <p:nvPr/>
        </p:nvSpPr>
        <p:spPr>
          <a:xfrm>
            <a:off x="8737521" y="5753100"/>
            <a:ext cx="2800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A65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Raqamli transformatsiya zarurati oshib bormoqda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prismic.io/a90aa9eb6c1a07b11d02df9fdec8d8fbe2717306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A90A4">
                  <a:alpha val="90000"/>
                </a:srgbClr>
              </a:gs>
              <a:gs pos="50000">
                <a:srgbClr val="1A3A5C">
                  <a:alpha val="85000"/>
                </a:srgbClr>
              </a:gs>
              <a:gs pos="100000">
                <a:srgbClr val="1A3A5C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244941" y="1085850"/>
            <a:ext cx="1704975" cy="533400"/>
          </a:xfrm>
          <a:custGeom>
            <a:avLst/>
            <a:gdLst/>
            <a:ahLst/>
            <a:cxnLst/>
            <a:rect l="l" t="t" r="r" b="b"/>
            <a:pathLst>
              <a:path w="1704975" h="533400">
                <a:moveTo>
                  <a:pt x="266700" y="0"/>
                </a:moveTo>
                <a:lnTo>
                  <a:pt x="1438275" y="0"/>
                </a:lnTo>
                <a:cubicBezTo>
                  <a:pt x="1585471" y="0"/>
                  <a:pt x="1704975" y="119504"/>
                  <a:pt x="1704975" y="266700"/>
                </a:cubicBezTo>
                <a:lnTo>
                  <a:pt x="1704975" y="266700"/>
                </a:lnTo>
                <a:cubicBezTo>
                  <a:pt x="1704975" y="413896"/>
                  <a:pt x="1585471" y="533400"/>
                  <a:pt x="1438275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5" name="Text 2"/>
          <p:cNvSpPr/>
          <p:nvPr/>
        </p:nvSpPr>
        <p:spPr>
          <a:xfrm>
            <a:off x="5187791" y="1085850"/>
            <a:ext cx="1819275" cy="533400"/>
          </a:xfrm>
          <a:prstGeom prst="rect">
            <a:avLst/>
          </a:prstGeom>
          <a:noFill/>
          <a:ln/>
        </p:spPr>
        <p:txBody>
          <a:bodyPr wrap="square" lIns="304800" tIns="114300" rIns="304800" bIns="11430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BO'LIM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318397" y="1923931"/>
            <a:ext cx="355282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</a:t>
            </a:r>
            <a:r>
              <a:rPr lang="uz-Latn-UZ" sz="5400" b="1" dirty="0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</a:t>
            </a:r>
            <a:r>
              <a:rPr lang="en-US" sz="5400" b="1" dirty="0" err="1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echimi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3009784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8" name="Text 5"/>
          <p:cNvSpPr/>
          <p:nvPr/>
        </p:nvSpPr>
        <p:spPr>
          <a:xfrm>
            <a:off x="4378762" y="3371734"/>
            <a:ext cx="3438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 err="1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Uchta</a:t>
            </a:r>
            <a:r>
              <a:rPr lang="en-US" sz="2250" b="1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2250" b="1" dirty="0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</a:t>
            </a:r>
            <a:r>
              <a:rPr lang="en-US" sz="2250" b="1" dirty="0" err="1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sosiy</a:t>
            </a:r>
            <a:r>
              <a:rPr lang="en-US" sz="2250" b="1" dirty="0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2250" b="1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</a:t>
            </a:r>
            <a:r>
              <a:rPr lang="en-US" sz="2250" b="1" dirty="0" err="1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omponent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757732" y="4171834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000619" y="4457584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235744" y="0"/>
                </a:moveTo>
                <a:cubicBezTo>
                  <a:pt x="235744" y="-11854"/>
                  <a:pt x="226167" y="-21431"/>
                  <a:pt x="214313" y="-21431"/>
                </a:cubicBezTo>
                <a:cubicBezTo>
                  <a:pt x="202458" y="-21431"/>
                  <a:pt x="192881" y="-11854"/>
                  <a:pt x="192881" y="0"/>
                </a:cubicBezTo>
                <a:lnTo>
                  <a:pt x="192881" y="42863"/>
                </a:lnTo>
                <a:lnTo>
                  <a:pt x="128588" y="42863"/>
                </a:lnTo>
                <a:cubicBezTo>
                  <a:pt x="93092" y="42863"/>
                  <a:pt x="64294" y="71661"/>
                  <a:pt x="64294" y="107156"/>
                </a:cubicBezTo>
                <a:lnTo>
                  <a:pt x="64294" y="257175"/>
                </a:lnTo>
                <a:cubicBezTo>
                  <a:pt x="64294" y="292671"/>
                  <a:pt x="93092" y="321469"/>
                  <a:pt x="128588" y="321469"/>
                </a:cubicBezTo>
                <a:lnTo>
                  <a:pt x="300038" y="321469"/>
                </a:lnTo>
                <a:cubicBezTo>
                  <a:pt x="335533" y="321469"/>
                  <a:pt x="364331" y="292671"/>
                  <a:pt x="364331" y="257175"/>
                </a:cubicBezTo>
                <a:lnTo>
                  <a:pt x="364331" y="107156"/>
                </a:lnTo>
                <a:cubicBezTo>
                  <a:pt x="364331" y="71661"/>
                  <a:pt x="335533" y="42863"/>
                  <a:pt x="300038" y="42863"/>
                </a:cubicBezTo>
                <a:lnTo>
                  <a:pt x="235744" y="42863"/>
                </a:lnTo>
                <a:lnTo>
                  <a:pt x="235744" y="0"/>
                </a:lnTo>
                <a:close/>
                <a:moveTo>
                  <a:pt x="107156" y="246459"/>
                </a:moveTo>
                <a:cubicBezTo>
                  <a:pt x="107156" y="237552"/>
                  <a:pt x="114322" y="230386"/>
                  <a:pt x="123230" y="230386"/>
                </a:cubicBezTo>
                <a:lnTo>
                  <a:pt x="144661" y="230386"/>
                </a:lnTo>
                <a:cubicBezTo>
                  <a:pt x="153568" y="230386"/>
                  <a:pt x="160734" y="237552"/>
                  <a:pt x="160734" y="246459"/>
                </a:cubicBezTo>
                <a:cubicBezTo>
                  <a:pt x="160734" y="255367"/>
                  <a:pt x="153568" y="262533"/>
                  <a:pt x="144661" y="262533"/>
                </a:cubicBezTo>
                <a:lnTo>
                  <a:pt x="123230" y="262533"/>
                </a:lnTo>
                <a:cubicBezTo>
                  <a:pt x="114322" y="262533"/>
                  <a:pt x="107156" y="255367"/>
                  <a:pt x="107156" y="246459"/>
                </a:cubicBezTo>
                <a:close/>
                <a:moveTo>
                  <a:pt x="187523" y="246459"/>
                </a:moveTo>
                <a:cubicBezTo>
                  <a:pt x="187523" y="237552"/>
                  <a:pt x="194690" y="230386"/>
                  <a:pt x="203597" y="230386"/>
                </a:cubicBezTo>
                <a:lnTo>
                  <a:pt x="225028" y="230386"/>
                </a:lnTo>
                <a:cubicBezTo>
                  <a:pt x="233935" y="230386"/>
                  <a:pt x="241102" y="237552"/>
                  <a:pt x="241102" y="246459"/>
                </a:cubicBezTo>
                <a:cubicBezTo>
                  <a:pt x="241102" y="255367"/>
                  <a:pt x="233935" y="262533"/>
                  <a:pt x="225028" y="262533"/>
                </a:cubicBezTo>
                <a:lnTo>
                  <a:pt x="203597" y="262533"/>
                </a:lnTo>
                <a:cubicBezTo>
                  <a:pt x="194690" y="262533"/>
                  <a:pt x="187523" y="255367"/>
                  <a:pt x="187523" y="246459"/>
                </a:cubicBezTo>
                <a:close/>
                <a:moveTo>
                  <a:pt x="267891" y="246459"/>
                </a:moveTo>
                <a:cubicBezTo>
                  <a:pt x="267891" y="237552"/>
                  <a:pt x="275057" y="230386"/>
                  <a:pt x="283964" y="230386"/>
                </a:cubicBezTo>
                <a:lnTo>
                  <a:pt x="305395" y="230386"/>
                </a:lnTo>
                <a:cubicBezTo>
                  <a:pt x="314303" y="230386"/>
                  <a:pt x="321469" y="237552"/>
                  <a:pt x="321469" y="246459"/>
                </a:cubicBezTo>
                <a:cubicBezTo>
                  <a:pt x="321469" y="255367"/>
                  <a:pt x="314303" y="262533"/>
                  <a:pt x="305395" y="262533"/>
                </a:cubicBezTo>
                <a:lnTo>
                  <a:pt x="283964" y="262533"/>
                </a:lnTo>
                <a:cubicBezTo>
                  <a:pt x="275057" y="262533"/>
                  <a:pt x="267891" y="255367"/>
                  <a:pt x="267891" y="246459"/>
                </a:cubicBezTo>
                <a:close/>
                <a:moveTo>
                  <a:pt x="150019" y="117872"/>
                </a:moveTo>
                <a:cubicBezTo>
                  <a:pt x="167761" y="117872"/>
                  <a:pt x="182166" y="132276"/>
                  <a:pt x="182166" y="150019"/>
                </a:cubicBezTo>
                <a:cubicBezTo>
                  <a:pt x="182166" y="167761"/>
                  <a:pt x="167761" y="182166"/>
                  <a:pt x="150019" y="182166"/>
                </a:cubicBezTo>
                <a:cubicBezTo>
                  <a:pt x="132276" y="182166"/>
                  <a:pt x="117872" y="167761"/>
                  <a:pt x="117872" y="150019"/>
                </a:cubicBezTo>
                <a:cubicBezTo>
                  <a:pt x="117872" y="132276"/>
                  <a:pt x="132276" y="117872"/>
                  <a:pt x="150019" y="117872"/>
                </a:cubicBezTo>
                <a:close/>
                <a:moveTo>
                  <a:pt x="246459" y="150019"/>
                </a:moveTo>
                <a:cubicBezTo>
                  <a:pt x="246459" y="132276"/>
                  <a:pt x="260864" y="117872"/>
                  <a:pt x="278606" y="117872"/>
                </a:cubicBezTo>
                <a:cubicBezTo>
                  <a:pt x="296349" y="117872"/>
                  <a:pt x="310753" y="132276"/>
                  <a:pt x="310753" y="150019"/>
                </a:cubicBezTo>
                <a:cubicBezTo>
                  <a:pt x="310753" y="167761"/>
                  <a:pt x="296349" y="182166"/>
                  <a:pt x="278606" y="182166"/>
                </a:cubicBezTo>
                <a:cubicBezTo>
                  <a:pt x="260864" y="182166"/>
                  <a:pt x="246459" y="167761"/>
                  <a:pt x="246459" y="150019"/>
                </a:cubicBezTo>
                <a:close/>
                <a:moveTo>
                  <a:pt x="42863" y="150019"/>
                </a:moveTo>
                <a:cubicBezTo>
                  <a:pt x="42863" y="138165"/>
                  <a:pt x="33285" y="128588"/>
                  <a:pt x="21431" y="128588"/>
                </a:cubicBezTo>
                <a:cubicBezTo>
                  <a:pt x="9577" y="128588"/>
                  <a:pt x="0" y="138165"/>
                  <a:pt x="0" y="150019"/>
                </a:cubicBezTo>
                <a:lnTo>
                  <a:pt x="0" y="214313"/>
                </a:lnTo>
                <a:cubicBezTo>
                  <a:pt x="0" y="226167"/>
                  <a:pt x="9577" y="235744"/>
                  <a:pt x="21431" y="235744"/>
                </a:cubicBezTo>
                <a:cubicBezTo>
                  <a:pt x="33285" y="235744"/>
                  <a:pt x="42863" y="226167"/>
                  <a:pt x="42863" y="214313"/>
                </a:cubicBezTo>
                <a:lnTo>
                  <a:pt x="42863" y="150019"/>
                </a:lnTo>
                <a:close/>
                <a:moveTo>
                  <a:pt x="407194" y="128588"/>
                </a:moveTo>
                <a:cubicBezTo>
                  <a:pt x="395340" y="128588"/>
                  <a:pt x="385763" y="138165"/>
                  <a:pt x="385763" y="150019"/>
                </a:cubicBezTo>
                <a:lnTo>
                  <a:pt x="385763" y="214313"/>
                </a:lnTo>
                <a:cubicBezTo>
                  <a:pt x="385763" y="226167"/>
                  <a:pt x="395340" y="235744"/>
                  <a:pt x="407194" y="235744"/>
                </a:cubicBezTo>
                <a:cubicBezTo>
                  <a:pt x="419048" y="235744"/>
                  <a:pt x="428625" y="226167"/>
                  <a:pt x="428625" y="214313"/>
                </a:cubicBezTo>
                <a:lnTo>
                  <a:pt x="428625" y="150019"/>
                </a:lnTo>
                <a:cubicBezTo>
                  <a:pt x="428625" y="138165"/>
                  <a:pt x="419048" y="128588"/>
                  <a:pt x="407194" y="128588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1" name="Text 8"/>
          <p:cNvSpPr/>
          <p:nvPr/>
        </p:nvSpPr>
        <p:spPr>
          <a:xfrm>
            <a:off x="3595330" y="5238634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Grant Hunter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604855" y="5543434"/>
            <a:ext cx="121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24/7 Monitoring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514618" y="4171834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843231" y="4457584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0" y="42863"/>
                </a:moveTo>
                <a:cubicBezTo>
                  <a:pt x="0" y="19221"/>
                  <a:pt x="19221" y="0"/>
                  <a:pt x="42863" y="0"/>
                </a:cubicBezTo>
                <a:lnTo>
                  <a:pt x="142987" y="0"/>
                </a:lnTo>
                <a:cubicBezTo>
                  <a:pt x="154372" y="0"/>
                  <a:pt x="165289" y="4487"/>
                  <a:pt x="173325" y="12524"/>
                </a:cubicBezTo>
                <a:lnTo>
                  <a:pt x="244651" y="83917"/>
                </a:lnTo>
                <a:cubicBezTo>
                  <a:pt x="252688" y="91953"/>
                  <a:pt x="257175" y="102870"/>
                  <a:pt x="257175" y="114255"/>
                </a:cubicBezTo>
                <a:lnTo>
                  <a:pt x="257175" y="300038"/>
                </a:lnTo>
                <a:cubicBezTo>
                  <a:pt x="257175" y="323679"/>
                  <a:pt x="237954" y="342900"/>
                  <a:pt x="214313" y="342900"/>
                </a:cubicBezTo>
                <a:lnTo>
                  <a:pt x="42863" y="342900"/>
                </a:lnTo>
                <a:cubicBezTo>
                  <a:pt x="19221" y="342900"/>
                  <a:pt x="0" y="323679"/>
                  <a:pt x="0" y="300038"/>
                </a:cubicBezTo>
                <a:lnTo>
                  <a:pt x="0" y="42863"/>
                </a:lnTo>
                <a:close/>
                <a:moveTo>
                  <a:pt x="139303" y="39179"/>
                </a:moveTo>
                <a:lnTo>
                  <a:pt x="139303" y="101798"/>
                </a:lnTo>
                <a:cubicBezTo>
                  <a:pt x="139303" y="110706"/>
                  <a:pt x="146469" y="117872"/>
                  <a:pt x="155377" y="117872"/>
                </a:cubicBezTo>
                <a:lnTo>
                  <a:pt x="217996" y="117872"/>
                </a:lnTo>
                <a:lnTo>
                  <a:pt x="139303" y="39179"/>
                </a:lnTo>
                <a:close/>
                <a:moveTo>
                  <a:pt x="80367" y="171450"/>
                </a:moveTo>
                <a:cubicBezTo>
                  <a:pt x="71460" y="171450"/>
                  <a:pt x="64294" y="178616"/>
                  <a:pt x="64294" y="187523"/>
                </a:cubicBezTo>
                <a:cubicBezTo>
                  <a:pt x="64294" y="196431"/>
                  <a:pt x="71460" y="203597"/>
                  <a:pt x="80367" y="203597"/>
                </a:cubicBezTo>
                <a:lnTo>
                  <a:pt x="176808" y="203597"/>
                </a:lnTo>
                <a:cubicBezTo>
                  <a:pt x="185715" y="203597"/>
                  <a:pt x="192881" y="196431"/>
                  <a:pt x="192881" y="187523"/>
                </a:cubicBezTo>
                <a:cubicBezTo>
                  <a:pt x="192881" y="178616"/>
                  <a:pt x="185715" y="171450"/>
                  <a:pt x="176808" y="171450"/>
                </a:cubicBezTo>
                <a:lnTo>
                  <a:pt x="80367" y="171450"/>
                </a:lnTo>
                <a:close/>
                <a:moveTo>
                  <a:pt x="80367" y="235744"/>
                </a:moveTo>
                <a:cubicBezTo>
                  <a:pt x="71460" y="235744"/>
                  <a:pt x="64294" y="242910"/>
                  <a:pt x="64294" y="251817"/>
                </a:cubicBezTo>
                <a:cubicBezTo>
                  <a:pt x="64294" y="260725"/>
                  <a:pt x="71460" y="267891"/>
                  <a:pt x="80367" y="267891"/>
                </a:cubicBezTo>
                <a:lnTo>
                  <a:pt x="176808" y="267891"/>
                </a:lnTo>
                <a:cubicBezTo>
                  <a:pt x="185715" y="267891"/>
                  <a:pt x="192881" y="260725"/>
                  <a:pt x="192881" y="251817"/>
                </a:cubicBezTo>
                <a:cubicBezTo>
                  <a:pt x="192881" y="242910"/>
                  <a:pt x="185715" y="235744"/>
                  <a:pt x="176808" y="235744"/>
                </a:cubicBezTo>
                <a:lnTo>
                  <a:pt x="80367" y="235744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283" y="5238634"/>
            <a:ext cx="1704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Proposal Architect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129808" y="5543434"/>
            <a:ext cx="1685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50+ Til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395567" y="4171834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7681317" y="4457584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0"/>
                </a:moveTo>
                <a:cubicBezTo>
                  <a:pt x="174531" y="0"/>
                  <a:pt x="177611" y="670"/>
                  <a:pt x="180424" y="1942"/>
                </a:cubicBezTo>
                <a:lnTo>
                  <a:pt x="306601" y="55453"/>
                </a:lnTo>
                <a:cubicBezTo>
                  <a:pt x="321335" y="61682"/>
                  <a:pt x="332318" y="76215"/>
                  <a:pt x="332251" y="93762"/>
                </a:cubicBezTo>
                <a:cubicBezTo>
                  <a:pt x="331916" y="160199"/>
                  <a:pt x="304592" y="281754"/>
                  <a:pt x="189198" y="337006"/>
                </a:cubicBezTo>
                <a:cubicBezTo>
                  <a:pt x="178013" y="342364"/>
                  <a:pt x="165021" y="342364"/>
                  <a:pt x="153836" y="337006"/>
                </a:cubicBezTo>
                <a:cubicBezTo>
                  <a:pt x="38375" y="281754"/>
                  <a:pt x="11117" y="160199"/>
                  <a:pt x="10783" y="93762"/>
                </a:cubicBezTo>
                <a:cubicBezTo>
                  <a:pt x="10716" y="76215"/>
                  <a:pt x="21699" y="61682"/>
                  <a:pt x="36433" y="55453"/>
                </a:cubicBezTo>
                <a:lnTo>
                  <a:pt x="162543" y="1942"/>
                </a:lnTo>
                <a:cubicBezTo>
                  <a:pt x="165355" y="670"/>
                  <a:pt x="168369" y="0"/>
                  <a:pt x="171450" y="0"/>
                </a:cubicBezTo>
                <a:close/>
                <a:moveTo>
                  <a:pt x="171450" y="44738"/>
                </a:moveTo>
                <a:lnTo>
                  <a:pt x="171450" y="297961"/>
                </a:lnTo>
                <a:cubicBezTo>
                  <a:pt x="263872" y="253224"/>
                  <a:pt x="288719" y="154104"/>
                  <a:pt x="289322" y="94766"/>
                </a:cubicBezTo>
                <a:lnTo>
                  <a:pt x="171450" y="44805"/>
                </a:lnTo>
                <a:lnTo>
                  <a:pt x="171450" y="44805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9" name="Text 16"/>
          <p:cNvSpPr/>
          <p:nvPr/>
        </p:nvSpPr>
        <p:spPr>
          <a:xfrm>
            <a:off x="7109103" y="5238634"/>
            <a:ext cx="148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Compliance Bot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118628" y="5543434"/>
            <a:ext cx="146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 err="1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Avtomatik</a:t>
            </a: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200" dirty="0" smtClean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r>
              <a:rPr lang="en-US" sz="1200" dirty="0" err="1" smtClean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azorat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4A90A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AGENT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Grant Hunter: 24/7 Grant </a:t>
            </a:r>
            <a:r>
              <a:rPr lang="uz-Latn-UZ" sz="270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</a:t>
            </a:r>
            <a:r>
              <a:rPr lang="en-US" sz="2700" b="1" dirty="0" err="1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onitoring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57150"/>
          </a:xfrm>
          <a:custGeom>
            <a:avLst/>
            <a:gdLst/>
            <a:ahLst/>
            <a:cxnLst/>
            <a:rect l="l" t="t" r="r" b="b"/>
            <a:pathLst>
              <a:path w="762000" h="57150">
                <a:moveTo>
                  <a:pt x="0" y="0"/>
                </a:moveTo>
                <a:lnTo>
                  <a:pt x="762000" y="0"/>
                </a:lnTo>
                <a:lnTo>
                  <a:pt x="762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28750"/>
            <a:ext cx="6429375" cy="1619250"/>
          </a:xfrm>
          <a:custGeom>
            <a:avLst/>
            <a:gdLst/>
            <a:ahLst/>
            <a:cxnLst/>
            <a:rect l="l" t="t" r="r" b="b"/>
            <a:pathLst>
              <a:path w="6429375" h="1619250">
                <a:moveTo>
                  <a:pt x="38100" y="0"/>
                </a:moveTo>
                <a:lnTo>
                  <a:pt x="6315072" y="0"/>
                </a:lnTo>
                <a:cubicBezTo>
                  <a:pt x="6378158" y="0"/>
                  <a:pt x="6429375" y="51217"/>
                  <a:pt x="6429375" y="114303"/>
                </a:cubicBezTo>
                <a:lnTo>
                  <a:pt x="6429375" y="1504947"/>
                </a:lnTo>
                <a:cubicBezTo>
                  <a:pt x="6429375" y="1568033"/>
                  <a:pt x="6378158" y="1619250"/>
                  <a:pt x="6315072" y="1619250"/>
                </a:cubicBezTo>
                <a:lnTo>
                  <a:pt x="38100" y="1619250"/>
                </a:lnTo>
                <a:cubicBezTo>
                  <a:pt x="17072" y="1619250"/>
                  <a:pt x="0" y="1602178"/>
                  <a:pt x="0" y="1581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428750"/>
            <a:ext cx="38100" cy="1619250"/>
          </a:xfrm>
          <a:custGeom>
            <a:avLst/>
            <a:gdLst/>
            <a:ahLst/>
            <a:cxnLst/>
            <a:rect l="l" t="t" r="r" b="b"/>
            <a:pathLst>
              <a:path w="38100" h="1619250">
                <a:moveTo>
                  <a:pt x="38100" y="0"/>
                </a:moveTo>
                <a:lnTo>
                  <a:pt x="38100" y="0"/>
                </a:lnTo>
                <a:lnTo>
                  <a:pt x="38100" y="1619250"/>
                </a:lnTo>
                <a:lnTo>
                  <a:pt x="38100" y="1619250"/>
                </a:lnTo>
                <a:cubicBezTo>
                  <a:pt x="17072" y="1619250"/>
                  <a:pt x="0" y="1602178"/>
                  <a:pt x="0" y="1581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6573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8" name="Shape 6"/>
          <p:cNvSpPr/>
          <p:nvPr/>
        </p:nvSpPr>
        <p:spPr>
          <a:xfrm>
            <a:off x="838200" y="1847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4869" y="89163"/>
                </a:moveTo>
                <a:lnTo>
                  <a:pt x="38666" y="102959"/>
                </a:lnTo>
                <a:cubicBezTo>
                  <a:pt x="41344" y="105638"/>
                  <a:pt x="44961" y="107156"/>
                  <a:pt x="48756" y="107156"/>
                </a:cubicBezTo>
                <a:lnTo>
                  <a:pt x="58356" y="107156"/>
                </a:lnTo>
                <a:cubicBezTo>
                  <a:pt x="62151" y="107156"/>
                  <a:pt x="65767" y="108674"/>
                  <a:pt x="68446" y="111353"/>
                </a:cubicBezTo>
                <a:lnTo>
                  <a:pt x="81528" y="124435"/>
                </a:lnTo>
                <a:cubicBezTo>
                  <a:pt x="84207" y="127114"/>
                  <a:pt x="85725" y="130731"/>
                  <a:pt x="85725" y="134526"/>
                </a:cubicBezTo>
                <a:lnTo>
                  <a:pt x="85725" y="151269"/>
                </a:lnTo>
                <a:cubicBezTo>
                  <a:pt x="85725" y="155064"/>
                  <a:pt x="87243" y="158681"/>
                  <a:pt x="89922" y="161359"/>
                </a:cubicBezTo>
                <a:lnTo>
                  <a:pt x="95860" y="167298"/>
                </a:lnTo>
                <a:cubicBezTo>
                  <a:pt x="98539" y="169977"/>
                  <a:pt x="100057" y="173593"/>
                  <a:pt x="100057" y="177388"/>
                </a:cubicBezTo>
                <a:lnTo>
                  <a:pt x="100057" y="185738"/>
                </a:lnTo>
                <a:cubicBezTo>
                  <a:pt x="100057" y="193640"/>
                  <a:pt x="106442" y="200025"/>
                  <a:pt x="114345" y="200025"/>
                </a:cubicBezTo>
                <a:cubicBezTo>
                  <a:pt x="122247" y="200025"/>
                  <a:pt x="128632" y="193640"/>
                  <a:pt x="128632" y="185738"/>
                </a:cubicBezTo>
                <a:lnTo>
                  <a:pt x="128632" y="184532"/>
                </a:lnTo>
                <a:cubicBezTo>
                  <a:pt x="128632" y="180737"/>
                  <a:pt x="130150" y="177120"/>
                  <a:pt x="132829" y="174441"/>
                </a:cubicBezTo>
                <a:lnTo>
                  <a:pt x="153055" y="154216"/>
                </a:lnTo>
                <a:cubicBezTo>
                  <a:pt x="155734" y="151537"/>
                  <a:pt x="157252" y="147920"/>
                  <a:pt x="157252" y="144125"/>
                </a:cubicBezTo>
                <a:lnTo>
                  <a:pt x="157252" y="128632"/>
                </a:lnTo>
                <a:cubicBezTo>
                  <a:pt x="157252" y="120729"/>
                  <a:pt x="150867" y="114345"/>
                  <a:pt x="142964" y="114345"/>
                </a:cubicBezTo>
                <a:lnTo>
                  <a:pt x="106040" y="114345"/>
                </a:lnTo>
                <a:cubicBezTo>
                  <a:pt x="102245" y="114345"/>
                  <a:pt x="98628" y="112827"/>
                  <a:pt x="95949" y="110148"/>
                </a:cubicBezTo>
                <a:lnTo>
                  <a:pt x="88806" y="103004"/>
                </a:lnTo>
                <a:cubicBezTo>
                  <a:pt x="86931" y="101129"/>
                  <a:pt x="85859" y="98539"/>
                  <a:pt x="85859" y="95860"/>
                </a:cubicBezTo>
                <a:cubicBezTo>
                  <a:pt x="85859" y="90279"/>
                  <a:pt x="90368" y="85770"/>
                  <a:pt x="95949" y="85770"/>
                </a:cubicBezTo>
                <a:lnTo>
                  <a:pt x="111443" y="85770"/>
                </a:lnTo>
                <a:cubicBezTo>
                  <a:pt x="117024" y="85770"/>
                  <a:pt x="121533" y="81260"/>
                  <a:pt x="121533" y="75679"/>
                </a:cubicBezTo>
                <a:cubicBezTo>
                  <a:pt x="121533" y="73000"/>
                  <a:pt x="120461" y="70411"/>
                  <a:pt x="118586" y="68535"/>
                </a:cubicBezTo>
                <a:lnTo>
                  <a:pt x="109791" y="59740"/>
                </a:lnTo>
                <a:cubicBezTo>
                  <a:pt x="108049" y="58043"/>
                  <a:pt x="107156" y="55855"/>
                  <a:pt x="107156" y="53578"/>
                </a:cubicBezTo>
                <a:cubicBezTo>
                  <a:pt x="107156" y="51301"/>
                  <a:pt x="108049" y="49113"/>
                  <a:pt x="109701" y="47461"/>
                </a:cubicBezTo>
                <a:lnTo>
                  <a:pt x="117425" y="39737"/>
                </a:lnTo>
                <a:cubicBezTo>
                  <a:pt x="120015" y="37148"/>
                  <a:pt x="121488" y="33620"/>
                  <a:pt x="121488" y="29959"/>
                </a:cubicBezTo>
                <a:cubicBezTo>
                  <a:pt x="121488" y="26744"/>
                  <a:pt x="120417" y="23842"/>
                  <a:pt x="118631" y="21521"/>
                </a:cubicBezTo>
                <a:cubicBezTo>
                  <a:pt x="117202" y="21476"/>
                  <a:pt x="115773" y="21431"/>
                  <a:pt x="114345" y="21431"/>
                </a:cubicBezTo>
                <a:cubicBezTo>
                  <a:pt x="71750" y="21431"/>
                  <a:pt x="35897" y="50096"/>
                  <a:pt x="24914" y="89163"/>
                </a:cubicBezTo>
                <a:close/>
                <a:moveTo>
                  <a:pt x="207169" y="114300"/>
                </a:moveTo>
                <a:cubicBezTo>
                  <a:pt x="207169" y="98852"/>
                  <a:pt x="203418" y="84296"/>
                  <a:pt x="196721" y="71527"/>
                </a:cubicBezTo>
                <a:cubicBezTo>
                  <a:pt x="193864" y="71929"/>
                  <a:pt x="191051" y="73268"/>
                  <a:pt x="188729" y="75590"/>
                </a:cubicBezTo>
                <a:lnTo>
                  <a:pt x="182746" y="81573"/>
                </a:lnTo>
                <a:cubicBezTo>
                  <a:pt x="180067" y="84252"/>
                  <a:pt x="178549" y="87868"/>
                  <a:pt x="178549" y="91663"/>
                </a:cubicBezTo>
                <a:lnTo>
                  <a:pt x="178549" y="107156"/>
                </a:lnTo>
                <a:cubicBezTo>
                  <a:pt x="178549" y="115059"/>
                  <a:pt x="184934" y="121444"/>
                  <a:pt x="192837" y="121444"/>
                </a:cubicBezTo>
                <a:lnTo>
                  <a:pt x="203597" y="121444"/>
                </a:lnTo>
                <a:cubicBezTo>
                  <a:pt x="204713" y="121444"/>
                  <a:pt x="205829" y="121310"/>
                  <a:pt x="206856" y="121087"/>
                </a:cubicBezTo>
                <a:cubicBezTo>
                  <a:pt x="207035" y="118854"/>
                  <a:pt x="207079" y="116577"/>
                  <a:pt x="207079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409700" y="1657350"/>
            <a:ext cx="5305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 err="1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Dunyo</a:t>
            </a:r>
            <a:r>
              <a:rPr lang="en-US" sz="18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uz-Latn-UZ" sz="180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r>
              <a:rPr lang="en-US" sz="1800" b="1" dirty="0" err="1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o'ylab</a:t>
            </a:r>
            <a:r>
              <a:rPr lang="en-US" sz="180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uz-Latn-UZ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</a:t>
            </a:r>
            <a:r>
              <a:rPr lang="en-US" sz="1800" b="1" dirty="0" err="1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onitoring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09700" y="2076334"/>
            <a:ext cx="52673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Grant Hunter AI agenti </a:t>
            </a:r>
            <a:r>
              <a:rPr lang="en-US" sz="1200" b="1" dirty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dunyo bo'ylab 24/7 rejimida</a:t>
            </a: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grantlar monitoringini amalga oshiradi. Tizim avtomatik ravishda yangi grant e'lonlarini kuzatib boradi va filarmoniya faoliyatiga mos keladigan imkoniyatlarni aniqlaydi.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1000" y="3238384"/>
            <a:ext cx="3124200" cy="2190750"/>
          </a:xfrm>
          <a:custGeom>
            <a:avLst/>
            <a:gdLst/>
            <a:ahLst/>
            <a:cxnLst/>
            <a:rect l="l" t="t" r="r" b="b"/>
            <a:pathLst>
              <a:path w="3124200" h="2190750">
                <a:moveTo>
                  <a:pt x="114291" y="0"/>
                </a:moveTo>
                <a:lnTo>
                  <a:pt x="3009909" y="0"/>
                </a:lnTo>
                <a:cubicBezTo>
                  <a:pt x="3073030" y="0"/>
                  <a:pt x="3124200" y="51170"/>
                  <a:pt x="3124200" y="114291"/>
                </a:cubicBezTo>
                <a:lnTo>
                  <a:pt x="3124200" y="2076459"/>
                </a:lnTo>
                <a:cubicBezTo>
                  <a:pt x="3124200" y="2139580"/>
                  <a:pt x="3073030" y="2190750"/>
                  <a:pt x="3009909" y="2190750"/>
                </a:cubicBezTo>
                <a:lnTo>
                  <a:pt x="114291" y="2190750"/>
                </a:lnTo>
                <a:cubicBezTo>
                  <a:pt x="51170" y="2190750"/>
                  <a:pt x="0" y="2139580"/>
                  <a:pt x="0" y="207645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1500" y="342888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90A4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16756" y="356223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524134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 err="1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Tezkor</a:t>
            </a:r>
            <a:r>
              <a:rPr lang="en-US" sz="135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uz-Latn-UZ" sz="135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</a:t>
            </a:r>
            <a:r>
              <a:rPr lang="en-US" sz="1350" b="1" dirty="0" err="1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abar</a:t>
            </a:r>
            <a:r>
              <a:rPr lang="en-US" sz="135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uz-Latn-UZ" sz="135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r>
              <a:rPr lang="en-US" sz="1350" b="1" dirty="0" err="1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erish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" y="4000384"/>
            <a:ext cx="28194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Mos keladigan grant topilishi bilan </a:t>
            </a:r>
            <a:r>
              <a:rPr lang="en-US" sz="1200" b="1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darhol xodimlarga xabar</a:t>
            </a: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yuboriladi. Bu jarayon qo'lda bajarilganda oylab ketadigan ishni bir necha daqiqada amalga oshiradi.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99510" y="3238384"/>
            <a:ext cx="3124200" cy="2190750"/>
          </a:xfrm>
          <a:custGeom>
            <a:avLst/>
            <a:gdLst/>
            <a:ahLst/>
            <a:cxnLst/>
            <a:rect l="l" t="t" r="r" b="b"/>
            <a:pathLst>
              <a:path w="3124200" h="2190750">
                <a:moveTo>
                  <a:pt x="114291" y="0"/>
                </a:moveTo>
                <a:lnTo>
                  <a:pt x="3009909" y="0"/>
                </a:lnTo>
                <a:cubicBezTo>
                  <a:pt x="3073030" y="0"/>
                  <a:pt x="3124200" y="51170"/>
                  <a:pt x="3124200" y="114291"/>
                </a:cubicBezTo>
                <a:lnTo>
                  <a:pt x="3124200" y="2076459"/>
                </a:lnTo>
                <a:cubicBezTo>
                  <a:pt x="3124200" y="2139580"/>
                  <a:pt x="3073030" y="2190750"/>
                  <a:pt x="3009909" y="2190750"/>
                </a:cubicBezTo>
                <a:lnTo>
                  <a:pt x="114291" y="2190750"/>
                </a:lnTo>
                <a:cubicBezTo>
                  <a:pt x="51170" y="2190750"/>
                  <a:pt x="0" y="2139580"/>
                  <a:pt x="0" y="207645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90010" y="342888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574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23360" y="356223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23812"/>
                </a:moveTo>
                <a:cubicBezTo>
                  <a:pt x="7107" y="23812"/>
                  <a:pt x="2753" y="26715"/>
                  <a:pt x="893" y="31179"/>
                </a:cubicBezTo>
                <a:cubicBezTo>
                  <a:pt x="-967" y="35644"/>
                  <a:pt x="74" y="40742"/>
                  <a:pt x="3497" y="44128"/>
                </a:cubicBezTo>
                <a:lnTo>
                  <a:pt x="71438" y="112105"/>
                </a:lnTo>
                <a:lnTo>
                  <a:pt x="71438" y="154781"/>
                </a:lnTo>
                <a:cubicBezTo>
                  <a:pt x="71438" y="157944"/>
                  <a:pt x="72703" y="160958"/>
                  <a:pt x="74935" y="163190"/>
                </a:cubicBezTo>
                <a:lnTo>
                  <a:pt x="98747" y="187003"/>
                </a:lnTo>
                <a:cubicBezTo>
                  <a:pt x="102171" y="190426"/>
                  <a:pt x="107268" y="191430"/>
                  <a:pt x="111733" y="189570"/>
                </a:cubicBezTo>
                <a:cubicBezTo>
                  <a:pt x="116198" y="187709"/>
                  <a:pt x="119063" y="183393"/>
                  <a:pt x="119063" y="178594"/>
                </a:cubicBezTo>
                <a:lnTo>
                  <a:pt x="119063" y="112105"/>
                </a:lnTo>
                <a:lnTo>
                  <a:pt x="187003" y="44165"/>
                </a:lnTo>
                <a:cubicBezTo>
                  <a:pt x="190426" y="40742"/>
                  <a:pt x="191430" y="35644"/>
                  <a:pt x="189570" y="31179"/>
                </a:cubicBezTo>
                <a:cubicBezTo>
                  <a:pt x="187709" y="26715"/>
                  <a:pt x="183393" y="23812"/>
                  <a:pt x="178594" y="23812"/>
                </a:cubicBezTo>
                <a:lnTo>
                  <a:pt x="11906" y="23812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9" name="Text 17"/>
          <p:cNvSpPr/>
          <p:nvPr/>
        </p:nvSpPr>
        <p:spPr>
          <a:xfrm>
            <a:off x="4461510" y="3524134"/>
            <a:ext cx="105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 err="1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Aqlli</a:t>
            </a:r>
            <a:r>
              <a:rPr lang="en-US" sz="135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uz-Latn-UZ" sz="135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</a:t>
            </a:r>
            <a:r>
              <a:rPr lang="en-US" sz="1350" b="1" dirty="0" err="1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iltrlash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90010" y="4000384"/>
            <a:ext cx="28194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algoritmlari grantlarni </a:t>
            </a:r>
            <a:r>
              <a:rPr lang="en-US" sz="1200" b="1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filarmoniya maqsadlariga</a:t>
            </a: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mos kelishiga qarab avtomatik saralaydi. Faqat eng mos imkoniyatlar ko'rsatiladi.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" y="5619634"/>
            <a:ext cx="6448425" cy="990600"/>
          </a:xfrm>
          <a:custGeom>
            <a:avLst/>
            <a:gdLst/>
            <a:ahLst/>
            <a:cxnLst/>
            <a:rect l="l" t="t" r="r" b="b"/>
            <a:pathLst>
              <a:path w="6448425" h="990600">
                <a:moveTo>
                  <a:pt x="114295" y="0"/>
                </a:moveTo>
                <a:lnTo>
                  <a:pt x="6334130" y="0"/>
                </a:lnTo>
                <a:cubicBezTo>
                  <a:pt x="6397211" y="0"/>
                  <a:pt x="6448425" y="51214"/>
                  <a:pt x="6448425" y="114295"/>
                </a:cubicBezTo>
                <a:lnTo>
                  <a:pt x="6448425" y="876305"/>
                </a:lnTo>
                <a:cubicBezTo>
                  <a:pt x="6448425" y="939386"/>
                  <a:pt x="6397211" y="990600"/>
                  <a:pt x="6334130" y="990600"/>
                </a:cubicBezTo>
                <a:lnTo>
                  <a:pt x="114295" y="990600"/>
                </a:lnTo>
                <a:cubicBezTo>
                  <a:pt x="51214" y="990600"/>
                  <a:pt x="0" y="939386"/>
                  <a:pt x="0" y="8763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1A3A5C"/>
              </a:gs>
              <a:gs pos="100000">
                <a:srgbClr val="4A90A4"/>
              </a:gs>
            </a:gsLst>
            <a:lin ang="0" scaled="1"/>
          </a:gradFill>
          <a:ln/>
        </p:spPr>
      </p:sp>
      <p:sp>
        <p:nvSpPr>
          <p:cNvPr id="22" name="Shape 20"/>
          <p:cNvSpPr/>
          <p:nvPr/>
        </p:nvSpPr>
        <p:spPr>
          <a:xfrm>
            <a:off x="609600" y="597205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7859" y="17859"/>
                </a:moveTo>
                <a:cubicBezTo>
                  <a:pt x="27738" y="17859"/>
                  <a:pt x="35719" y="25840"/>
                  <a:pt x="35719" y="35719"/>
                </a:cubicBezTo>
                <a:lnTo>
                  <a:pt x="35719" y="223242"/>
                </a:lnTo>
                <a:cubicBezTo>
                  <a:pt x="35719" y="228154"/>
                  <a:pt x="39737" y="232172"/>
                  <a:pt x="44648" y="232172"/>
                </a:cubicBezTo>
                <a:lnTo>
                  <a:pt x="267891" y="232172"/>
                </a:lnTo>
                <a:cubicBezTo>
                  <a:pt x="277769" y="232172"/>
                  <a:pt x="285750" y="240153"/>
                  <a:pt x="285750" y="250031"/>
                </a:cubicBezTo>
                <a:cubicBezTo>
                  <a:pt x="285750" y="259910"/>
                  <a:pt x="277769" y="267891"/>
                  <a:pt x="267891" y="267891"/>
                </a:cubicBezTo>
                <a:lnTo>
                  <a:pt x="44648" y="267891"/>
                </a:lnTo>
                <a:cubicBezTo>
                  <a:pt x="19980" y="267891"/>
                  <a:pt x="0" y="247910"/>
                  <a:pt x="0" y="223242"/>
                </a:cubicBezTo>
                <a:lnTo>
                  <a:pt x="0" y="35719"/>
                </a:lnTo>
                <a:cubicBezTo>
                  <a:pt x="0" y="25840"/>
                  <a:pt x="7981" y="17859"/>
                  <a:pt x="17859" y="17859"/>
                </a:cubicBezTo>
                <a:close/>
                <a:moveTo>
                  <a:pt x="71438" y="53578"/>
                </a:moveTo>
                <a:cubicBezTo>
                  <a:pt x="71438" y="43700"/>
                  <a:pt x="79418" y="35719"/>
                  <a:pt x="89297" y="35719"/>
                </a:cubicBezTo>
                <a:lnTo>
                  <a:pt x="196453" y="35719"/>
                </a:lnTo>
                <a:cubicBezTo>
                  <a:pt x="206332" y="35719"/>
                  <a:pt x="214313" y="43700"/>
                  <a:pt x="214313" y="53578"/>
                </a:cubicBezTo>
                <a:cubicBezTo>
                  <a:pt x="214313" y="63457"/>
                  <a:pt x="206332" y="71438"/>
                  <a:pt x="196453" y="71438"/>
                </a:cubicBezTo>
                <a:lnTo>
                  <a:pt x="89297" y="71438"/>
                </a:lnTo>
                <a:cubicBezTo>
                  <a:pt x="79418" y="71438"/>
                  <a:pt x="71438" y="63457"/>
                  <a:pt x="71438" y="53578"/>
                </a:cubicBezTo>
                <a:close/>
                <a:moveTo>
                  <a:pt x="89297" y="98227"/>
                </a:moveTo>
                <a:lnTo>
                  <a:pt x="160734" y="98227"/>
                </a:lnTo>
                <a:cubicBezTo>
                  <a:pt x="170613" y="98227"/>
                  <a:pt x="178594" y="106207"/>
                  <a:pt x="178594" y="116086"/>
                </a:cubicBezTo>
                <a:cubicBezTo>
                  <a:pt x="178594" y="125964"/>
                  <a:pt x="170613" y="133945"/>
                  <a:pt x="160734" y="133945"/>
                </a:cubicBezTo>
                <a:lnTo>
                  <a:pt x="89297" y="133945"/>
                </a:lnTo>
                <a:cubicBezTo>
                  <a:pt x="79418" y="133945"/>
                  <a:pt x="71438" y="125964"/>
                  <a:pt x="71438" y="116086"/>
                </a:cubicBezTo>
                <a:cubicBezTo>
                  <a:pt x="71438" y="106207"/>
                  <a:pt x="79418" y="98227"/>
                  <a:pt x="89297" y="98227"/>
                </a:cubicBezTo>
                <a:close/>
                <a:moveTo>
                  <a:pt x="89297" y="160734"/>
                </a:moveTo>
                <a:lnTo>
                  <a:pt x="232172" y="160734"/>
                </a:lnTo>
                <a:cubicBezTo>
                  <a:pt x="242050" y="160734"/>
                  <a:pt x="250031" y="168715"/>
                  <a:pt x="250031" y="178594"/>
                </a:cubicBezTo>
                <a:cubicBezTo>
                  <a:pt x="250031" y="188472"/>
                  <a:pt x="242050" y="196453"/>
                  <a:pt x="232172" y="196453"/>
                </a:cubicBezTo>
                <a:lnTo>
                  <a:pt x="89297" y="196453"/>
                </a:lnTo>
                <a:cubicBezTo>
                  <a:pt x="79418" y="196453"/>
                  <a:pt x="71438" y="188472"/>
                  <a:pt x="71438" y="178594"/>
                </a:cubicBezTo>
                <a:cubicBezTo>
                  <a:pt x="71438" y="168715"/>
                  <a:pt x="79418" y="160734"/>
                  <a:pt x="89297" y="160734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23" name="Text 21"/>
          <p:cNvSpPr/>
          <p:nvPr/>
        </p:nvSpPr>
        <p:spPr>
          <a:xfrm>
            <a:off x="1081088" y="5867284"/>
            <a:ext cx="2638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Monitoring </a:t>
            </a:r>
            <a:r>
              <a:rPr lang="uz-Latn-UZ" sz="1350" b="1" dirty="0" smtClean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</a:t>
            </a:r>
            <a:r>
              <a:rPr lang="en-US" sz="1350" b="1" dirty="0" err="1" smtClean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amaradorligi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81088" y="6133984"/>
            <a:ext cx="2628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Har kuni 100+ yangi grant imkoniyati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2114" y="5810134"/>
            <a:ext cx="1152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D4A5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99.9%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77364" y="6191134"/>
            <a:ext cx="105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Aniqlik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056120" y="1428750"/>
            <a:ext cx="4752975" cy="5181600"/>
          </a:xfrm>
          <a:custGeom>
            <a:avLst/>
            <a:gdLst/>
            <a:ahLst/>
            <a:cxnLst/>
            <a:rect l="l" t="t" r="r" b="b"/>
            <a:pathLst>
              <a:path w="4752975" h="5181600">
                <a:moveTo>
                  <a:pt x="114309" y="0"/>
                </a:moveTo>
                <a:lnTo>
                  <a:pt x="4638666" y="0"/>
                </a:lnTo>
                <a:cubicBezTo>
                  <a:pt x="4701797" y="0"/>
                  <a:pt x="4752975" y="51178"/>
                  <a:pt x="4752975" y="114309"/>
                </a:cubicBezTo>
                <a:lnTo>
                  <a:pt x="4752975" y="5067291"/>
                </a:lnTo>
                <a:cubicBezTo>
                  <a:pt x="4752975" y="5130422"/>
                  <a:pt x="4701797" y="5181600"/>
                  <a:pt x="4638666" y="5181600"/>
                </a:cubicBezTo>
                <a:lnTo>
                  <a:pt x="114309" y="5181600"/>
                </a:lnTo>
                <a:cubicBezTo>
                  <a:pt x="51178" y="5181600"/>
                  <a:pt x="0" y="5130422"/>
                  <a:pt x="0" y="5067291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284720" y="1657350"/>
            <a:ext cx="4410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 err="1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Asosiy</a:t>
            </a:r>
            <a:r>
              <a:rPr lang="en-US" sz="18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uz-Latn-UZ" sz="180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</a:t>
            </a:r>
            <a:r>
              <a:rPr lang="en-US" sz="1800" b="1" dirty="0" err="1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ususiyatlar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284720" y="2152534"/>
            <a:ext cx="4295775" cy="762000"/>
          </a:xfrm>
          <a:custGeom>
            <a:avLst/>
            <a:gdLst/>
            <a:ahLst/>
            <a:cxnLst/>
            <a:rect l="l" t="t" r="r" b="b"/>
            <a:pathLst>
              <a:path w="4295775" h="762000">
                <a:moveTo>
                  <a:pt x="76200" y="0"/>
                </a:moveTo>
                <a:lnTo>
                  <a:pt x="4219575" y="0"/>
                </a:lnTo>
                <a:cubicBezTo>
                  <a:pt x="4261631" y="0"/>
                  <a:pt x="4295775" y="34144"/>
                  <a:pt x="4295775" y="76200"/>
                </a:cubicBezTo>
                <a:lnTo>
                  <a:pt x="4295775" y="685800"/>
                </a:lnTo>
                <a:cubicBezTo>
                  <a:pt x="4295775" y="727856"/>
                  <a:pt x="4261631" y="762000"/>
                  <a:pt x="421957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0" name="Shape 28"/>
          <p:cNvSpPr/>
          <p:nvPr/>
        </p:nvSpPr>
        <p:spPr>
          <a:xfrm>
            <a:off x="7437120" y="230493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7399020" y="2304934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970520" y="2304934"/>
            <a:ext cx="2952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Davlati Grant </a:t>
            </a:r>
            <a:r>
              <a:rPr lang="uz-Latn-UZ" sz="1200" b="1" dirty="0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</a:t>
            </a:r>
            <a:r>
              <a:rPr lang="en-US" sz="1200" b="1" dirty="0" err="1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azalari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970520" y="2571634"/>
            <a:ext cx="2943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EU, USAID, UNESCO va boshqa xalqaro fondlar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284720" y="3066934"/>
            <a:ext cx="4295775" cy="762000"/>
          </a:xfrm>
          <a:custGeom>
            <a:avLst/>
            <a:gdLst/>
            <a:ahLst/>
            <a:cxnLst/>
            <a:rect l="l" t="t" r="r" b="b"/>
            <a:pathLst>
              <a:path w="4295775" h="762000">
                <a:moveTo>
                  <a:pt x="76200" y="0"/>
                </a:moveTo>
                <a:lnTo>
                  <a:pt x="4219575" y="0"/>
                </a:lnTo>
                <a:cubicBezTo>
                  <a:pt x="4261631" y="0"/>
                  <a:pt x="4295775" y="34144"/>
                  <a:pt x="4295775" y="76200"/>
                </a:cubicBezTo>
                <a:lnTo>
                  <a:pt x="4295775" y="685800"/>
                </a:lnTo>
                <a:cubicBezTo>
                  <a:pt x="4295775" y="727856"/>
                  <a:pt x="4261631" y="762000"/>
                  <a:pt x="421957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5" name="Shape 33"/>
          <p:cNvSpPr/>
          <p:nvPr/>
        </p:nvSpPr>
        <p:spPr>
          <a:xfrm>
            <a:off x="7437120" y="321933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36" name="Text 34"/>
          <p:cNvSpPr/>
          <p:nvPr/>
        </p:nvSpPr>
        <p:spPr>
          <a:xfrm>
            <a:off x="7399020" y="3219334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970520" y="3219334"/>
            <a:ext cx="2790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 err="1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Xususiy</a:t>
            </a:r>
            <a:r>
              <a:rPr lang="en-US" sz="1200" b="1" dirty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200" b="1" dirty="0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</a:t>
            </a:r>
            <a:r>
              <a:rPr lang="en-US" sz="1200" b="1" dirty="0" err="1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ondlar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970520" y="3486034"/>
            <a:ext cx="2781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Madaniyat va san'atga ixtisoslashgan fondlar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284720" y="3981334"/>
            <a:ext cx="4295775" cy="762000"/>
          </a:xfrm>
          <a:custGeom>
            <a:avLst/>
            <a:gdLst/>
            <a:ahLst/>
            <a:cxnLst/>
            <a:rect l="l" t="t" r="r" b="b"/>
            <a:pathLst>
              <a:path w="4295775" h="762000">
                <a:moveTo>
                  <a:pt x="76200" y="0"/>
                </a:moveTo>
                <a:lnTo>
                  <a:pt x="4219575" y="0"/>
                </a:lnTo>
                <a:cubicBezTo>
                  <a:pt x="4261631" y="0"/>
                  <a:pt x="4295775" y="34144"/>
                  <a:pt x="4295775" y="76200"/>
                </a:cubicBezTo>
                <a:lnTo>
                  <a:pt x="4295775" y="685800"/>
                </a:lnTo>
                <a:cubicBezTo>
                  <a:pt x="4295775" y="727856"/>
                  <a:pt x="4261631" y="762000"/>
                  <a:pt x="421957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0" name="Shape 38"/>
          <p:cNvSpPr/>
          <p:nvPr/>
        </p:nvSpPr>
        <p:spPr>
          <a:xfrm>
            <a:off x="7437120" y="413373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41" name="Text 39"/>
          <p:cNvSpPr/>
          <p:nvPr/>
        </p:nvSpPr>
        <p:spPr>
          <a:xfrm>
            <a:off x="7399020" y="4133734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970520" y="4133734"/>
            <a:ext cx="230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Korporativ Grantlar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970520" y="4400434"/>
            <a:ext cx="2295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Xalqaro kompaniyalar CSR dasturlari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284720" y="4895734"/>
            <a:ext cx="4295775" cy="762000"/>
          </a:xfrm>
          <a:custGeom>
            <a:avLst/>
            <a:gdLst/>
            <a:ahLst/>
            <a:cxnLst/>
            <a:rect l="l" t="t" r="r" b="b"/>
            <a:pathLst>
              <a:path w="4295775" h="762000">
                <a:moveTo>
                  <a:pt x="76200" y="0"/>
                </a:moveTo>
                <a:lnTo>
                  <a:pt x="4219575" y="0"/>
                </a:lnTo>
                <a:cubicBezTo>
                  <a:pt x="4261631" y="0"/>
                  <a:pt x="4295775" y="34144"/>
                  <a:pt x="4295775" y="76200"/>
                </a:cubicBezTo>
                <a:lnTo>
                  <a:pt x="4295775" y="685800"/>
                </a:lnTo>
                <a:cubicBezTo>
                  <a:pt x="4295775" y="727856"/>
                  <a:pt x="4261631" y="762000"/>
                  <a:pt x="421957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5" name="Shape 43"/>
          <p:cNvSpPr/>
          <p:nvPr/>
        </p:nvSpPr>
        <p:spPr>
          <a:xfrm>
            <a:off x="7437120" y="504813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46" name="Text 44"/>
          <p:cNvSpPr/>
          <p:nvPr/>
        </p:nvSpPr>
        <p:spPr>
          <a:xfrm>
            <a:off x="7399020" y="5048134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970520" y="5048134"/>
            <a:ext cx="2200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 </a:t>
            </a:r>
            <a:r>
              <a:rPr lang="uz-Latn-UZ" sz="1200" b="1" dirty="0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</a:t>
            </a:r>
            <a:r>
              <a:rPr lang="en-US" sz="1200" b="1" dirty="0" err="1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aqt</a:t>
            </a:r>
            <a:r>
              <a:rPr lang="en-US" sz="1200" b="1" dirty="0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200" b="1" dirty="0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</a:t>
            </a:r>
            <a:r>
              <a:rPr lang="en-US" sz="1200" b="1" dirty="0" err="1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ejimida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970520" y="5314834"/>
            <a:ext cx="219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Yangilanishlar vaqtida xabar berish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303770" y="5848234"/>
            <a:ext cx="4276725" cy="533400"/>
          </a:xfrm>
          <a:custGeom>
            <a:avLst/>
            <a:gdLst/>
            <a:ahLst/>
            <a:cxnLst/>
            <a:rect l="l" t="t" r="r" b="b"/>
            <a:pathLst>
              <a:path w="4276725" h="533400">
                <a:moveTo>
                  <a:pt x="38100" y="0"/>
                </a:moveTo>
                <a:lnTo>
                  <a:pt x="4200523" y="0"/>
                </a:lnTo>
                <a:cubicBezTo>
                  <a:pt x="4242608" y="0"/>
                  <a:pt x="4276725" y="34117"/>
                  <a:pt x="4276725" y="76202"/>
                </a:cubicBezTo>
                <a:lnTo>
                  <a:pt x="4276725" y="457198"/>
                </a:lnTo>
                <a:cubicBezTo>
                  <a:pt x="4276725" y="499283"/>
                  <a:pt x="4242608" y="533400"/>
                  <a:pt x="4200523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574">
              <a:alpha val="1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303770" y="5848234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51" name="Shape 49"/>
          <p:cNvSpPr/>
          <p:nvPr/>
        </p:nvSpPr>
        <p:spPr>
          <a:xfrm>
            <a:off x="7494270" y="603873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52" name="Text 50"/>
          <p:cNvSpPr/>
          <p:nvPr/>
        </p:nvSpPr>
        <p:spPr>
          <a:xfrm>
            <a:off x="7722870" y="6000634"/>
            <a:ext cx="3781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Hech bir muhim imkoniyat qo'ldan boy bermaydi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4A90A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AGENT 02-03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Proposal Architect va Compliance Bot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57150"/>
          </a:xfrm>
          <a:custGeom>
            <a:avLst/>
            <a:gdLst/>
            <a:ahLst/>
            <a:cxnLst/>
            <a:rect l="l" t="t" r="r" b="b"/>
            <a:pathLst>
              <a:path w="762000" h="57150">
                <a:moveTo>
                  <a:pt x="0" y="0"/>
                </a:moveTo>
                <a:lnTo>
                  <a:pt x="762000" y="0"/>
                </a:lnTo>
                <a:lnTo>
                  <a:pt x="762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447800"/>
            <a:ext cx="5600700" cy="4305300"/>
          </a:xfrm>
          <a:custGeom>
            <a:avLst/>
            <a:gdLst/>
            <a:ahLst/>
            <a:cxnLst/>
            <a:rect l="l" t="t" r="r" b="b"/>
            <a:pathLst>
              <a:path w="5600700" h="43053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4190994"/>
                </a:lnTo>
                <a:cubicBezTo>
                  <a:pt x="5600700" y="4254124"/>
                  <a:pt x="5549524" y="4305300"/>
                  <a:pt x="5486394" y="4305300"/>
                </a:cubicBezTo>
                <a:lnTo>
                  <a:pt x="114306" y="4305300"/>
                </a:lnTo>
                <a:cubicBezTo>
                  <a:pt x="51176" y="4305300"/>
                  <a:pt x="0" y="4254124"/>
                  <a:pt x="0" y="419099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447800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6954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8" name="Shape 6"/>
          <p:cNvSpPr/>
          <p:nvPr/>
        </p:nvSpPr>
        <p:spPr>
          <a:xfrm>
            <a:off x="771525" y="18859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8620" y="28575"/>
                </a:moveTo>
                <a:cubicBezTo>
                  <a:pt x="28620" y="12814"/>
                  <a:pt x="41434" y="0"/>
                  <a:pt x="57195" y="0"/>
                </a:cubicBezTo>
                <a:lnTo>
                  <a:pt x="123944" y="0"/>
                </a:lnTo>
                <a:cubicBezTo>
                  <a:pt x="131534" y="0"/>
                  <a:pt x="138812" y="2991"/>
                  <a:pt x="144170" y="8349"/>
                </a:cubicBezTo>
                <a:lnTo>
                  <a:pt x="191676" y="55944"/>
                </a:lnTo>
                <a:cubicBezTo>
                  <a:pt x="197034" y="61302"/>
                  <a:pt x="200025" y="68580"/>
                  <a:pt x="200025" y="76170"/>
                </a:cubicBezTo>
                <a:lnTo>
                  <a:pt x="200025" y="119702"/>
                </a:lnTo>
                <a:lnTo>
                  <a:pt x="141089" y="178638"/>
                </a:lnTo>
                <a:lnTo>
                  <a:pt x="122292" y="178638"/>
                </a:lnTo>
                <a:lnTo>
                  <a:pt x="115104" y="154707"/>
                </a:lnTo>
                <a:cubicBezTo>
                  <a:pt x="113005" y="147697"/>
                  <a:pt x="106576" y="142920"/>
                  <a:pt x="99253" y="142920"/>
                </a:cubicBezTo>
                <a:cubicBezTo>
                  <a:pt x="94208" y="142920"/>
                  <a:pt x="89475" y="145197"/>
                  <a:pt x="86350" y="149126"/>
                </a:cubicBezTo>
                <a:lnTo>
                  <a:pt x="59516" y="182612"/>
                </a:lnTo>
                <a:cubicBezTo>
                  <a:pt x="55811" y="187211"/>
                  <a:pt x="56570" y="193997"/>
                  <a:pt x="61168" y="197659"/>
                </a:cubicBezTo>
                <a:cubicBezTo>
                  <a:pt x="65767" y="201320"/>
                  <a:pt x="72554" y="200605"/>
                  <a:pt x="76215" y="195962"/>
                </a:cubicBezTo>
                <a:lnTo>
                  <a:pt x="97244" y="169709"/>
                </a:lnTo>
                <a:lnTo>
                  <a:pt x="104031" y="192345"/>
                </a:lnTo>
                <a:cubicBezTo>
                  <a:pt x="105370" y="196900"/>
                  <a:pt x="109567" y="199980"/>
                  <a:pt x="114300" y="199980"/>
                </a:cubicBezTo>
                <a:lnTo>
                  <a:pt x="128364" y="199980"/>
                </a:lnTo>
                <a:cubicBezTo>
                  <a:pt x="127962" y="201364"/>
                  <a:pt x="127605" y="202793"/>
                  <a:pt x="127337" y="204222"/>
                </a:cubicBezTo>
                <a:lnTo>
                  <a:pt x="122471" y="228555"/>
                </a:lnTo>
                <a:lnTo>
                  <a:pt x="57195" y="228555"/>
                </a:lnTo>
                <a:cubicBezTo>
                  <a:pt x="41434" y="228555"/>
                  <a:pt x="28620" y="215741"/>
                  <a:pt x="28620" y="199980"/>
                </a:cubicBezTo>
                <a:lnTo>
                  <a:pt x="28620" y="28530"/>
                </a:lnTo>
                <a:close/>
                <a:moveTo>
                  <a:pt x="121488" y="26119"/>
                </a:moveTo>
                <a:lnTo>
                  <a:pt x="121488" y="67866"/>
                </a:lnTo>
                <a:cubicBezTo>
                  <a:pt x="121488" y="73804"/>
                  <a:pt x="126266" y="78581"/>
                  <a:pt x="132204" y="78581"/>
                </a:cubicBezTo>
                <a:lnTo>
                  <a:pt x="173950" y="78581"/>
                </a:lnTo>
                <a:lnTo>
                  <a:pt x="121488" y="26119"/>
                </a:lnTo>
                <a:close/>
                <a:moveTo>
                  <a:pt x="148367" y="208464"/>
                </a:moveTo>
                <a:cubicBezTo>
                  <a:pt x="149483" y="202927"/>
                  <a:pt x="152207" y="197837"/>
                  <a:pt x="156180" y="193864"/>
                </a:cubicBezTo>
                <a:lnTo>
                  <a:pt x="209267" y="140777"/>
                </a:lnTo>
                <a:lnTo>
                  <a:pt x="244986" y="176495"/>
                </a:lnTo>
                <a:lnTo>
                  <a:pt x="191899" y="229582"/>
                </a:lnTo>
                <a:cubicBezTo>
                  <a:pt x="187925" y="233556"/>
                  <a:pt x="182835" y="236280"/>
                  <a:pt x="177299" y="237396"/>
                </a:cubicBezTo>
                <a:lnTo>
                  <a:pt x="150688" y="242709"/>
                </a:lnTo>
                <a:cubicBezTo>
                  <a:pt x="150287" y="242798"/>
                  <a:pt x="149840" y="242843"/>
                  <a:pt x="149394" y="242843"/>
                </a:cubicBezTo>
                <a:cubicBezTo>
                  <a:pt x="145822" y="242843"/>
                  <a:pt x="142875" y="239941"/>
                  <a:pt x="142875" y="236324"/>
                </a:cubicBezTo>
                <a:cubicBezTo>
                  <a:pt x="142875" y="235878"/>
                  <a:pt x="142920" y="235476"/>
                  <a:pt x="143009" y="235029"/>
                </a:cubicBezTo>
                <a:lnTo>
                  <a:pt x="148322" y="208419"/>
                </a:lnTo>
                <a:close/>
                <a:moveTo>
                  <a:pt x="267935" y="153546"/>
                </a:moveTo>
                <a:lnTo>
                  <a:pt x="255077" y="166405"/>
                </a:lnTo>
                <a:lnTo>
                  <a:pt x="219358" y="130686"/>
                </a:lnTo>
                <a:lnTo>
                  <a:pt x="232217" y="117827"/>
                </a:lnTo>
                <a:cubicBezTo>
                  <a:pt x="242084" y="107960"/>
                  <a:pt x="258068" y="107960"/>
                  <a:pt x="267935" y="117827"/>
                </a:cubicBezTo>
                <a:cubicBezTo>
                  <a:pt x="277803" y="127695"/>
                  <a:pt x="277803" y="143679"/>
                  <a:pt x="267935" y="15354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847850"/>
            <a:ext cx="198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Proposal Architect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457450"/>
            <a:ext cx="5219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Professional loyihalarni </a:t>
            </a:r>
            <a:r>
              <a:rPr lang="en-US" sz="1200" b="1" dirty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50+ tilda</a:t>
            </a: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tayyorlaydi. Tizim har bir grant talablariga mos ravishda loyiha takliflarini avtomatik ravishda shakllantiradi.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" y="3352800"/>
            <a:ext cx="5143500" cy="647700"/>
          </a:xfrm>
          <a:custGeom>
            <a:avLst/>
            <a:gdLst/>
            <a:ahLst/>
            <a:cxnLst/>
            <a:rect l="l" t="t" r="r" b="b"/>
            <a:pathLst>
              <a:path w="5143500" h="647700">
                <a:moveTo>
                  <a:pt x="76202" y="0"/>
                </a:moveTo>
                <a:lnTo>
                  <a:pt x="5067298" y="0"/>
                </a:lnTo>
                <a:cubicBezTo>
                  <a:pt x="5109383" y="0"/>
                  <a:pt x="5143500" y="34117"/>
                  <a:pt x="5143500" y="76202"/>
                </a:cubicBezTo>
                <a:lnTo>
                  <a:pt x="5143500" y="571498"/>
                </a:lnTo>
                <a:cubicBezTo>
                  <a:pt x="5143500" y="613583"/>
                  <a:pt x="5109383" y="647700"/>
                  <a:pt x="50672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4A90A4">
              <a:alpha val="5098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35806" y="35814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59531" y="0"/>
                </a:moveTo>
                <a:cubicBezTo>
                  <a:pt x="66117" y="0"/>
                  <a:pt x="71438" y="5321"/>
                  <a:pt x="71438" y="11906"/>
                </a:cubicBezTo>
                <a:lnTo>
                  <a:pt x="71438" y="23812"/>
                </a:lnTo>
                <a:lnTo>
                  <a:pt x="119063" y="23812"/>
                </a:lnTo>
                <a:cubicBezTo>
                  <a:pt x="125648" y="23812"/>
                  <a:pt x="130969" y="29133"/>
                  <a:pt x="130969" y="35719"/>
                </a:cubicBezTo>
                <a:cubicBezTo>
                  <a:pt x="130969" y="42304"/>
                  <a:pt x="125648" y="47625"/>
                  <a:pt x="119063" y="47625"/>
                </a:cubicBezTo>
                <a:lnTo>
                  <a:pt x="115491" y="47625"/>
                </a:lnTo>
                <a:lnTo>
                  <a:pt x="112365" y="56220"/>
                </a:lnTo>
                <a:cubicBezTo>
                  <a:pt x="106263" y="73037"/>
                  <a:pt x="97073" y="88404"/>
                  <a:pt x="85502" y="101612"/>
                </a:cubicBezTo>
                <a:cubicBezTo>
                  <a:pt x="90785" y="104887"/>
                  <a:pt x="96292" y="107789"/>
                  <a:pt x="102022" y="110356"/>
                </a:cubicBezTo>
                <a:lnTo>
                  <a:pt x="120774" y="118690"/>
                </a:lnTo>
                <a:lnTo>
                  <a:pt x="143917" y="66601"/>
                </a:lnTo>
                <a:cubicBezTo>
                  <a:pt x="145814" y="62285"/>
                  <a:pt x="150093" y="59531"/>
                  <a:pt x="154781" y="59531"/>
                </a:cubicBezTo>
                <a:cubicBezTo>
                  <a:pt x="159469" y="59531"/>
                  <a:pt x="163748" y="62285"/>
                  <a:pt x="165646" y="66601"/>
                </a:cubicBezTo>
                <a:lnTo>
                  <a:pt x="213271" y="173757"/>
                </a:lnTo>
                <a:cubicBezTo>
                  <a:pt x="215950" y="179784"/>
                  <a:pt x="213233" y="186817"/>
                  <a:pt x="207243" y="189458"/>
                </a:cubicBezTo>
                <a:cubicBezTo>
                  <a:pt x="201253" y="192100"/>
                  <a:pt x="194183" y="189421"/>
                  <a:pt x="191542" y="183431"/>
                </a:cubicBezTo>
                <a:lnTo>
                  <a:pt x="184100" y="166688"/>
                </a:lnTo>
                <a:lnTo>
                  <a:pt x="125499" y="166688"/>
                </a:lnTo>
                <a:lnTo>
                  <a:pt x="118058" y="183431"/>
                </a:lnTo>
                <a:cubicBezTo>
                  <a:pt x="115379" y="189458"/>
                  <a:pt x="108347" y="192137"/>
                  <a:pt x="102357" y="189458"/>
                </a:cubicBezTo>
                <a:cubicBezTo>
                  <a:pt x="96366" y="186779"/>
                  <a:pt x="93650" y="179747"/>
                  <a:pt x="96329" y="173757"/>
                </a:cubicBezTo>
                <a:lnTo>
                  <a:pt x="111137" y="140457"/>
                </a:lnTo>
                <a:lnTo>
                  <a:pt x="92385" y="132122"/>
                </a:lnTo>
                <a:cubicBezTo>
                  <a:pt x="83827" y="128327"/>
                  <a:pt x="75642" y="123788"/>
                  <a:pt x="67903" y="118579"/>
                </a:cubicBezTo>
                <a:cubicBezTo>
                  <a:pt x="59978" y="124978"/>
                  <a:pt x="51308" y="130559"/>
                  <a:pt x="42044" y="135210"/>
                </a:cubicBezTo>
                <a:lnTo>
                  <a:pt x="29133" y="141610"/>
                </a:lnTo>
                <a:cubicBezTo>
                  <a:pt x="23254" y="144549"/>
                  <a:pt x="16111" y="142168"/>
                  <a:pt x="13171" y="136289"/>
                </a:cubicBezTo>
                <a:cubicBezTo>
                  <a:pt x="10232" y="130411"/>
                  <a:pt x="12613" y="123267"/>
                  <a:pt x="18492" y="120328"/>
                </a:cubicBezTo>
                <a:lnTo>
                  <a:pt x="31328" y="113891"/>
                </a:lnTo>
                <a:cubicBezTo>
                  <a:pt x="37393" y="110840"/>
                  <a:pt x="43160" y="107305"/>
                  <a:pt x="48592" y="103361"/>
                </a:cubicBezTo>
                <a:cubicBezTo>
                  <a:pt x="43458" y="98636"/>
                  <a:pt x="38621" y="93538"/>
                  <a:pt x="34119" y="88143"/>
                </a:cubicBezTo>
                <a:lnTo>
                  <a:pt x="30361" y="83604"/>
                </a:lnTo>
                <a:cubicBezTo>
                  <a:pt x="26157" y="78544"/>
                  <a:pt x="26826" y="71028"/>
                  <a:pt x="31886" y="66824"/>
                </a:cubicBezTo>
                <a:cubicBezTo>
                  <a:pt x="36947" y="62619"/>
                  <a:pt x="44462" y="63289"/>
                  <a:pt x="48667" y="68349"/>
                </a:cubicBezTo>
                <a:lnTo>
                  <a:pt x="52462" y="72889"/>
                </a:lnTo>
                <a:cubicBezTo>
                  <a:pt x="56741" y="78060"/>
                  <a:pt x="61429" y="82860"/>
                  <a:pt x="66377" y="87288"/>
                </a:cubicBezTo>
                <a:cubicBezTo>
                  <a:pt x="76609" y="75977"/>
                  <a:pt x="84683" y="62694"/>
                  <a:pt x="90004" y="48071"/>
                </a:cubicBezTo>
                <a:lnTo>
                  <a:pt x="90190" y="47625"/>
                </a:lnTo>
                <a:lnTo>
                  <a:pt x="11943" y="47625"/>
                </a:lnTo>
                <a:cubicBezTo>
                  <a:pt x="5321" y="47625"/>
                  <a:pt x="0" y="42304"/>
                  <a:pt x="0" y="35719"/>
                </a:cubicBezTo>
                <a:cubicBezTo>
                  <a:pt x="0" y="29133"/>
                  <a:pt x="5321" y="23812"/>
                  <a:pt x="11906" y="23812"/>
                </a:cubicBezTo>
                <a:lnTo>
                  <a:pt x="47625" y="23812"/>
                </a:lnTo>
                <a:lnTo>
                  <a:pt x="47625" y="11906"/>
                </a:lnTo>
                <a:cubicBezTo>
                  <a:pt x="47625" y="5321"/>
                  <a:pt x="52946" y="0"/>
                  <a:pt x="59531" y="0"/>
                </a:cubicBezTo>
                <a:close/>
                <a:moveTo>
                  <a:pt x="154781" y="100757"/>
                </a:moveTo>
                <a:lnTo>
                  <a:pt x="136066" y="142875"/>
                </a:lnTo>
                <a:lnTo>
                  <a:pt x="173496" y="142875"/>
                </a:lnTo>
                <a:lnTo>
                  <a:pt x="154781" y="100757"/>
                </a:ln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13" name="Text 11"/>
          <p:cNvSpPr/>
          <p:nvPr/>
        </p:nvSpPr>
        <p:spPr>
          <a:xfrm>
            <a:off x="1076325" y="3467100"/>
            <a:ext cx="257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 err="1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Ko'p</a:t>
            </a:r>
            <a:r>
              <a:rPr lang="en-US" sz="1200" b="1" dirty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200" b="1" dirty="0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</a:t>
            </a:r>
            <a:r>
              <a:rPr lang="en-US" sz="1200" b="1" dirty="0" err="1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illi</a:t>
            </a:r>
            <a:r>
              <a:rPr lang="en-US" sz="1200" b="1" dirty="0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200" b="1" dirty="0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</a:t>
            </a:r>
            <a:r>
              <a:rPr lang="en-US" sz="1200" b="1" dirty="0" err="1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o'llab</a:t>
            </a:r>
            <a:r>
              <a:rPr lang="en-US" sz="1200" b="1" dirty="0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</a:t>
            </a:r>
            <a:r>
              <a:rPr lang="uz-Latn-UZ" sz="1200" b="1" dirty="0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</a:t>
            </a:r>
            <a:r>
              <a:rPr lang="en-US" sz="1200" b="1" dirty="0" err="1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uvvatlash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6325" y="3695700"/>
            <a:ext cx="2562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Ingliz, rus, nemis, fransuz va boshqa tillar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9600" y="4114800"/>
            <a:ext cx="5143500" cy="647700"/>
          </a:xfrm>
          <a:custGeom>
            <a:avLst/>
            <a:gdLst/>
            <a:ahLst/>
            <a:cxnLst/>
            <a:rect l="l" t="t" r="r" b="b"/>
            <a:pathLst>
              <a:path w="5143500" h="647700">
                <a:moveTo>
                  <a:pt x="76202" y="0"/>
                </a:moveTo>
                <a:lnTo>
                  <a:pt x="5067298" y="0"/>
                </a:lnTo>
                <a:cubicBezTo>
                  <a:pt x="5109383" y="0"/>
                  <a:pt x="5143500" y="34117"/>
                  <a:pt x="5143500" y="76202"/>
                </a:cubicBezTo>
                <a:lnTo>
                  <a:pt x="5143500" y="571498"/>
                </a:lnTo>
                <a:cubicBezTo>
                  <a:pt x="5143500" y="613583"/>
                  <a:pt x="5109383" y="647700"/>
                  <a:pt x="50672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4A90A4">
              <a:alpha val="5098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47713" y="4343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270" y="4539"/>
                </a:moveTo>
                <a:lnTo>
                  <a:pt x="115453" y="37356"/>
                </a:lnTo>
                <a:lnTo>
                  <a:pt x="153144" y="75047"/>
                </a:lnTo>
                <a:lnTo>
                  <a:pt x="185961" y="42230"/>
                </a:lnTo>
                <a:cubicBezTo>
                  <a:pt x="188863" y="39291"/>
                  <a:pt x="190500" y="35347"/>
                  <a:pt x="190500" y="31254"/>
                </a:cubicBezTo>
                <a:cubicBezTo>
                  <a:pt x="190500" y="27161"/>
                  <a:pt x="188863" y="23217"/>
                  <a:pt x="185961" y="20278"/>
                </a:cubicBezTo>
                <a:lnTo>
                  <a:pt x="170222" y="4539"/>
                </a:lnTo>
                <a:cubicBezTo>
                  <a:pt x="167283" y="1637"/>
                  <a:pt x="163339" y="0"/>
                  <a:pt x="159246" y="0"/>
                </a:cubicBezTo>
                <a:cubicBezTo>
                  <a:pt x="155153" y="0"/>
                  <a:pt x="151209" y="1637"/>
                  <a:pt x="148270" y="4539"/>
                </a:cubicBezTo>
                <a:close/>
                <a:moveTo>
                  <a:pt x="102840" y="49969"/>
                </a:moveTo>
                <a:lnTo>
                  <a:pt x="4539" y="148270"/>
                </a:lnTo>
                <a:cubicBezTo>
                  <a:pt x="1637" y="151209"/>
                  <a:pt x="0" y="155153"/>
                  <a:pt x="0" y="159246"/>
                </a:cubicBezTo>
                <a:cubicBezTo>
                  <a:pt x="0" y="163339"/>
                  <a:pt x="1637" y="167283"/>
                  <a:pt x="4539" y="170222"/>
                </a:cubicBezTo>
                <a:lnTo>
                  <a:pt x="20278" y="185961"/>
                </a:lnTo>
                <a:cubicBezTo>
                  <a:pt x="23217" y="188863"/>
                  <a:pt x="27161" y="190500"/>
                  <a:pt x="31254" y="190500"/>
                </a:cubicBezTo>
                <a:cubicBezTo>
                  <a:pt x="35347" y="190500"/>
                  <a:pt x="39291" y="188863"/>
                  <a:pt x="42230" y="185961"/>
                </a:cubicBezTo>
                <a:lnTo>
                  <a:pt x="140531" y="87660"/>
                </a:lnTo>
                <a:lnTo>
                  <a:pt x="102840" y="49969"/>
                </a:ln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17" name="Text 15"/>
          <p:cNvSpPr/>
          <p:nvPr/>
        </p:nvSpPr>
        <p:spPr>
          <a:xfrm>
            <a:off x="1076325" y="4229100"/>
            <a:ext cx="3057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 err="1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Avtomatik</a:t>
            </a:r>
            <a:r>
              <a:rPr lang="en-US" sz="1200" b="1" dirty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200" b="1" dirty="0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</a:t>
            </a:r>
            <a:r>
              <a:rPr lang="en-US" sz="1200" b="1" dirty="0" err="1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ormatlash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6325" y="4457700"/>
            <a:ext cx="304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Har bir grant talablariga mos professional format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9600" y="4876800"/>
            <a:ext cx="5143500" cy="647700"/>
          </a:xfrm>
          <a:custGeom>
            <a:avLst/>
            <a:gdLst/>
            <a:ahLst/>
            <a:cxnLst/>
            <a:rect l="l" t="t" r="r" b="b"/>
            <a:pathLst>
              <a:path w="5143500" h="647700">
                <a:moveTo>
                  <a:pt x="76202" y="0"/>
                </a:moveTo>
                <a:lnTo>
                  <a:pt x="5067298" y="0"/>
                </a:lnTo>
                <a:cubicBezTo>
                  <a:pt x="5109383" y="0"/>
                  <a:pt x="5143500" y="34117"/>
                  <a:pt x="5143500" y="76202"/>
                </a:cubicBezTo>
                <a:lnTo>
                  <a:pt x="5143500" y="571498"/>
                </a:lnTo>
                <a:cubicBezTo>
                  <a:pt x="5143500" y="613583"/>
                  <a:pt x="5109383" y="647700"/>
                  <a:pt x="50672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4A90A4">
              <a:alpha val="5098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47713" y="5105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631" y="71438"/>
                </a:moveTo>
                <a:lnTo>
                  <a:pt x="181570" y="71438"/>
                </a:lnTo>
                <a:cubicBezTo>
                  <a:pt x="186519" y="71438"/>
                  <a:pt x="190500" y="67456"/>
                  <a:pt x="190500" y="62508"/>
                </a:cubicBezTo>
                <a:lnTo>
                  <a:pt x="190500" y="8930"/>
                </a:lnTo>
                <a:cubicBezTo>
                  <a:pt x="190500" y="5321"/>
                  <a:pt x="188342" y="2046"/>
                  <a:pt x="184993" y="670"/>
                </a:cubicBezTo>
                <a:cubicBezTo>
                  <a:pt x="181645" y="-707"/>
                  <a:pt x="177812" y="74"/>
                  <a:pt x="175245" y="2604"/>
                </a:cubicBezTo>
                <a:lnTo>
                  <a:pt x="156009" y="21878"/>
                </a:lnTo>
                <a:cubicBezTo>
                  <a:pt x="139526" y="8223"/>
                  <a:pt x="118318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ubicBezTo>
                  <a:pt x="29468" y="50416"/>
                  <a:pt x="59271" y="23812"/>
                  <a:pt x="95250" y="23812"/>
                </a:cubicBezTo>
                <a:cubicBezTo>
                  <a:pt x="111770" y="23812"/>
                  <a:pt x="126950" y="29394"/>
                  <a:pt x="139043" y="38807"/>
                </a:cubicBezTo>
                <a:lnTo>
                  <a:pt x="121667" y="56183"/>
                </a:lnTo>
                <a:cubicBezTo>
                  <a:pt x="119100" y="58750"/>
                  <a:pt x="118356" y="62582"/>
                  <a:pt x="119732" y="65931"/>
                </a:cubicBezTo>
                <a:cubicBezTo>
                  <a:pt x="121109" y="69279"/>
                  <a:pt x="124383" y="71438"/>
                  <a:pt x="127992" y="71438"/>
                </a:cubicBezTo>
                <a:lnTo>
                  <a:pt x="178631" y="71438"/>
                </a:lnTo>
                <a:close/>
                <a:moveTo>
                  <a:pt x="189570" y="108831"/>
                </a:moveTo>
                <a:cubicBezTo>
                  <a:pt x="190500" y="102319"/>
                  <a:pt x="185961" y="96292"/>
                  <a:pt x="179487" y="95362"/>
                </a:cubicBezTo>
                <a:cubicBezTo>
                  <a:pt x="173013" y="94431"/>
                  <a:pt x="166948" y="98971"/>
                  <a:pt x="166018" y="105445"/>
                </a:cubicBezTo>
                <a:cubicBezTo>
                  <a:pt x="161069" y="140047"/>
                  <a:pt x="131266" y="166650"/>
                  <a:pt x="95287" y="166650"/>
                </a:cubicBezTo>
                <a:cubicBezTo>
                  <a:pt x="78767" y="166650"/>
                  <a:pt x="63587" y="161069"/>
                  <a:pt x="51495" y="151656"/>
                </a:cubicBezTo>
                <a:lnTo>
                  <a:pt x="68833" y="134317"/>
                </a:lnTo>
                <a:cubicBezTo>
                  <a:pt x="71400" y="131750"/>
                  <a:pt x="72144" y="127918"/>
                  <a:pt x="70768" y="124569"/>
                </a:cubicBezTo>
                <a:cubicBezTo>
                  <a:pt x="69391" y="121221"/>
                  <a:pt x="66117" y="119063"/>
                  <a:pt x="62508" y="119063"/>
                </a:cubicBezTo>
                <a:lnTo>
                  <a:pt x="8930" y="119063"/>
                </a:lnTo>
                <a:cubicBezTo>
                  <a:pt x="3981" y="119063"/>
                  <a:pt x="0" y="123044"/>
                  <a:pt x="0" y="127992"/>
                </a:cubicBezTo>
                <a:lnTo>
                  <a:pt x="0" y="181570"/>
                </a:lnTo>
                <a:cubicBezTo>
                  <a:pt x="0" y="185179"/>
                  <a:pt x="2158" y="188454"/>
                  <a:pt x="5507" y="189830"/>
                </a:cubicBezTo>
                <a:cubicBezTo>
                  <a:pt x="8855" y="191207"/>
                  <a:pt x="12688" y="190426"/>
                  <a:pt x="15255" y="187896"/>
                </a:cubicBezTo>
                <a:lnTo>
                  <a:pt x="34528" y="168622"/>
                </a:lnTo>
                <a:cubicBezTo>
                  <a:pt x="50974" y="182277"/>
                  <a:pt x="72182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21" name="Text 19"/>
          <p:cNvSpPr/>
          <p:nvPr/>
        </p:nvSpPr>
        <p:spPr>
          <a:xfrm>
            <a:off x="1076325" y="4991100"/>
            <a:ext cx="2943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 err="1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Kontentni</a:t>
            </a:r>
            <a:r>
              <a:rPr lang="en-US" sz="1200" b="1" dirty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200" b="1" dirty="0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</a:t>
            </a:r>
            <a:r>
              <a:rPr lang="en-US" sz="1200" b="1" dirty="0" err="1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ayta</a:t>
            </a:r>
            <a:r>
              <a:rPr lang="en-US" sz="1200" b="1" dirty="0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200" b="1" dirty="0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r>
              <a:rPr lang="en-US" sz="1200" b="1" dirty="0" err="1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shlash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6325" y="521970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Mavjud ma'lumotlardan yangi loyihalar yaratish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1000" y="5943600"/>
            <a:ext cx="5600700" cy="914400"/>
          </a:xfrm>
          <a:custGeom>
            <a:avLst/>
            <a:gdLst/>
            <a:ahLst/>
            <a:cxnLst/>
            <a:rect l="l" t="t" r="r" b="b"/>
            <a:pathLst>
              <a:path w="5600700" h="914400">
                <a:moveTo>
                  <a:pt x="114300" y="0"/>
                </a:moveTo>
                <a:lnTo>
                  <a:pt x="5486400" y="0"/>
                </a:lnTo>
                <a:cubicBezTo>
                  <a:pt x="5549484" y="0"/>
                  <a:pt x="5600700" y="51216"/>
                  <a:pt x="5600700" y="114300"/>
                </a:cubicBezTo>
                <a:lnTo>
                  <a:pt x="5600700" y="800100"/>
                </a:lnTo>
                <a:cubicBezTo>
                  <a:pt x="5600700" y="863184"/>
                  <a:pt x="5549484" y="914400"/>
                  <a:pt x="5486400" y="914400"/>
                </a:cubicBezTo>
                <a:lnTo>
                  <a:pt x="114300" y="914400"/>
                </a:lnTo>
                <a:cubicBezTo>
                  <a:pt x="51216" y="914400"/>
                  <a:pt x="0" y="863184"/>
                  <a:pt x="0" y="8001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0A4"/>
              </a:gs>
              <a:gs pos="100000">
                <a:srgbClr val="1A3A5C"/>
              </a:gs>
            </a:gsLst>
            <a:lin ang="0" scaled="1"/>
          </a:gradFill>
          <a:ln/>
        </p:spPr>
      </p:sp>
      <p:sp>
        <p:nvSpPr>
          <p:cNvPr id="24" name="Shape 22"/>
          <p:cNvSpPr/>
          <p:nvPr/>
        </p:nvSpPr>
        <p:spPr>
          <a:xfrm>
            <a:off x="600075" y="6286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25" name="Text 23"/>
          <p:cNvSpPr/>
          <p:nvPr/>
        </p:nvSpPr>
        <p:spPr>
          <a:xfrm>
            <a:off x="971550" y="6191250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Vaqt</a:t>
            </a: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200" b="1" dirty="0" smtClean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</a:t>
            </a:r>
            <a:r>
              <a:rPr lang="en-US" sz="1200" b="1" dirty="0" err="1" smtClean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ejamkorligi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71550" y="6419850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Loyiha yozish vaqti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86206" y="6134100"/>
            <a:ext cx="904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D4A5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-80%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62406" y="6477000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Tezlashtirish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0300" y="1447800"/>
            <a:ext cx="5600700" cy="4305300"/>
          </a:xfrm>
          <a:custGeom>
            <a:avLst/>
            <a:gdLst/>
            <a:ahLst/>
            <a:cxnLst/>
            <a:rect l="l" t="t" r="r" b="b"/>
            <a:pathLst>
              <a:path w="5600700" h="43053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4190994"/>
                </a:lnTo>
                <a:cubicBezTo>
                  <a:pt x="5600700" y="4254124"/>
                  <a:pt x="5549524" y="4305300"/>
                  <a:pt x="5486394" y="4305300"/>
                </a:cubicBezTo>
                <a:lnTo>
                  <a:pt x="114306" y="4305300"/>
                </a:lnTo>
                <a:cubicBezTo>
                  <a:pt x="51176" y="4305300"/>
                  <a:pt x="0" y="4254124"/>
                  <a:pt x="0" y="419099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0300" y="1447800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31" name="Shape 29"/>
          <p:cNvSpPr/>
          <p:nvPr/>
        </p:nvSpPr>
        <p:spPr>
          <a:xfrm>
            <a:off x="6438900" y="16954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32" name="Shape 30"/>
          <p:cNvSpPr/>
          <p:nvPr/>
        </p:nvSpPr>
        <p:spPr>
          <a:xfrm>
            <a:off x="6629400" y="1885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7200900" y="1847850"/>
            <a:ext cx="171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Compliance Bot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38900" y="2457450"/>
            <a:ext cx="5219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Shartnomalar muddatini </a:t>
            </a:r>
            <a:r>
              <a:rPr lang="en-US" sz="1200" b="1" dirty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avtomatik nazorat</a:t>
            </a: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qiladi, eslatmalar yuboradi va hujjatlar holatini real vaqt rejimida kuzatib boradi.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38900" y="3105150"/>
            <a:ext cx="5143500" cy="647700"/>
          </a:xfrm>
          <a:custGeom>
            <a:avLst/>
            <a:gdLst/>
            <a:ahLst/>
            <a:cxnLst/>
            <a:rect l="l" t="t" r="r" b="b"/>
            <a:pathLst>
              <a:path w="5143500" h="647700">
                <a:moveTo>
                  <a:pt x="76202" y="0"/>
                </a:moveTo>
                <a:lnTo>
                  <a:pt x="5067298" y="0"/>
                </a:lnTo>
                <a:cubicBezTo>
                  <a:pt x="5109383" y="0"/>
                  <a:pt x="5143500" y="34117"/>
                  <a:pt x="5143500" y="76202"/>
                </a:cubicBezTo>
                <a:lnTo>
                  <a:pt x="5143500" y="571498"/>
                </a:lnTo>
                <a:cubicBezTo>
                  <a:pt x="5143500" y="613583"/>
                  <a:pt x="5109383" y="647700"/>
                  <a:pt x="50672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D4A574">
              <a:alpha val="5098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588919" y="33337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0"/>
                </a:moveTo>
                <a:cubicBezTo>
                  <a:pt x="76758" y="0"/>
                  <a:pt x="71438" y="5321"/>
                  <a:pt x="71438" y="11906"/>
                </a:cubicBezTo>
                <a:lnTo>
                  <a:pt x="71438" y="13097"/>
                </a:lnTo>
                <a:cubicBezTo>
                  <a:pt x="44276" y="18604"/>
                  <a:pt x="23812" y="42639"/>
                  <a:pt x="23812" y="71438"/>
                </a:cubicBezTo>
                <a:lnTo>
                  <a:pt x="23812" y="79511"/>
                </a:lnTo>
                <a:cubicBezTo>
                  <a:pt x="23812" y="97408"/>
                  <a:pt x="17711" y="114784"/>
                  <a:pt x="6548" y="128774"/>
                </a:cubicBezTo>
                <a:lnTo>
                  <a:pt x="2902" y="133313"/>
                </a:lnTo>
                <a:cubicBezTo>
                  <a:pt x="1005" y="135657"/>
                  <a:pt x="0" y="138559"/>
                  <a:pt x="0" y="141573"/>
                </a:cubicBezTo>
                <a:cubicBezTo>
                  <a:pt x="0" y="148865"/>
                  <a:pt x="5916" y="154781"/>
                  <a:pt x="13208" y="154781"/>
                </a:cubicBezTo>
                <a:lnTo>
                  <a:pt x="153442" y="154781"/>
                </a:lnTo>
                <a:cubicBezTo>
                  <a:pt x="160734" y="154781"/>
                  <a:pt x="166650" y="148865"/>
                  <a:pt x="166650" y="141573"/>
                </a:cubicBezTo>
                <a:cubicBezTo>
                  <a:pt x="166650" y="138559"/>
                  <a:pt x="165646" y="135657"/>
                  <a:pt x="163748" y="133313"/>
                </a:cubicBezTo>
                <a:lnTo>
                  <a:pt x="160102" y="128774"/>
                </a:lnTo>
                <a:cubicBezTo>
                  <a:pt x="148977" y="114784"/>
                  <a:pt x="142875" y="97408"/>
                  <a:pt x="142875" y="79511"/>
                </a:cubicBezTo>
                <a:lnTo>
                  <a:pt x="142875" y="71438"/>
                </a:lnTo>
                <a:cubicBezTo>
                  <a:pt x="142875" y="42639"/>
                  <a:pt x="122411" y="18604"/>
                  <a:pt x="95250" y="13097"/>
                </a:cubicBezTo>
                <a:lnTo>
                  <a:pt x="95250" y="11906"/>
                </a:lnTo>
                <a:cubicBezTo>
                  <a:pt x="95250" y="5321"/>
                  <a:pt x="89929" y="0"/>
                  <a:pt x="83344" y="0"/>
                </a:cubicBezTo>
                <a:close/>
                <a:moveTo>
                  <a:pt x="60275" y="172641"/>
                </a:moveTo>
                <a:cubicBezTo>
                  <a:pt x="62917" y="182910"/>
                  <a:pt x="72256" y="190500"/>
                  <a:pt x="83344" y="190500"/>
                </a:cubicBezTo>
                <a:cubicBezTo>
                  <a:pt x="94431" y="190500"/>
                  <a:pt x="103770" y="182910"/>
                  <a:pt x="106412" y="172641"/>
                </a:cubicBezTo>
                <a:lnTo>
                  <a:pt x="60275" y="172641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37" name="Text 35"/>
          <p:cNvSpPr/>
          <p:nvPr/>
        </p:nvSpPr>
        <p:spPr>
          <a:xfrm>
            <a:off x="6905625" y="321945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 err="1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Avtomatik</a:t>
            </a:r>
            <a:r>
              <a:rPr lang="en-US" sz="1200" b="1" dirty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200" b="1" dirty="0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</a:t>
            </a:r>
            <a:r>
              <a:rPr lang="en-US" sz="1200" b="1" dirty="0" err="1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slatmalar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05625" y="3448050"/>
            <a:ext cx="242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Muddatdan 30, 15 va 7 kun oldin xabar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38900" y="3867150"/>
            <a:ext cx="5143500" cy="647700"/>
          </a:xfrm>
          <a:custGeom>
            <a:avLst/>
            <a:gdLst/>
            <a:ahLst/>
            <a:cxnLst/>
            <a:rect l="l" t="t" r="r" b="b"/>
            <a:pathLst>
              <a:path w="5143500" h="647700">
                <a:moveTo>
                  <a:pt x="76202" y="0"/>
                </a:moveTo>
                <a:lnTo>
                  <a:pt x="5067298" y="0"/>
                </a:lnTo>
                <a:cubicBezTo>
                  <a:pt x="5109383" y="0"/>
                  <a:pt x="5143500" y="34117"/>
                  <a:pt x="5143500" y="76202"/>
                </a:cubicBezTo>
                <a:lnTo>
                  <a:pt x="5143500" y="571498"/>
                </a:lnTo>
                <a:cubicBezTo>
                  <a:pt x="5143500" y="613583"/>
                  <a:pt x="5109383" y="647700"/>
                  <a:pt x="50672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D4A574">
              <a:alpha val="5098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565106" y="40957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41" name="Text 39"/>
          <p:cNvSpPr/>
          <p:nvPr/>
        </p:nvSpPr>
        <p:spPr>
          <a:xfrm>
            <a:off x="6905625" y="398145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 </a:t>
            </a:r>
            <a:r>
              <a:rPr lang="uz-Latn-UZ" sz="1200" b="1" dirty="0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</a:t>
            </a:r>
            <a:r>
              <a:rPr lang="en-US" sz="1200" b="1" dirty="0" err="1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aqt</a:t>
            </a:r>
            <a:r>
              <a:rPr lang="en-US" sz="1200" b="1" dirty="0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200" b="1" dirty="0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</a:t>
            </a:r>
            <a:r>
              <a:rPr lang="en-US" sz="1200" b="1" dirty="0" err="1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ashboard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05625" y="421005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Barcha hujjatlar holatini bir joyda ko'rish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38900" y="4629150"/>
            <a:ext cx="5143500" cy="647700"/>
          </a:xfrm>
          <a:custGeom>
            <a:avLst/>
            <a:gdLst/>
            <a:ahLst/>
            <a:cxnLst/>
            <a:rect l="l" t="t" r="r" b="b"/>
            <a:pathLst>
              <a:path w="5143500" h="647700">
                <a:moveTo>
                  <a:pt x="76202" y="0"/>
                </a:moveTo>
                <a:lnTo>
                  <a:pt x="5067298" y="0"/>
                </a:lnTo>
                <a:cubicBezTo>
                  <a:pt x="5109383" y="0"/>
                  <a:pt x="5143500" y="34117"/>
                  <a:pt x="5143500" y="76202"/>
                </a:cubicBezTo>
                <a:lnTo>
                  <a:pt x="5143500" y="571498"/>
                </a:lnTo>
                <a:cubicBezTo>
                  <a:pt x="5143500" y="613583"/>
                  <a:pt x="5109383" y="647700"/>
                  <a:pt x="50672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D4A574">
              <a:alpha val="5098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577013" y="4857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45" name="Text 43"/>
          <p:cNvSpPr/>
          <p:nvPr/>
        </p:nvSpPr>
        <p:spPr>
          <a:xfrm>
            <a:off x="6905625" y="4743450"/>
            <a:ext cx="2276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 err="1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Vazifalar</a:t>
            </a:r>
            <a:r>
              <a:rPr lang="en-US" sz="1200" b="1" dirty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200" b="1" dirty="0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</a:t>
            </a:r>
            <a:r>
              <a:rPr lang="en-US" sz="1200" b="1" dirty="0" err="1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oshqaruvi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905625" y="4972050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Kerakli harakatlar uchun topshiriqlar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10300" y="5943600"/>
            <a:ext cx="5600700" cy="914400"/>
          </a:xfrm>
          <a:custGeom>
            <a:avLst/>
            <a:gdLst/>
            <a:ahLst/>
            <a:cxnLst/>
            <a:rect l="l" t="t" r="r" b="b"/>
            <a:pathLst>
              <a:path w="5600700" h="914400">
                <a:moveTo>
                  <a:pt x="114300" y="0"/>
                </a:moveTo>
                <a:lnTo>
                  <a:pt x="5486400" y="0"/>
                </a:lnTo>
                <a:cubicBezTo>
                  <a:pt x="5549484" y="0"/>
                  <a:pt x="5600700" y="51216"/>
                  <a:pt x="5600700" y="114300"/>
                </a:cubicBezTo>
                <a:lnTo>
                  <a:pt x="5600700" y="800100"/>
                </a:lnTo>
                <a:cubicBezTo>
                  <a:pt x="5600700" y="863184"/>
                  <a:pt x="5549484" y="914400"/>
                  <a:pt x="5486400" y="914400"/>
                </a:cubicBezTo>
                <a:lnTo>
                  <a:pt x="114300" y="914400"/>
                </a:lnTo>
                <a:cubicBezTo>
                  <a:pt x="51216" y="914400"/>
                  <a:pt x="0" y="863184"/>
                  <a:pt x="0" y="8001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574"/>
              </a:gs>
              <a:gs pos="100000">
                <a:srgbClr val="4A90A4"/>
              </a:gs>
            </a:gsLst>
            <a:lin ang="0" scaled="1"/>
          </a:gradFill>
          <a:ln/>
        </p:spPr>
      </p:sp>
      <p:sp>
        <p:nvSpPr>
          <p:cNvPr id="48" name="Shape 46"/>
          <p:cNvSpPr/>
          <p:nvPr/>
        </p:nvSpPr>
        <p:spPr>
          <a:xfrm>
            <a:off x="6457950" y="62865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11576" y="29825"/>
                </a:moveTo>
                <a:cubicBezTo>
                  <a:pt x="116220" y="23440"/>
                  <a:pt x="114791" y="14511"/>
                  <a:pt x="108406" y="9867"/>
                </a:cubicBezTo>
                <a:cubicBezTo>
                  <a:pt x="102022" y="5224"/>
                  <a:pt x="93092" y="6653"/>
                  <a:pt x="88449" y="13037"/>
                </a:cubicBezTo>
                <a:lnTo>
                  <a:pt x="41121" y="78090"/>
                </a:lnTo>
                <a:lnTo>
                  <a:pt x="24378" y="61347"/>
                </a:lnTo>
                <a:cubicBezTo>
                  <a:pt x="18797" y="55766"/>
                  <a:pt x="9733" y="55766"/>
                  <a:pt x="4152" y="61347"/>
                </a:cubicBezTo>
                <a:cubicBezTo>
                  <a:pt x="-1429" y="66928"/>
                  <a:pt x="-1429" y="75992"/>
                  <a:pt x="4152" y="81573"/>
                </a:cubicBezTo>
                <a:lnTo>
                  <a:pt x="32727" y="110148"/>
                </a:lnTo>
                <a:cubicBezTo>
                  <a:pt x="35674" y="113094"/>
                  <a:pt x="39782" y="114613"/>
                  <a:pt x="43934" y="114300"/>
                </a:cubicBezTo>
                <a:cubicBezTo>
                  <a:pt x="48086" y="113987"/>
                  <a:pt x="51926" y="111844"/>
                  <a:pt x="54382" y="108451"/>
                </a:cubicBezTo>
                <a:lnTo>
                  <a:pt x="111532" y="29870"/>
                </a:lnTo>
                <a:close/>
                <a:moveTo>
                  <a:pt x="168726" y="90547"/>
                </a:moveTo>
                <a:cubicBezTo>
                  <a:pt x="173370" y="84162"/>
                  <a:pt x="171941" y="75233"/>
                  <a:pt x="165556" y="70589"/>
                </a:cubicBezTo>
                <a:cubicBezTo>
                  <a:pt x="159172" y="65946"/>
                  <a:pt x="150242" y="67374"/>
                  <a:pt x="145599" y="73759"/>
                </a:cubicBezTo>
                <a:lnTo>
                  <a:pt x="69696" y="178103"/>
                </a:lnTo>
                <a:lnTo>
                  <a:pt x="38666" y="147072"/>
                </a:lnTo>
                <a:cubicBezTo>
                  <a:pt x="33084" y="141491"/>
                  <a:pt x="24021" y="141491"/>
                  <a:pt x="18440" y="147072"/>
                </a:cubicBezTo>
                <a:cubicBezTo>
                  <a:pt x="12859" y="152653"/>
                  <a:pt x="12859" y="161717"/>
                  <a:pt x="18440" y="167298"/>
                </a:cubicBezTo>
                <a:lnTo>
                  <a:pt x="61302" y="210160"/>
                </a:lnTo>
                <a:cubicBezTo>
                  <a:pt x="64249" y="213107"/>
                  <a:pt x="68357" y="214625"/>
                  <a:pt x="72509" y="214313"/>
                </a:cubicBezTo>
                <a:cubicBezTo>
                  <a:pt x="76661" y="214000"/>
                  <a:pt x="80501" y="211857"/>
                  <a:pt x="82957" y="208464"/>
                </a:cubicBezTo>
                <a:lnTo>
                  <a:pt x="168682" y="9059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6800850" y="6191250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Nazorat</a:t>
            </a: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200" b="1" dirty="0" smtClean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</a:t>
            </a:r>
            <a:r>
              <a:rPr lang="en-US" sz="1200" b="1" dirty="0" err="1" smtClean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niqligi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00850" y="6419850"/>
            <a:ext cx="131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Hujjatlar monitoringi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772656" y="6134100"/>
            <a:ext cx="847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848856" y="6477000"/>
            <a:ext cx="771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Qamrov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boomi.com/ed050fae743e94ef41302d39e0e62283c6c15ad4.jpg"/>
          <p:cNvPicPr>
            <a:picLocks noChangeAspect="1"/>
          </p:cNvPicPr>
          <p:nvPr/>
        </p:nvPicPr>
        <p:blipFill>
          <a:blip r:embed="rId3"/>
          <a:srcRect t="7834" b="783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3A5C">
                  <a:alpha val="90000"/>
                </a:srgbClr>
              </a:gs>
              <a:gs pos="50000">
                <a:srgbClr val="4A90A4">
                  <a:alpha val="85000"/>
                </a:srgbClr>
              </a:gs>
              <a:gs pos="100000">
                <a:srgbClr val="D4A574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241965" y="1143000"/>
            <a:ext cx="1704975" cy="533400"/>
          </a:xfrm>
          <a:custGeom>
            <a:avLst/>
            <a:gdLst/>
            <a:ahLst/>
            <a:cxnLst/>
            <a:rect l="l" t="t" r="r" b="b"/>
            <a:pathLst>
              <a:path w="1704975" h="533400">
                <a:moveTo>
                  <a:pt x="266700" y="0"/>
                </a:moveTo>
                <a:lnTo>
                  <a:pt x="1438275" y="0"/>
                </a:lnTo>
                <a:cubicBezTo>
                  <a:pt x="1585471" y="0"/>
                  <a:pt x="1704975" y="119504"/>
                  <a:pt x="1704975" y="266700"/>
                </a:cubicBezTo>
                <a:lnTo>
                  <a:pt x="1704975" y="266700"/>
                </a:lnTo>
                <a:cubicBezTo>
                  <a:pt x="1704975" y="413896"/>
                  <a:pt x="1585471" y="533400"/>
                  <a:pt x="1438275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5" name="Text 2"/>
          <p:cNvSpPr/>
          <p:nvPr/>
        </p:nvSpPr>
        <p:spPr>
          <a:xfrm>
            <a:off x="5184815" y="1143000"/>
            <a:ext cx="1819275" cy="533400"/>
          </a:xfrm>
          <a:prstGeom prst="rect">
            <a:avLst/>
          </a:prstGeom>
          <a:noFill/>
          <a:ln/>
        </p:spPr>
        <p:txBody>
          <a:bodyPr wrap="square" lIns="304800" tIns="114300" rIns="304800" bIns="11430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BO'LIM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566869" y="1981084"/>
            <a:ext cx="705802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Iqtisodiy</a:t>
            </a:r>
            <a:r>
              <a:rPr lang="en-US" sz="5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uz-Latn-UZ" sz="5400" b="1" dirty="0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</a:t>
            </a:r>
            <a:r>
              <a:rPr lang="en-US" sz="5400" b="1" dirty="0" err="1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amaradorlik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3066934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8" name="Text 5"/>
          <p:cNvSpPr/>
          <p:nvPr/>
        </p:nvSpPr>
        <p:spPr>
          <a:xfrm>
            <a:off x="3247430" y="3428884"/>
            <a:ext cx="5695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 err="1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Investitsiya</a:t>
            </a:r>
            <a:r>
              <a:rPr lang="en-US" sz="2250" b="1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2250" b="1" dirty="0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</a:t>
            </a:r>
            <a:r>
              <a:rPr lang="en-US" sz="2250" b="1" dirty="0" err="1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ahlili</a:t>
            </a:r>
            <a:r>
              <a:rPr lang="en-US" sz="2250" b="1" dirty="0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250" b="1" dirty="0" err="1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</a:t>
            </a:r>
            <a:r>
              <a:rPr lang="en-US" sz="2250" b="1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2250" b="1" dirty="0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</a:t>
            </a:r>
            <a:r>
              <a:rPr lang="en-US" sz="2250" b="1" dirty="0" err="1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utilayotgan</a:t>
            </a:r>
            <a:r>
              <a:rPr lang="en-US" sz="2250" b="1" dirty="0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2250" b="1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r>
              <a:rPr lang="en-US" sz="2250" b="1" dirty="0" err="1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atijalar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338274" y="4228984"/>
            <a:ext cx="1066800" cy="1066800"/>
          </a:xfrm>
          <a:custGeom>
            <a:avLst/>
            <a:gdLst/>
            <a:ahLst/>
            <a:cxnLst/>
            <a:rect l="l" t="t" r="r" b="b"/>
            <a:pathLst>
              <a:path w="1066800" h="1066800">
                <a:moveTo>
                  <a:pt x="533400" y="0"/>
                </a:moveTo>
                <a:lnTo>
                  <a:pt x="533400" y="0"/>
                </a:lnTo>
                <a:cubicBezTo>
                  <a:pt x="827791" y="0"/>
                  <a:pt x="1066800" y="239009"/>
                  <a:pt x="1066800" y="533400"/>
                </a:cubicBezTo>
                <a:lnTo>
                  <a:pt x="1066800" y="533400"/>
                </a:lnTo>
                <a:cubicBezTo>
                  <a:pt x="1066800" y="827791"/>
                  <a:pt x="827791" y="1066800"/>
                  <a:pt x="533400" y="1066800"/>
                </a:cubicBezTo>
                <a:lnTo>
                  <a:pt x="533400" y="1066800"/>
                </a:lnTo>
                <a:cubicBezTo>
                  <a:pt x="239009" y="1066800"/>
                  <a:pt x="0" y="827791"/>
                  <a:pt x="0" y="533400"/>
                </a:cubicBezTo>
                <a:lnTo>
                  <a:pt x="0" y="533400"/>
                </a:lnTo>
                <a:cubicBezTo>
                  <a:pt x="0" y="239009"/>
                  <a:pt x="239009" y="0"/>
                  <a:pt x="5334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3475077" y="4571884"/>
            <a:ext cx="790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D4A5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$5K</a:t>
            </a:r>
            <a:endParaRPr lang="en-US" sz="1600" b="1" dirty="0"/>
          </a:p>
        </p:txBody>
      </p:sp>
      <p:sp>
        <p:nvSpPr>
          <p:cNvPr id="11" name="Text 8"/>
          <p:cNvSpPr/>
          <p:nvPr/>
        </p:nvSpPr>
        <p:spPr>
          <a:xfrm>
            <a:off x="2864287" y="5448184"/>
            <a:ext cx="2019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Boshlang'ich</a:t>
            </a: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500" b="1" dirty="0" smtClean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</a:t>
            </a:r>
            <a:r>
              <a:rPr lang="en-US" sz="1500" b="1" dirty="0" err="1" smtClean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armoya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562600" y="4228984"/>
            <a:ext cx="1066800" cy="1066800"/>
          </a:xfrm>
          <a:custGeom>
            <a:avLst/>
            <a:gdLst/>
            <a:ahLst/>
            <a:cxnLst/>
            <a:rect l="l" t="t" r="r" b="b"/>
            <a:pathLst>
              <a:path w="1066800" h="1066800">
                <a:moveTo>
                  <a:pt x="533400" y="0"/>
                </a:moveTo>
                <a:lnTo>
                  <a:pt x="533400" y="0"/>
                </a:lnTo>
                <a:cubicBezTo>
                  <a:pt x="827791" y="0"/>
                  <a:pt x="1066800" y="239009"/>
                  <a:pt x="1066800" y="533400"/>
                </a:cubicBezTo>
                <a:lnTo>
                  <a:pt x="1066800" y="533400"/>
                </a:lnTo>
                <a:cubicBezTo>
                  <a:pt x="1066800" y="827791"/>
                  <a:pt x="827791" y="1066800"/>
                  <a:pt x="533400" y="1066800"/>
                </a:cubicBezTo>
                <a:lnTo>
                  <a:pt x="533400" y="1066800"/>
                </a:lnTo>
                <a:cubicBezTo>
                  <a:pt x="239009" y="1066800"/>
                  <a:pt x="0" y="827791"/>
                  <a:pt x="0" y="533400"/>
                </a:cubicBezTo>
                <a:lnTo>
                  <a:pt x="0" y="533400"/>
                </a:lnTo>
                <a:cubicBezTo>
                  <a:pt x="0" y="239009"/>
                  <a:pt x="239009" y="0"/>
                  <a:pt x="5334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5416153" y="4571884"/>
            <a:ext cx="1362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D4A5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$100K+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88612" y="5448184"/>
            <a:ext cx="2019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Yillik</a:t>
            </a: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500" b="1" dirty="0" smtClean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</a:t>
            </a:r>
            <a:r>
              <a:rPr lang="en-US" sz="1500" b="1" dirty="0" err="1" smtClean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aromad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786926" y="4228984"/>
            <a:ext cx="1066800" cy="1066800"/>
          </a:xfrm>
          <a:custGeom>
            <a:avLst/>
            <a:gdLst/>
            <a:ahLst/>
            <a:cxnLst/>
            <a:rect l="l" t="t" r="r" b="b"/>
            <a:pathLst>
              <a:path w="1066800" h="1066800">
                <a:moveTo>
                  <a:pt x="533400" y="0"/>
                </a:moveTo>
                <a:lnTo>
                  <a:pt x="533400" y="0"/>
                </a:lnTo>
                <a:cubicBezTo>
                  <a:pt x="827791" y="0"/>
                  <a:pt x="1066800" y="239009"/>
                  <a:pt x="1066800" y="533400"/>
                </a:cubicBezTo>
                <a:lnTo>
                  <a:pt x="1066800" y="533400"/>
                </a:lnTo>
                <a:cubicBezTo>
                  <a:pt x="1066800" y="827791"/>
                  <a:pt x="827791" y="1066800"/>
                  <a:pt x="533400" y="1066800"/>
                </a:cubicBezTo>
                <a:lnTo>
                  <a:pt x="533400" y="1066800"/>
                </a:lnTo>
                <a:cubicBezTo>
                  <a:pt x="239009" y="1066800"/>
                  <a:pt x="0" y="827791"/>
                  <a:pt x="0" y="533400"/>
                </a:cubicBezTo>
                <a:lnTo>
                  <a:pt x="0" y="533400"/>
                </a:lnTo>
                <a:cubicBezTo>
                  <a:pt x="0" y="239009"/>
                  <a:pt x="239009" y="0"/>
                  <a:pt x="5334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7897654" y="4571884"/>
            <a:ext cx="847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D4A5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70%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312938" y="5448184"/>
            <a:ext cx="2019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Vaqt</a:t>
            </a: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500" b="1" dirty="0" smtClean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</a:t>
            </a:r>
            <a:r>
              <a:rPr lang="en-US" sz="1500" b="1" dirty="0" err="1" smtClean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ejamkorligi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382" y="345382"/>
            <a:ext cx="11570312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kern="0" spc="109" dirty="0">
                <a:solidFill>
                  <a:srgbClr val="4A90A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MOLIYAVIY TAHLIL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5382" y="621688"/>
            <a:ext cx="11656657" cy="345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48" b="1" dirty="0" err="1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Moliyaviy</a:t>
            </a:r>
            <a:r>
              <a:rPr lang="en-US" sz="2448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uz-Latn-UZ" sz="2448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</a:t>
            </a:r>
            <a:r>
              <a:rPr lang="en-US" sz="2448" b="1" dirty="0" err="1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o'rsatkichlar</a:t>
            </a:r>
            <a:r>
              <a:rPr lang="en-US" sz="2448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448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 ROI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5382" y="1070686"/>
            <a:ext cx="690765" cy="51807"/>
          </a:xfrm>
          <a:custGeom>
            <a:avLst/>
            <a:gdLst/>
            <a:ahLst/>
            <a:cxnLst/>
            <a:rect l="l" t="t" r="r" b="b"/>
            <a:pathLst>
              <a:path w="690765" h="51807">
                <a:moveTo>
                  <a:pt x="0" y="0"/>
                </a:moveTo>
                <a:lnTo>
                  <a:pt x="690765" y="0"/>
                </a:lnTo>
                <a:lnTo>
                  <a:pt x="690765" y="51807"/>
                </a:lnTo>
                <a:lnTo>
                  <a:pt x="0" y="51807"/>
                </a:lnTo>
                <a:lnTo>
                  <a:pt x="0" y="0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5" name="Shape 3"/>
          <p:cNvSpPr/>
          <p:nvPr/>
        </p:nvSpPr>
        <p:spPr>
          <a:xfrm>
            <a:off x="345382" y="1277915"/>
            <a:ext cx="2426312" cy="1640567"/>
          </a:xfrm>
          <a:custGeom>
            <a:avLst/>
            <a:gdLst/>
            <a:ahLst/>
            <a:cxnLst/>
            <a:rect l="l" t="t" r="r" b="b"/>
            <a:pathLst>
              <a:path w="2426312" h="1640567">
                <a:moveTo>
                  <a:pt x="34538" y="0"/>
                </a:moveTo>
                <a:lnTo>
                  <a:pt x="2391773" y="0"/>
                </a:lnTo>
                <a:cubicBezTo>
                  <a:pt x="2410848" y="0"/>
                  <a:pt x="2426312" y="15463"/>
                  <a:pt x="2426312" y="34538"/>
                </a:cubicBezTo>
                <a:lnTo>
                  <a:pt x="2426312" y="1536948"/>
                </a:lnTo>
                <a:cubicBezTo>
                  <a:pt x="2426312" y="1594175"/>
                  <a:pt x="2379920" y="1640567"/>
                  <a:pt x="2322693" y="1640567"/>
                </a:cubicBezTo>
                <a:lnTo>
                  <a:pt x="103618" y="1640567"/>
                </a:lnTo>
                <a:cubicBezTo>
                  <a:pt x="46391" y="1640567"/>
                  <a:pt x="0" y="1594175"/>
                  <a:pt x="0" y="1536948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9518" dist="8634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5382" y="1277915"/>
            <a:ext cx="2426312" cy="34538"/>
          </a:xfrm>
          <a:custGeom>
            <a:avLst/>
            <a:gdLst/>
            <a:ahLst/>
            <a:cxnLst/>
            <a:rect l="l" t="t" r="r" b="b"/>
            <a:pathLst>
              <a:path w="2426312" h="34538">
                <a:moveTo>
                  <a:pt x="34538" y="0"/>
                </a:moveTo>
                <a:lnTo>
                  <a:pt x="2391773" y="0"/>
                </a:lnTo>
                <a:cubicBezTo>
                  <a:pt x="2410848" y="0"/>
                  <a:pt x="2426312" y="15463"/>
                  <a:pt x="2426312" y="34538"/>
                </a:cubicBezTo>
                <a:lnTo>
                  <a:pt x="2426312" y="34538"/>
                </a:lnTo>
                <a:lnTo>
                  <a:pt x="0" y="34538"/>
                </a:ln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7" name="Shape 5"/>
          <p:cNvSpPr/>
          <p:nvPr/>
        </p:nvSpPr>
        <p:spPr>
          <a:xfrm>
            <a:off x="1315799" y="1467875"/>
            <a:ext cx="483535" cy="483535"/>
          </a:xfrm>
          <a:custGeom>
            <a:avLst/>
            <a:gdLst/>
            <a:ahLst/>
            <a:cxnLst/>
            <a:rect l="l" t="t" r="r" b="b"/>
            <a:pathLst>
              <a:path w="483535" h="483535">
                <a:moveTo>
                  <a:pt x="241768" y="0"/>
                </a:moveTo>
                <a:lnTo>
                  <a:pt x="241768" y="0"/>
                </a:lnTo>
                <a:cubicBezTo>
                  <a:pt x="375203" y="0"/>
                  <a:pt x="483535" y="108332"/>
                  <a:pt x="483535" y="241768"/>
                </a:cubicBezTo>
                <a:lnTo>
                  <a:pt x="483535" y="241768"/>
                </a:lnTo>
                <a:cubicBezTo>
                  <a:pt x="483535" y="375203"/>
                  <a:pt x="375203" y="483535"/>
                  <a:pt x="241768" y="483535"/>
                </a:cubicBezTo>
                <a:lnTo>
                  <a:pt x="241768" y="483535"/>
                </a:lnTo>
                <a:cubicBezTo>
                  <a:pt x="108332" y="483535"/>
                  <a:pt x="0" y="375203"/>
                  <a:pt x="0" y="241768"/>
                </a:cubicBezTo>
                <a:lnTo>
                  <a:pt x="0" y="241768"/>
                </a:lnTo>
                <a:cubicBezTo>
                  <a:pt x="0" y="108332"/>
                  <a:pt x="108332" y="0"/>
                  <a:pt x="241768" y="0"/>
                </a:cubicBezTo>
                <a:close/>
              </a:path>
            </a:pathLst>
          </a:custGeom>
          <a:solidFill>
            <a:srgbClr val="1A3A5C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92808" y="1606028"/>
            <a:ext cx="129518" cy="207229"/>
          </a:xfrm>
          <a:custGeom>
            <a:avLst/>
            <a:gdLst/>
            <a:ahLst/>
            <a:cxnLst/>
            <a:rect l="l" t="t" r="r" b="b"/>
            <a:pathLst>
              <a:path w="129518" h="207229">
                <a:moveTo>
                  <a:pt x="55045" y="9714"/>
                </a:moveTo>
                <a:cubicBezTo>
                  <a:pt x="55045" y="4331"/>
                  <a:pt x="59376" y="0"/>
                  <a:pt x="64759" y="0"/>
                </a:cubicBezTo>
                <a:cubicBezTo>
                  <a:pt x="70142" y="0"/>
                  <a:pt x="74473" y="4331"/>
                  <a:pt x="74473" y="9714"/>
                </a:cubicBezTo>
                <a:lnTo>
                  <a:pt x="74473" y="25904"/>
                </a:lnTo>
                <a:lnTo>
                  <a:pt x="97139" y="25904"/>
                </a:lnTo>
                <a:cubicBezTo>
                  <a:pt x="104303" y="25904"/>
                  <a:pt x="110091" y="31692"/>
                  <a:pt x="110091" y="38856"/>
                </a:cubicBezTo>
                <a:cubicBezTo>
                  <a:pt x="110091" y="46020"/>
                  <a:pt x="104303" y="51807"/>
                  <a:pt x="97139" y="51807"/>
                </a:cubicBezTo>
                <a:lnTo>
                  <a:pt x="50634" y="51807"/>
                </a:lnTo>
                <a:cubicBezTo>
                  <a:pt x="40555" y="51807"/>
                  <a:pt x="32380" y="59983"/>
                  <a:pt x="32380" y="70061"/>
                </a:cubicBezTo>
                <a:cubicBezTo>
                  <a:pt x="32380" y="79168"/>
                  <a:pt x="39058" y="86858"/>
                  <a:pt x="48043" y="88153"/>
                </a:cubicBezTo>
                <a:lnTo>
                  <a:pt x="85118" y="93456"/>
                </a:lnTo>
                <a:cubicBezTo>
                  <a:pt x="106893" y="96572"/>
                  <a:pt x="123042" y="115190"/>
                  <a:pt x="123042" y="137168"/>
                </a:cubicBezTo>
                <a:cubicBezTo>
                  <a:pt x="123042" y="161574"/>
                  <a:pt x="103250" y="181326"/>
                  <a:pt x="78885" y="181326"/>
                </a:cubicBezTo>
                <a:lnTo>
                  <a:pt x="74473" y="181326"/>
                </a:lnTo>
                <a:lnTo>
                  <a:pt x="74473" y="197516"/>
                </a:lnTo>
                <a:cubicBezTo>
                  <a:pt x="74473" y="202899"/>
                  <a:pt x="70142" y="207229"/>
                  <a:pt x="64759" y="207229"/>
                </a:cubicBezTo>
                <a:cubicBezTo>
                  <a:pt x="59376" y="207229"/>
                  <a:pt x="55045" y="202899"/>
                  <a:pt x="55045" y="197516"/>
                </a:cubicBezTo>
                <a:lnTo>
                  <a:pt x="55045" y="181326"/>
                </a:lnTo>
                <a:lnTo>
                  <a:pt x="25904" y="181326"/>
                </a:lnTo>
                <a:cubicBezTo>
                  <a:pt x="18740" y="181326"/>
                  <a:pt x="12952" y="175538"/>
                  <a:pt x="12952" y="168374"/>
                </a:cubicBezTo>
                <a:cubicBezTo>
                  <a:pt x="12952" y="161210"/>
                  <a:pt x="18740" y="155422"/>
                  <a:pt x="25904" y="155422"/>
                </a:cubicBezTo>
                <a:lnTo>
                  <a:pt x="78885" y="155422"/>
                </a:lnTo>
                <a:cubicBezTo>
                  <a:pt x="88963" y="155422"/>
                  <a:pt x="97139" y="147246"/>
                  <a:pt x="97139" y="137168"/>
                </a:cubicBezTo>
                <a:cubicBezTo>
                  <a:pt x="97139" y="128061"/>
                  <a:pt x="90461" y="120371"/>
                  <a:pt x="81475" y="119076"/>
                </a:cubicBezTo>
                <a:lnTo>
                  <a:pt x="44401" y="113774"/>
                </a:lnTo>
                <a:cubicBezTo>
                  <a:pt x="22625" y="110698"/>
                  <a:pt x="6476" y="92039"/>
                  <a:pt x="6476" y="70061"/>
                </a:cubicBezTo>
                <a:cubicBezTo>
                  <a:pt x="6476" y="45696"/>
                  <a:pt x="26268" y="25904"/>
                  <a:pt x="50634" y="25904"/>
                </a:cubicBezTo>
                <a:lnTo>
                  <a:pt x="55045" y="25904"/>
                </a:lnTo>
                <a:lnTo>
                  <a:pt x="55045" y="9714"/>
                </a:ln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9" name="Text 7"/>
          <p:cNvSpPr/>
          <p:nvPr/>
        </p:nvSpPr>
        <p:spPr>
          <a:xfrm>
            <a:off x="487853" y="2055025"/>
            <a:ext cx="2141371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2" dirty="0" err="1">
                <a:solidFill>
                  <a:srgbClr val="6C7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Loyiha</a:t>
            </a:r>
            <a:r>
              <a:rPr lang="en-US" sz="952" dirty="0">
                <a:solidFill>
                  <a:srgbClr val="6C7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952" dirty="0" smtClean="0">
                <a:solidFill>
                  <a:srgbClr val="6C7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</a:t>
            </a:r>
            <a:r>
              <a:rPr lang="en-US" sz="952" dirty="0" err="1" smtClean="0">
                <a:solidFill>
                  <a:srgbClr val="6C7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iymati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3314" y="2262255"/>
            <a:ext cx="2210448" cy="310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40" b="1" dirty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$5,000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2170" y="2607637"/>
            <a:ext cx="2132737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6" dirty="0">
                <a:solidFill>
                  <a:srgbClr val="6C7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Bir martalik sarmoya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908012" y="1277915"/>
            <a:ext cx="2426312" cy="1640567"/>
          </a:xfrm>
          <a:custGeom>
            <a:avLst/>
            <a:gdLst/>
            <a:ahLst/>
            <a:cxnLst/>
            <a:rect l="l" t="t" r="r" b="b"/>
            <a:pathLst>
              <a:path w="2426312" h="1640567">
                <a:moveTo>
                  <a:pt x="34538" y="0"/>
                </a:moveTo>
                <a:lnTo>
                  <a:pt x="2391773" y="0"/>
                </a:lnTo>
                <a:cubicBezTo>
                  <a:pt x="2410848" y="0"/>
                  <a:pt x="2426312" y="15463"/>
                  <a:pt x="2426312" y="34538"/>
                </a:cubicBezTo>
                <a:lnTo>
                  <a:pt x="2426312" y="1536948"/>
                </a:lnTo>
                <a:cubicBezTo>
                  <a:pt x="2426312" y="1594175"/>
                  <a:pt x="2379920" y="1640567"/>
                  <a:pt x="2322693" y="1640567"/>
                </a:cubicBezTo>
                <a:lnTo>
                  <a:pt x="103618" y="1640567"/>
                </a:lnTo>
                <a:cubicBezTo>
                  <a:pt x="46391" y="1640567"/>
                  <a:pt x="0" y="1594175"/>
                  <a:pt x="0" y="1536948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9518" dist="8634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08012" y="1277915"/>
            <a:ext cx="2426312" cy="34538"/>
          </a:xfrm>
          <a:custGeom>
            <a:avLst/>
            <a:gdLst/>
            <a:ahLst/>
            <a:cxnLst/>
            <a:rect l="l" t="t" r="r" b="b"/>
            <a:pathLst>
              <a:path w="2426312" h="34538">
                <a:moveTo>
                  <a:pt x="34538" y="0"/>
                </a:moveTo>
                <a:lnTo>
                  <a:pt x="2391773" y="0"/>
                </a:lnTo>
                <a:cubicBezTo>
                  <a:pt x="2410848" y="0"/>
                  <a:pt x="2426312" y="15463"/>
                  <a:pt x="2426312" y="34538"/>
                </a:cubicBezTo>
                <a:lnTo>
                  <a:pt x="2426312" y="34538"/>
                </a:lnTo>
                <a:lnTo>
                  <a:pt x="0" y="34538"/>
                </a:ln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14" name="Shape 12"/>
          <p:cNvSpPr/>
          <p:nvPr/>
        </p:nvSpPr>
        <p:spPr>
          <a:xfrm>
            <a:off x="3878429" y="1467875"/>
            <a:ext cx="483535" cy="483535"/>
          </a:xfrm>
          <a:custGeom>
            <a:avLst/>
            <a:gdLst/>
            <a:ahLst/>
            <a:cxnLst/>
            <a:rect l="l" t="t" r="r" b="b"/>
            <a:pathLst>
              <a:path w="483535" h="483535">
                <a:moveTo>
                  <a:pt x="241768" y="0"/>
                </a:moveTo>
                <a:lnTo>
                  <a:pt x="241768" y="0"/>
                </a:lnTo>
                <a:cubicBezTo>
                  <a:pt x="375203" y="0"/>
                  <a:pt x="483535" y="108332"/>
                  <a:pt x="483535" y="241768"/>
                </a:cubicBezTo>
                <a:lnTo>
                  <a:pt x="483535" y="241768"/>
                </a:lnTo>
                <a:cubicBezTo>
                  <a:pt x="483535" y="375203"/>
                  <a:pt x="375203" y="483535"/>
                  <a:pt x="241768" y="483535"/>
                </a:cubicBezTo>
                <a:lnTo>
                  <a:pt x="241768" y="483535"/>
                </a:lnTo>
                <a:cubicBezTo>
                  <a:pt x="108332" y="483535"/>
                  <a:pt x="0" y="375203"/>
                  <a:pt x="0" y="241768"/>
                </a:cubicBezTo>
                <a:lnTo>
                  <a:pt x="0" y="241768"/>
                </a:lnTo>
                <a:cubicBezTo>
                  <a:pt x="0" y="108332"/>
                  <a:pt x="108332" y="0"/>
                  <a:pt x="241768" y="0"/>
                </a:cubicBezTo>
                <a:close/>
              </a:path>
            </a:pathLst>
          </a:custGeom>
          <a:solidFill>
            <a:srgbClr val="4A90A4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016582" y="1606028"/>
            <a:ext cx="207229" cy="207229"/>
          </a:xfrm>
          <a:custGeom>
            <a:avLst/>
            <a:gdLst/>
            <a:ahLst/>
            <a:cxnLst/>
            <a:rect l="l" t="t" r="r" b="b"/>
            <a:pathLst>
              <a:path w="207229" h="207229">
                <a:moveTo>
                  <a:pt x="25904" y="25904"/>
                </a:moveTo>
                <a:cubicBezTo>
                  <a:pt x="25904" y="18740"/>
                  <a:pt x="20116" y="12952"/>
                  <a:pt x="12952" y="12952"/>
                </a:cubicBezTo>
                <a:cubicBezTo>
                  <a:pt x="5788" y="12952"/>
                  <a:pt x="0" y="18740"/>
                  <a:pt x="0" y="25904"/>
                </a:cubicBezTo>
                <a:lnTo>
                  <a:pt x="0" y="161898"/>
                </a:lnTo>
                <a:cubicBezTo>
                  <a:pt x="0" y="179788"/>
                  <a:pt x="14490" y="194278"/>
                  <a:pt x="32380" y="194278"/>
                </a:cubicBezTo>
                <a:lnTo>
                  <a:pt x="194278" y="194278"/>
                </a:lnTo>
                <a:cubicBezTo>
                  <a:pt x="201442" y="194278"/>
                  <a:pt x="207229" y="188490"/>
                  <a:pt x="207229" y="181326"/>
                </a:cubicBezTo>
                <a:cubicBezTo>
                  <a:pt x="207229" y="174162"/>
                  <a:pt x="201442" y="168374"/>
                  <a:pt x="194278" y="168374"/>
                </a:cubicBezTo>
                <a:lnTo>
                  <a:pt x="32380" y="168374"/>
                </a:lnTo>
                <a:cubicBezTo>
                  <a:pt x="28818" y="168374"/>
                  <a:pt x="25904" y="165460"/>
                  <a:pt x="25904" y="161898"/>
                </a:cubicBezTo>
                <a:lnTo>
                  <a:pt x="25904" y="25904"/>
                </a:lnTo>
                <a:close/>
                <a:moveTo>
                  <a:pt x="190473" y="60955"/>
                </a:moveTo>
                <a:cubicBezTo>
                  <a:pt x="195532" y="55895"/>
                  <a:pt x="195532" y="47679"/>
                  <a:pt x="190473" y="42620"/>
                </a:cubicBezTo>
                <a:cubicBezTo>
                  <a:pt x="185414" y="37560"/>
                  <a:pt x="177197" y="37560"/>
                  <a:pt x="172138" y="42620"/>
                </a:cubicBezTo>
                <a:lnTo>
                  <a:pt x="129518" y="85280"/>
                </a:lnTo>
                <a:lnTo>
                  <a:pt x="106286" y="62088"/>
                </a:lnTo>
                <a:cubicBezTo>
                  <a:pt x="101227" y="57029"/>
                  <a:pt x="93010" y="57029"/>
                  <a:pt x="87951" y="62088"/>
                </a:cubicBezTo>
                <a:lnTo>
                  <a:pt x="49096" y="100943"/>
                </a:lnTo>
                <a:cubicBezTo>
                  <a:pt x="44036" y="106003"/>
                  <a:pt x="44036" y="114219"/>
                  <a:pt x="49096" y="119278"/>
                </a:cubicBezTo>
                <a:cubicBezTo>
                  <a:pt x="54155" y="124338"/>
                  <a:pt x="62371" y="124338"/>
                  <a:pt x="67431" y="119278"/>
                </a:cubicBezTo>
                <a:lnTo>
                  <a:pt x="97139" y="89570"/>
                </a:lnTo>
                <a:lnTo>
                  <a:pt x="120371" y="112802"/>
                </a:lnTo>
                <a:cubicBezTo>
                  <a:pt x="125430" y="117862"/>
                  <a:pt x="133647" y="117862"/>
                  <a:pt x="138706" y="112802"/>
                </a:cubicBezTo>
                <a:lnTo>
                  <a:pt x="190513" y="60995"/>
                </a:ln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16" name="Text 14"/>
          <p:cNvSpPr/>
          <p:nvPr/>
        </p:nvSpPr>
        <p:spPr>
          <a:xfrm>
            <a:off x="3050482" y="2055025"/>
            <a:ext cx="2141371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2" dirty="0" err="1">
                <a:solidFill>
                  <a:srgbClr val="6C7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Kutilayotgan</a:t>
            </a:r>
            <a:r>
              <a:rPr lang="en-US" sz="952" dirty="0">
                <a:solidFill>
                  <a:srgbClr val="6C7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952" dirty="0" smtClean="0">
                <a:solidFill>
                  <a:srgbClr val="6C7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</a:t>
            </a:r>
            <a:r>
              <a:rPr lang="en-US" sz="952" dirty="0" err="1" smtClean="0">
                <a:solidFill>
                  <a:srgbClr val="6C7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aromad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015944" y="2262255"/>
            <a:ext cx="2210448" cy="310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40" b="1" dirty="0">
                <a:solidFill>
                  <a:srgbClr val="4A90A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$100K+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54800" y="2607637"/>
            <a:ext cx="2132737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6" dirty="0">
                <a:solidFill>
                  <a:srgbClr val="6C7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Yillik grant va investitsiyalar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70642" y="1277915"/>
            <a:ext cx="2426312" cy="1640567"/>
          </a:xfrm>
          <a:custGeom>
            <a:avLst/>
            <a:gdLst/>
            <a:ahLst/>
            <a:cxnLst/>
            <a:rect l="l" t="t" r="r" b="b"/>
            <a:pathLst>
              <a:path w="2426312" h="1640567">
                <a:moveTo>
                  <a:pt x="34538" y="0"/>
                </a:moveTo>
                <a:lnTo>
                  <a:pt x="2391773" y="0"/>
                </a:lnTo>
                <a:cubicBezTo>
                  <a:pt x="2410848" y="0"/>
                  <a:pt x="2426312" y="15463"/>
                  <a:pt x="2426312" y="34538"/>
                </a:cubicBezTo>
                <a:lnTo>
                  <a:pt x="2426312" y="1536948"/>
                </a:lnTo>
                <a:cubicBezTo>
                  <a:pt x="2426312" y="1594175"/>
                  <a:pt x="2379920" y="1640567"/>
                  <a:pt x="2322693" y="1640567"/>
                </a:cubicBezTo>
                <a:lnTo>
                  <a:pt x="103618" y="1640567"/>
                </a:lnTo>
                <a:cubicBezTo>
                  <a:pt x="46391" y="1640567"/>
                  <a:pt x="0" y="1594175"/>
                  <a:pt x="0" y="1536948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9518" dist="8634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70642" y="1277915"/>
            <a:ext cx="2426312" cy="34538"/>
          </a:xfrm>
          <a:custGeom>
            <a:avLst/>
            <a:gdLst/>
            <a:ahLst/>
            <a:cxnLst/>
            <a:rect l="l" t="t" r="r" b="b"/>
            <a:pathLst>
              <a:path w="2426312" h="34538">
                <a:moveTo>
                  <a:pt x="34538" y="0"/>
                </a:moveTo>
                <a:lnTo>
                  <a:pt x="2391773" y="0"/>
                </a:lnTo>
                <a:cubicBezTo>
                  <a:pt x="2410848" y="0"/>
                  <a:pt x="2426312" y="15463"/>
                  <a:pt x="2426312" y="34538"/>
                </a:cubicBezTo>
                <a:lnTo>
                  <a:pt x="2426312" y="34538"/>
                </a:lnTo>
                <a:lnTo>
                  <a:pt x="0" y="34538"/>
                </a:ln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21" name="Shape 19"/>
          <p:cNvSpPr/>
          <p:nvPr/>
        </p:nvSpPr>
        <p:spPr>
          <a:xfrm>
            <a:off x="6441059" y="1467875"/>
            <a:ext cx="483535" cy="483535"/>
          </a:xfrm>
          <a:custGeom>
            <a:avLst/>
            <a:gdLst/>
            <a:ahLst/>
            <a:cxnLst/>
            <a:rect l="l" t="t" r="r" b="b"/>
            <a:pathLst>
              <a:path w="483535" h="483535">
                <a:moveTo>
                  <a:pt x="241768" y="0"/>
                </a:moveTo>
                <a:lnTo>
                  <a:pt x="241768" y="0"/>
                </a:lnTo>
                <a:cubicBezTo>
                  <a:pt x="375203" y="0"/>
                  <a:pt x="483535" y="108332"/>
                  <a:pt x="483535" y="241768"/>
                </a:cubicBezTo>
                <a:lnTo>
                  <a:pt x="483535" y="241768"/>
                </a:lnTo>
                <a:cubicBezTo>
                  <a:pt x="483535" y="375203"/>
                  <a:pt x="375203" y="483535"/>
                  <a:pt x="241768" y="483535"/>
                </a:cubicBezTo>
                <a:lnTo>
                  <a:pt x="241768" y="483535"/>
                </a:lnTo>
                <a:cubicBezTo>
                  <a:pt x="108332" y="483535"/>
                  <a:pt x="0" y="375203"/>
                  <a:pt x="0" y="241768"/>
                </a:cubicBezTo>
                <a:lnTo>
                  <a:pt x="0" y="241768"/>
                </a:lnTo>
                <a:cubicBezTo>
                  <a:pt x="0" y="108332"/>
                  <a:pt x="108332" y="0"/>
                  <a:pt x="241768" y="0"/>
                </a:cubicBezTo>
                <a:close/>
              </a:path>
            </a:pathLst>
          </a:custGeom>
          <a:solidFill>
            <a:srgbClr val="D4A574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579212" y="1606028"/>
            <a:ext cx="207229" cy="207229"/>
          </a:xfrm>
          <a:custGeom>
            <a:avLst/>
            <a:gdLst/>
            <a:ahLst/>
            <a:cxnLst/>
            <a:rect l="l" t="t" r="r" b="b"/>
            <a:pathLst>
              <a:path w="207229" h="207229">
                <a:moveTo>
                  <a:pt x="103615" y="0"/>
                </a:moveTo>
                <a:cubicBezTo>
                  <a:pt x="160801" y="0"/>
                  <a:pt x="207229" y="46428"/>
                  <a:pt x="207229" y="103615"/>
                </a:cubicBezTo>
                <a:cubicBezTo>
                  <a:pt x="207229" y="160801"/>
                  <a:pt x="160801" y="207229"/>
                  <a:pt x="103615" y="207229"/>
                </a:cubicBezTo>
                <a:cubicBezTo>
                  <a:pt x="46428" y="207229"/>
                  <a:pt x="0" y="160801"/>
                  <a:pt x="0" y="103615"/>
                </a:cubicBezTo>
                <a:cubicBezTo>
                  <a:pt x="0" y="46428"/>
                  <a:pt x="46428" y="0"/>
                  <a:pt x="103615" y="0"/>
                </a:cubicBezTo>
                <a:close/>
                <a:moveTo>
                  <a:pt x="93901" y="48569"/>
                </a:moveTo>
                <a:lnTo>
                  <a:pt x="93901" y="103615"/>
                </a:lnTo>
                <a:cubicBezTo>
                  <a:pt x="93901" y="106853"/>
                  <a:pt x="95520" y="109888"/>
                  <a:pt x="98232" y="111710"/>
                </a:cubicBezTo>
                <a:lnTo>
                  <a:pt x="137087" y="137613"/>
                </a:lnTo>
                <a:cubicBezTo>
                  <a:pt x="141539" y="140608"/>
                  <a:pt x="147570" y="139394"/>
                  <a:pt x="150565" y="134902"/>
                </a:cubicBezTo>
                <a:cubicBezTo>
                  <a:pt x="153560" y="130409"/>
                  <a:pt x="152346" y="124419"/>
                  <a:pt x="147853" y="121424"/>
                </a:cubicBezTo>
                <a:lnTo>
                  <a:pt x="113329" y="98434"/>
                </a:lnTo>
                <a:lnTo>
                  <a:pt x="113329" y="48569"/>
                </a:lnTo>
                <a:cubicBezTo>
                  <a:pt x="113329" y="43186"/>
                  <a:pt x="108998" y="38856"/>
                  <a:pt x="103615" y="38856"/>
                </a:cubicBezTo>
                <a:cubicBezTo>
                  <a:pt x="98232" y="38856"/>
                  <a:pt x="93901" y="43186"/>
                  <a:pt x="93901" y="48569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23" name="Text 21"/>
          <p:cNvSpPr/>
          <p:nvPr/>
        </p:nvSpPr>
        <p:spPr>
          <a:xfrm>
            <a:off x="5613112" y="2055025"/>
            <a:ext cx="2141371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2" dirty="0" err="1">
                <a:solidFill>
                  <a:srgbClr val="6C7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Vaqt</a:t>
            </a:r>
            <a:r>
              <a:rPr lang="en-US" sz="952" dirty="0">
                <a:solidFill>
                  <a:srgbClr val="6C7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952" dirty="0" smtClean="0">
                <a:solidFill>
                  <a:srgbClr val="6C7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</a:t>
            </a:r>
            <a:r>
              <a:rPr lang="en-US" sz="952" dirty="0" err="1" smtClean="0">
                <a:solidFill>
                  <a:srgbClr val="6C7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ejamkorligi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78574" y="2262255"/>
            <a:ext cx="2210448" cy="310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40" b="1" dirty="0">
                <a:solidFill>
                  <a:srgbClr val="D4A5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70%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17430" y="2607637"/>
            <a:ext cx="2132737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6" dirty="0">
                <a:solidFill>
                  <a:srgbClr val="6C7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Hujjatlar bilan ishlash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45382" y="3056529"/>
            <a:ext cx="7546606" cy="3799207"/>
          </a:xfrm>
          <a:custGeom>
            <a:avLst/>
            <a:gdLst/>
            <a:ahLst/>
            <a:cxnLst/>
            <a:rect l="l" t="t" r="r" b="b"/>
            <a:pathLst>
              <a:path w="7546606" h="3799207">
                <a:moveTo>
                  <a:pt x="103604" y="0"/>
                </a:moveTo>
                <a:lnTo>
                  <a:pt x="7443002" y="0"/>
                </a:lnTo>
                <a:cubicBezTo>
                  <a:pt x="7500221" y="0"/>
                  <a:pt x="7546606" y="46385"/>
                  <a:pt x="7546606" y="103604"/>
                </a:cubicBezTo>
                <a:lnTo>
                  <a:pt x="7546606" y="3695602"/>
                </a:lnTo>
                <a:cubicBezTo>
                  <a:pt x="7546606" y="3752822"/>
                  <a:pt x="7500221" y="3799207"/>
                  <a:pt x="7443002" y="3799207"/>
                </a:cubicBezTo>
                <a:lnTo>
                  <a:pt x="103604" y="3799207"/>
                </a:lnTo>
                <a:cubicBezTo>
                  <a:pt x="46385" y="3799207"/>
                  <a:pt x="0" y="3752822"/>
                  <a:pt x="0" y="3695602"/>
                </a:cubicBezTo>
                <a:lnTo>
                  <a:pt x="0" y="103604"/>
                </a:lnTo>
                <a:cubicBezTo>
                  <a:pt x="0" y="46385"/>
                  <a:pt x="46385" y="0"/>
                  <a:pt x="10360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9518" dist="8634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8074" y="3229220"/>
            <a:ext cx="7287569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0" b="1" dirty="0" err="1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Kutilayotgan</a:t>
            </a:r>
            <a:r>
              <a:rPr lang="en-US" sz="136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uz-Latn-UZ" sz="136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</a:t>
            </a:r>
            <a:r>
              <a:rPr lang="en-US" sz="1360" b="1" dirty="0" err="1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aromad</a:t>
            </a:r>
            <a:r>
              <a:rPr lang="en-US" sz="136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uz-Latn-UZ" sz="136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</a:t>
            </a:r>
            <a:r>
              <a:rPr lang="en-US" sz="136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</a:t>
            </a:r>
            <a:r>
              <a:rPr lang="en-US" sz="1360" b="1" dirty="0" err="1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sishi</a:t>
            </a:r>
            <a:endParaRPr lang="en-US" sz="1600" dirty="0"/>
          </a:p>
        </p:txBody>
      </p:sp>
      <p:pic>
        <p:nvPicPr>
          <p:cNvPr id="28" name="Image 0" descr="https://kimi-img.moonshot.cn/pub/slides/26-02-10-19:38:03-d65hh6vqmogpqusqt3fg.png"/>
          <p:cNvPicPr>
            <a:picLocks noChangeAspect="1"/>
          </p:cNvPicPr>
          <p:nvPr/>
        </p:nvPicPr>
        <p:blipFill>
          <a:blip r:embed="rId3"/>
          <a:srcRect t="40" b="40"/>
          <a:stretch/>
        </p:blipFill>
        <p:spPr>
          <a:xfrm>
            <a:off x="518074" y="3574603"/>
            <a:ext cx="6450017" cy="2417677"/>
          </a:xfrm>
          <a:prstGeom prst="roundRect">
            <a:avLst>
              <a:gd name="adj" fmla="val 0"/>
            </a:avLst>
          </a:prstGeom>
        </p:spPr>
      </p:pic>
      <p:sp>
        <p:nvSpPr>
          <p:cNvPr id="29" name="Shape 26"/>
          <p:cNvSpPr/>
          <p:nvPr/>
        </p:nvSpPr>
        <p:spPr>
          <a:xfrm>
            <a:off x="8067810" y="1260646"/>
            <a:ext cx="3773303" cy="3488363"/>
          </a:xfrm>
          <a:custGeom>
            <a:avLst/>
            <a:gdLst/>
            <a:ahLst/>
            <a:cxnLst/>
            <a:rect l="l" t="t" r="r" b="b"/>
            <a:pathLst>
              <a:path w="3773303" h="3488363">
                <a:moveTo>
                  <a:pt x="103604" y="0"/>
                </a:moveTo>
                <a:lnTo>
                  <a:pt x="3669699" y="0"/>
                </a:lnTo>
                <a:cubicBezTo>
                  <a:pt x="3726918" y="0"/>
                  <a:pt x="3773303" y="46385"/>
                  <a:pt x="3773303" y="103604"/>
                </a:cubicBezTo>
                <a:lnTo>
                  <a:pt x="3773303" y="3384758"/>
                </a:lnTo>
                <a:cubicBezTo>
                  <a:pt x="3773303" y="3441977"/>
                  <a:pt x="3726918" y="3488363"/>
                  <a:pt x="3669699" y="3488363"/>
                </a:cubicBezTo>
                <a:lnTo>
                  <a:pt x="103604" y="3488363"/>
                </a:lnTo>
                <a:cubicBezTo>
                  <a:pt x="46385" y="3488363"/>
                  <a:pt x="0" y="3441977"/>
                  <a:pt x="0" y="3384758"/>
                </a:cubicBezTo>
                <a:lnTo>
                  <a:pt x="0" y="103604"/>
                </a:lnTo>
                <a:cubicBezTo>
                  <a:pt x="0" y="46385"/>
                  <a:pt x="46385" y="0"/>
                  <a:pt x="103604" y="0"/>
                </a:cubicBezTo>
                <a:close/>
              </a:path>
            </a:pathLst>
          </a:custGeom>
          <a:gradFill flip="none" rotWithShape="1">
            <a:gsLst>
              <a:gs pos="0">
                <a:srgbClr val="1A3A5C"/>
              </a:gs>
              <a:gs pos="100000">
                <a:srgbClr val="4A90A4"/>
              </a:gs>
            </a:gsLst>
            <a:lin ang="2700000" scaled="1"/>
          </a:gradFill>
          <a:ln/>
        </p:spPr>
      </p:sp>
      <p:sp>
        <p:nvSpPr>
          <p:cNvPr id="30" name="Text 27"/>
          <p:cNvSpPr/>
          <p:nvPr/>
        </p:nvSpPr>
        <p:spPr>
          <a:xfrm>
            <a:off x="8240501" y="1433337"/>
            <a:ext cx="3514266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ROI </a:t>
            </a:r>
            <a:r>
              <a:rPr lang="uz-Latn-UZ" sz="1360" b="1" dirty="0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</a:t>
            </a:r>
            <a:r>
              <a:rPr lang="en-US" sz="1360" b="1" dirty="0" err="1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isoboti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8240501" y="1813258"/>
            <a:ext cx="3427921" cy="828918"/>
          </a:xfrm>
          <a:custGeom>
            <a:avLst/>
            <a:gdLst/>
            <a:ahLst/>
            <a:cxnLst/>
            <a:rect l="l" t="t" r="r" b="b"/>
            <a:pathLst>
              <a:path w="3427921" h="828918">
                <a:moveTo>
                  <a:pt x="69074" y="0"/>
                </a:moveTo>
                <a:lnTo>
                  <a:pt x="3358847" y="0"/>
                </a:lnTo>
                <a:cubicBezTo>
                  <a:pt x="3396995" y="0"/>
                  <a:pt x="3427921" y="30925"/>
                  <a:pt x="3427921" y="69074"/>
                </a:cubicBezTo>
                <a:lnTo>
                  <a:pt x="3427921" y="759844"/>
                </a:lnTo>
                <a:cubicBezTo>
                  <a:pt x="3427921" y="797992"/>
                  <a:pt x="3396995" y="828918"/>
                  <a:pt x="3358847" y="828918"/>
                </a:cubicBezTo>
                <a:lnTo>
                  <a:pt x="69074" y="828918"/>
                </a:lnTo>
                <a:cubicBezTo>
                  <a:pt x="30925" y="828918"/>
                  <a:pt x="0" y="797992"/>
                  <a:pt x="0" y="759844"/>
                </a:cubicBezTo>
                <a:lnTo>
                  <a:pt x="0" y="69074"/>
                </a:lnTo>
                <a:cubicBezTo>
                  <a:pt x="0" y="30951"/>
                  <a:pt x="30951" y="0"/>
                  <a:pt x="6907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8344116" y="1951305"/>
            <a:ext cx="587150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1-yil ROI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1220072" y="1916873"/>
            <a:ext cx="448997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2" b="1" dirty="0">
                <a:solidFill>
                  <a:srgbClr val="D4A5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20x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8344116" y="2262150"/>
            <a:ext cx="3220691" cy="69076"/>
          </a:xfrm>
          <a:custGeom>
            <a:avLst/>
            <a:gdLst/>
            <a:ahLst/>
            <a:cxnLst/>
            <a:rect l="l" t="t" r="r" b="b"/>
            <a:pathLst>
              <a:path w="3220691" h="69076">
                <a:moveTo>
                  <a:pt x="34538" y="0"/>
                </a:moveTo>
                <a:lnTo>
                  <a:pt x="3186153" y="0"/>
                </a:lnTo>
                <a:cubicBezTo>
                  <a:pt x="3205228" y="0"/>
                  <a:pt x="3220691" y="15463"/>
                  <a:pt x="3220691" y="34538"/>
                </a:cubicBezTo>
                <a:lnTo>
                  <a:pt x="3220691" y="34538"/>
                </a:lnTo>
                <a:cubicBezTo>
                  <a:pt x="3220691" y="53613"/>
                  <a:pt x="3205228" y="69076"/>
                  <a:pt x="3186153" y="69076"/>
                </a:cubicBezTo>
                <a:lnTo>
                  <a:pt x="34538" y="69076"/>
                </a:lnTo>
                <a:cubicBezTo>
                  <a:pt x="15476" y="69076"/>
                  <a:pt x="0" y="53600"/>
                  <a:pt x="0" y="34538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8344116" y="2262150"/>
            <a:ext cx="3220691" cy="69076"/>
          </a:xfrm>
          <a:custGeom>
            <a:avLst/>
            <a:gdLst/>
            <a:ahLst/>
            <a:cxnLst/>
            <a:rect l="l" t="t" r="r" b="b"/>
            <a:pathLst>
              <a:path w="3220691" h="69076">
                <a:moveTo>
                  <a:pt x="34538" y="0"/>
                </a:moveTo>
                <a:lnTo>
                  <a:pt x="3186153" y="0"/>
                </a:lnTo>
                <a:cubicBezTo>
                  <a:pt x="3205228" y="0"/>
                  <a:pt x="3220691" y="15463"/>
                  <a:pt x="3220691" y="34538"/>
                </a:cubicBezTo>
                <a:lnTo>
                  <a:pt x="3220691" y="34538"/>
                </a:lnTo>
                <a:cubicBezTo>
                  <a:pt x="3220691" y="53613"/>
                  <a:pt x="3205228" y="69076"/>
                  <a:pt x="3186153" y="69076"/>
                </a:cubicBezTo>
                <a:lnTo>
                  <a:pt x="34538" y="69076"/>
                </a:lnTo>
                <a:cubicBezTo>
                  <a:pt x="15476" y="69076"/>
                  <a:pt x="0" y="53600"/>
                  <a:pt x="0" y="34538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36" name="Text 33"/>
          <p:cNvSpPr/>
          <p:nvPr/>
        </p:nvSpPr>
        <p:spPr>
          <a:xfrm>
            <a:off x="8344116" y="2365764"/>
            <a:ext cx="3281133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$5,000 → $100,000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8240501" y="2780223"/>
            <a:ext cx="3427921" cy="828918"/>
          </a:xfrm>
          <a:custGeom>
            <a:avLst/>
            <a:gdLst/>
            <a:ahLst/>
            <a:cxnLst/>
            <a:rect l="l" t="t" r="r" b="b"/>
            <a:pathLst>
              <a:path w="3427921" h="828918">
                <a:moveTo>
                  <a:pt x="69074" y="0"/>
                </a:moveTo>
                <a:lnTo>
                  <a:pt x="3358847" y="0"/>
                </a:lnTo>
                <a:cubicBezTo>
                  <a:pt x="3396995" y="0"/>
                  <a:pt x="3427921" y="30925"/>
                  <a:pt x="3427921" y="69074"/>
                </a:cubicBezTo>
                <a:lnTo>
                  <a:pt x="3427921" y="759844"/>
                </a:lnTo>
                <a:cubicBezTo>
                  <a:pt x="3427921" y="797992"/>
                  <a:pt x="3396995" y="828918"/>
                  <a:pt x="3358847" y="828918"/>
                </a:cubicBezTo>
                <a:lnTo>
                  <a:pt x="69074" y="828918"/>
                </a:lnTo>
                <a:cubicBezTo>
                  <a:pt x="30925" y="828918"/>
                  <a:pt x="0" y="797992"/>
                  <a:pt x="0" y="759844"/>
                </a:cubicBezTo>
                <a:lnTo>
                  <a:pt x="0" y="69074"/>
                </a:lnTo>
                <a:cubicBezTo>
                  <a:pt x="0" y="30951"/>
                  <a:pt x="30951" y="0"/>
                  <a:pt x="6907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8344116" y="2918267"/>
            <a:ext cx="613054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2-yil ROI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1214676" y="2883838"/>
            <a:ext cx="457632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2" b="1" dirty="0">
                <a:solidFill>
                  <a:srgbClr val="D4A5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30x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8344116" y="3229111"/>
            <a:ext cx="3220691" cy="69076"/>
          </a:xfrm>
          <a:custGeom>
            <a:avLst/>
            <a:gdLst/>
            <a:ahLst/>
            <a:cxnLst/>
            <a:rect l="l" t="t" r="r" b="b"/>
            <a:pathLst>
              <a:path w="3220691" h="69076">
                <a:moveTo>
                  <a:pt x="34538" y="0"/>
                </a:moveTo>
                <a:lnTo>
                  <a:pt x="3186153" y="0"/>
                </a:lnTo>
                <a:cubicBezTo>
                  <a:pt x="3205228" y="0"/>
                  <a:pt x="3220691" y="15463"/>
                  <a:pt x="3220691" y="34538"/>
                </a:cubicBezTo>
                <a:lnTo>
                  <a:pt x="3220691" y="34538"/>
                </a:lnTo>
                <a:cubicBezTo>
                  <a:pt x="3220691" y="53613"/>
                  <a:pt x="3205228" y="69076"/>
                  <a:pt x="3186153" y="69076"/>
                </a:cubicBezTo>
                <a:lnTo>
                  <a:pt x="34538" y="69076"/>
                </a:lnTo>
                <a:cubicBezTo>
                  <a:pt x="15476" y="69076"/>
                  <a:pt x="0" y="53600"/>
                  <a:pt x="0" y="34538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8344116" y="3229111"/>
            <a:ext cx="3220691" cy="69076"/>
          </a:xfrm>
          <a:custGeom>
            <a:avLst/>
            <a:gdLst/>
            <a:ahLst/>
            <a:cxnLst/>
            <a:rect l="l" t="t" r="r" b="b"/>
            <a:pathLst>
              <a:path w="3220691" h="69076">
                <a:moveTo>
                  <a:pt x="34538" y="0"/>
                </a:moveTo>
                <a:lnTo>
                  <a:pt x="3186153" y="0"/>
                </a:lnTo>
                <a:cubicBezTo>
                  <a:pt x="3205228" y="0"/>
                  <a:pt x="3220691" y="15463"/>
                  <a:pt x="3220691" y="34538"/>
                </a:cubicBezTo>
                <a:lnTo>
                  <a:pt x="3220691" y="34538"/>
                </a:lnTo>
                <a:cubicBezTo>
                  <a:pt x="3220691" y="53613"/>
                  <a:pt x="3205228" y="69076"/>
                  <a:pt x="3186153" y="69076"/>
                </a:cubicBezTo>
                <a:lnTo>
                  <a:pt x="34538" y="69076"/>
                </a:lnTo>
                <a:cubicBezTo>
                  <a:pt x="15476" y="69076"/>
                  <a:pt x="0" y="53600"/>
                  <a:pt x="0" y="34538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42" name="Text 39"/>
          <p:cNvSpPr/>
          <p:nvPr/>
        </p:nvSpPr>
        <p:spPr>
          <a:xfrm>
            <a:off x="8344116" y="3332725"/>
            <a:ext cx="3281133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$5,000 → $150,000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8240501" y="3747184"/>
            <a:ext cx="3427921" cy="828918"/>
          </a:xfrm>
          <a:custGeom>
            <a:avLst/>
            <a:gdLst/>
            <a:ahLst/>
            <a:cxnLst/>
            <a:rect l="l" t="t" r="r" b="b"/>
            <a:pathLst>
              <a:path w="3427921" h="828918">
                <a:moveTo>
                  <a:pt x="69074" y="0"/>
                </a:moveTo>
                <a:lnTo>
                  <a:pt x="3358847" y="0"/>
                </a:lnTo>
                <a:cubicBezTo>
                  <a:pt x="3396995" y="0"/>
                  <a:pt x="3427921" y="30925"/>
                  <a:pt x="3427921" y="69074"/>
                </a:cubicBezTo>
                <a:lnTo>
                  <a:pt x="3427921" y="759844"/>
                </a:lnTo>
                <a:cubicBezTo>
                  <a:pt x="3427921" y="797992"/>
                  <a:pt x="3396995" y="828918"/>
                  <a:pt x="3358847" y="828918"/>
                </a:cubicBezTo>
                <a:lnTo>
                  <a:pt x="69074" y="828918"/>
                </a:lnTo>
                <a:cubicBezTo>
                  <a:pt x="30925" y="828918"/>
                  <a:pt x="0" y="797992"/>
                  <a:pt x="0" y="759844"/>
                </a:cubicBezTo>
                <a:lnTo>
                  <a:pt x="0" y="69074"/>
                </a:lnTo>
                <a:cubicBezTo>
                  <a:pt x="0" y="30951"/>
                  <a:pt x="30951" y="0"/>
                  <a:pt x="6907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8344116" y="3885228"/>
            <a:ext cx="613054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3-yil ROI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11215108" y="3850799"/>
            <a:ext cx="457632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2" b="1" dirty="0">
                <a:solidFill>
                  <a:srgbClr val="D4A5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40x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8344116" y="4196072"/>
            <a:ext cx="3220691" cy="69076"/>
          </a:xfrm>
          <a:custGeom>
            <a:avLst/>
            <a:gdLst/>
            <a:ahLst/>
            <a:cxnLst/>
            <a:rect l="l" t="t" r="r" b="b"/>
            <a:pathLst>
              <a:path w="3220691" h="69076">
                <a:moveTo>
                  <a:pt x="34538" y="0"/>
                </a:moveTo>
                <a:lnTo>
                  <a:pt x="3186153" y="0"/>
                </a:lnTo>
                <a:cubicBezTo>
                  <a:pt x="3205228" y="0"/>
                  <a:pt x="3220691" y="15463"/>
                  <a:pt x="3220691" y="34538"/>
                </a:cubicBezTo>
                <a:lnTo>
                  <a:pt x="3220691" y="34538"/>
                </a:lnTo>
                <a:cubicBezTo>
                  <a:pt x="3220691" y="53613"/>
                  <a:pt x="3205228" y="69076"/>
                  <a:pt x="3186153" y="69076"/>
                </a:cubicBezTo>
                <a:lnTo>
                  <a:pt x="34538" y="69076"/>
                </a:lnTo>
                <a:cubicBezTo>
                  <a:pt x="15476" y="69076"/>
                  <a:pt x="0" y="53600"/>
                  <a:pt x="0" y="34538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8344116" y="4196072"/>
            <a:ext cx="3220691" cy="69076"/>
          </a:xfrm>
          <a:custGeom>
            <a:avLst/>
            <a:gdLst/>
            <a:ahLst/>
            <a:cxnLst/>
            <a:rect l="l" t="t" r="r" b="b"/>
            <a:pathLst>
              <a:path w="3220691" h="69076">
                <a:moveTo>
                  <a:pt x="34538" y="0"/>
                </a:moveTo>
                <a:lnTo>
                  <a:pt x="3186153" y="0"/>
                </a:lnTo>
                <a:cubicBezTo>
                  <a:pt x="3205228" y="0"/>
                  <a:pt x="3220691" y="15463"/>
                  <a:pt x="3220691" y="34538"/>
                </a:cubicBezTo>
                <a:lnTo>
                  <a:pt x="3220691" y="34538"/>
                </a:lnTo>
                <a:cubicBezTo>
                  <a:pt x="3220691" y="53613"/>
                  <a:pt x="3205228" y="69076"/>
                  <a:pt x="3186153" y="69076"/>
                </a:cubicBezTo>
                <a:lnTo>
                  <a:pt x="34538" y="69076"/>
                </a:lnTo>
                <a:cubicBezTo>
                  <a:pt x="15476" y="69076"/>
                  <a:pt x="0" y="53600"/>
                  <a:pt x="0" y="34538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48" name="Text 45"/>
          <p:cNvSpPr/>
          <p:nvPr/>
        </p:nvSpPr>
        <p:spPr>
          <a:xfrm>
            <a:off x="8344116" y="4299687"/>
            <a:ext cx="3281133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$5,000 → $200,000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8067810" y="4886837"/>
            <a:ext cx="3773303" cy="1968680"/>
          </a:xfrm>
          <a:custGeom>
            <a:avLst/>
            <a:gdLst/>
            <a:ahLst/>
            <a:cxnLst/>
            <a:rect l="l" t="t" r="r" b="b"/>
            <a:pathLst>
              <a:path w="3773303" h="1968680">
                <a:moveTo>
                  <a:pt x="103612" y="0"/>
                </a:moveTo>
                <a:lnTo>
                  <a:pt x="3669691" y="0"/>
                </a:lnTo>
                <a:cubicBezTo>
                  <a:pt x="3726915" y="0"/>
                  <a:pt x="3773303" y="46389"/>
                  <a:pt x="3773303" y="103612"/>
                </a:cubicBezTo>
                <a:lnTo>
                  <a:pt x="3773303" y="1865068"/>
                </a:lnTo>
                <a:cubicBezTo>
                  <a:pt x="3773303" y="1922291"/>
                  <a:pt x="3726915" y="1968680"/>
                  <a:pt x="3669691" y="1968680"/>
                </a:cubicBezTo>
                <a:lnTo>
                  <a:pt x="103612" y="1968680"/>
                </a:lnTo>
                <a:cubicBezTo>
                  <a:pt x="46389" y="1968680"/>
                  <a:pt x="0" y="1922291"/>
                  <a:pt x="0" y="1865068"/>
                </a:cubicBezTo>
                <a:lnTo>
                  <a:pt x="0" y="103612"/>
                </a:lnTo>
                <a:cubicBezTo>
                  <a:pt x="0" y="46389"/>
                  <a:pt x="46389" y="0"/>
                  <a:pt x="10361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9518" dist="8634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0" name="Text 47"/>
          <p:cNvSpPr/>
          <p:nvPr/>
        </p:nvSpPr>
        <p:spPr>
          <a:xfrm>
            <a:off x="8240501" y="5059528"/>
            <a:ext cx="3505632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b="1" dirty="0" err="1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Tejamkorlik</a:t>
            </a:r>
            <a:r>
              <a:rPr lang="en-US" sz="1224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uz-Latn-UZ" sz="1224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</a:t>
            </a:r>
            <a:r>
              <a:rPr lang="en-US" sz="1224" b="1" dirty="0" err="1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ahlili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8240501" y="5404910"/>
            <a:ext cx="3427921" cy="379921"/>
          </a:xfrm>
          <a:custGeom>
            <a:avLst/>
            <a:gdLst/>
            <a:ahLst/>
            <a:cxnLst/>
            <a:rect l="l" t="t" r="r" b="b"/>
            <a:pathLst>
              <a:path w="3427921" h="379921">
                <a:moveTo>
                  <a:pt x="69077" y="0"/>
                </a:moveTo>
                <a:lnTo>
                  <a:pt x="3358844" y="0"/>
                </a:lnTo>
                <a:cubicBezTo>
                  <a:pt x="3396994" y="0"/>
                  <a:pt x="3427921" y="30927"/>
                  <a:pt x="3427921" y="69077"/>
                </a:cubicBezTo>
                <a:lnTo>
                  <a:pt x="3427921" y="310844"/>
                </a:lnTo>
                <a:cubicBezTo>
                  <a:pt x="3427921" y="348994"/>
                  <a:pt x="3396994" y="379921"/>
                  <a:pt x="3358844" y="379921"/>
                </a:cubicBezTo>
                <a:lnTo>
                  <a:pt x="69077" y="379921"/>
                </a:lnTo>
                <a:cubicBezTo>
                  <a:pt x="30927" y="379921"/>
                  <a:pt x="0" y="348994"/>
                  <a:pt x="0" y="310844"/>
                </a:cubicBezTo>
                <a:lnTo>
                  <a:pt x="0" y="69077"/>
                </a:lnTo>
                <a:cubicBezTo>
                  <a:pt x="0" y="30952"/>
                  <a:pt x="30952" y="0"/>
                  <a:pt x="69077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2" name="Text 49"/>
          <p:cNvSpPr/>
          <p:nvPr/>
        </p:nvSpPr>
        <p:spPr>
          <a:xfrm>
            <a:off x="8309578" y="5491256"/>
            <a:ext cx="975705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Xodimlar vaqti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11225685" y="5473987"/>
            <a:ext cx="448997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b="1" dirty="0">
                <a:solidFill>
                  <a:srgbClr val="4A90A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-70%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8240501" y="5853908"/>
            <a:ext cx="3427921" cy="379921"/>
          </a:xfrm>
          <a:custGeom>
            <a:avLst/>
            <a:gdLst/>
            <a:ahLst/>
            <a:cxnLst/>
            <a:rect l="l" t="t" r="r" b="b"/>
            <a:pathLst>
              <a:path w="3427921" h="379921">
                <a:moveTo>
                  <a:pt x="69077" y="0"/>
                </a:moveTo>
                <a:lnTo>
                  <a:pt x="3358844" y="0"/>
                </a:lnTo>
                <a:cubicBezTo>
                  <a:pt x="3396994" y="0"/>
                  <a:pt x="3427921" y="30927"/>
                  <a:pt x="3427921" y="69077"/>
                </a:cubicBezTo>
                <a:lnTo>
                  <a:pt x="3427921" y="310844"/>
                </a:lnTo>
                <a:cubicBezTo>
                  <a:pt x="3427921" y="348994"/>
                  <a:pt x="3396994" y="379921"/>
                  <a:pt x="3358844" y="379921"/>
                </a:cubicBezTo>
                <a:lnTo>
                  <a:pt x="69077" y="379921"/>
                </a:lnTo>
                <a:cubicBezTo>
                  <a:pt x="30927" y="379921"/>
                  <a:pt x="0" y="348994"/>
                  <a:pt x="0" y="310844"/>
                </a:cubicBezTo>
                <a:lnTo>
                  <a:pt x="0" y="69077"/>
                </a:lnTo>
                <a:cubicBezTo>
                  <a:pt x="0" y="30952"/>
                  <a:pt x="30952" y="0"/>
                  <a:pt x="69077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5" name="Text 52"/>
          <p:cNvSpPr/>
          <p:nvPr/>
        </p:nvSpPr>
        <p:spPr>
          <a:xfrm>
            <a:off x="8309578" y="5940253"/>
            <a:ext cx="941167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Hujjat xatolari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11213705" y="5922984"/>
            <a:ext cx="466266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b="1" dirty="0">
                <a:solidFill>
                  <a:srgbClr val="4A90A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-90%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8240501" y="6302905"/>
            <a:ext cx="3427921" cy="379921"/>
          </a:xfrm>
          <a:custGeom>
            <a:avLst/>
            <a:gdLst/>
            <a:ahLst/>
            <a:cxnLst/>
            <a:rect l="l" t="t" r="r" b="b"/>
            <a:pathLst>
              <a:path w="3427921" h="379921">
                <a:moveTo>
                  <a:pt x="69077" y="0"/>
                </a:moveTo>
                <a:lnTo>
                  <a:pt x="3358844" y="0"/>
                </a:lnTo>
                <a:cubicBezTo>
                  <a:pt x="3396994" y="0"/>
                  <a:pt x="3427921" y="30927"/>
                  <a:pt x="3427921" y="69077"/>
                </a:cubicBezTo>
                <a:lnTo>
                  <a:pt x="3427921" y="310844"/>
                </a:lnTo>
                <a:cubicBezTo>
                  <a:pt x="3427921" y="348994"/>
                  <a:pt x="3396994" y="379921"/>
                  <a:pt x="3358844" y="379921"/>
                </a:cubicBezTo>
                <a:lnTo>
                  <a:pt x="69077" y="379921"/>
                </a:lnTo>
                <a:cubicBezTo>
                  <a:pt x="30927" y="379921"/>
                  <a:pt x="0" y="348994"/>
                  <a:pt x="0" y="310844"/>
                </a:cubicBezTo>
                <a:lnTo>
                  <a:pt x="0" y="69077"/>
                </a:lnTo>
                <a:cubicBezTo>
                  <a:pt x="0" y="30952"/>
                  <a:pt x="30952" y="0"/>
                  <a:pt x="69077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8" name="Text 55"/>
          <p:cNvSpPr/>
          <p:nvPr/>
        </p:nvSpPr>
        <p:spPr>
          <a:xfrm>
            <a:off x="8309578" y="6389250"/>
            <a:ext cx="854822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Javob tezligi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11093576" y="6371981"/>
            <a:ext cx="587150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b="1" dirty="0">
                <a:solidFill>
                  <a:srgbClr val="4A90A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+300%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estartupmag.com/53b0f59354865ea780a31238399a8db88ae0dc07.png"/>
          <p:cNvPicPr>
            <a:picLocks noChangeAspect="1"/>
          </p:cNvPicPr>
          <p:nvPr/>
        </p:nvPicPr>
        <p:blipFill>
          <a:blip r:embed="rId3"/>
          <a:srcRect t="3368" b="336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A90A4">
                  <a:alpha val="90000"/>
                </a:srgbClr>
              </a:gs>
              <a:gs pos="50000">
                <a:srgbClr val="D4A574">
                  <a:alpha val="80000"/>
                </a:srgbClr>
              </a:gs>
              <a:gs pos="100000">
                <a:srgbClr val="1A3A5C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242203" y="1085850"/>
            <a:ext cx="1704975" cy="533400"/>
          </a:xfrm>
          <a:custGeom>
            <a:avLst/>
            <a:gdLst/>
            <a:ahLst/>
            <a:cxnLst/>
            <a:rect l="l" t="t" r="r" b="b"/>
            <a:pathLst>
              <a:path w="1704975" h="533400">
                <a:moveTo>
                  <a:pt x="266700" y="0"/>
                </a:moveTo>
                <a:lnTo>
                  <a:pt x="1438275" y="0"/>
                </a:lnTo>
                <a:cubicBezTo>
                  <a:pt x="1585471" y="0"/>
                  <a:pt x="1704975" y="119504"/>
                  <a:pt x="1704975" y="266700"/>
                </a:cubicBezTo>
                <a:lnTo>
                  <a:pt x="1704975" y="266700"/>
                </a:lnTo>
                <a:cubicBezTo>
                  <a:pt x="1704975" y="413896"/>
                  <a:pt x="1585471" y="533400"/>
                  <a:pt x="1438275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5" name="Text 2"/>
          <p:cNvSpPr/>
          <p:nvPr/>
        </p:nvSpPr>
        <p:spPr>
          <a:xfrm>
            <a:off x="5185053" y="1085850"/>
            <a:ext cx="1819275" cy="533400"/>
          </a:xfrm>
          <a:prstGeom prst="rect">
            <a:avLst/>
          </a:prstGeom>
          <a:noFill/>
          <a:ln/>
        </p:spPr>
        <p:txBody>
          <a:bodyPr wrap="square" lIns="304800" tIns="114300" rIns="304800" bIns="11430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BO'LIM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938111" y="1923934"/>
            <a:ext cx="431482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Ijtimoiy</a:t>
            </a:r>
            <a:r>
              <a:rPr lang="en-US" sz="5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uz-Latn-UZ" sz="5400" b="1" dirty="0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</a:t>
            </a:r>
            <a:r>
              <a:rPr lang="en-US" sz="5400" b="1" dirty="0" err="1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a'sir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3009784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8" name="Text 5"/>
          <p:cNvSpPr/>
          <p:nvPr/>
        </p:nvSpPr>
        <p:spPr>
          <a:xfrm>
            <a:off x="4179808" y="3371734"/>
            <a:ext cx="3829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 err="1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Inson</a:t>
            </a:r>
            <a:r>
              <a:rPr lang="en-US" sz="2250" b="1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2250" b="1" dirty="0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</a:t>
            </a:r>
            <a:r>
              <a:rPr lang="en-US" sz="2250" b="1" dirty="0" err="1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adri</a:t>
            </a:r>
            <a:r>
              <a:rPr lang="en-US" sz="2250" b="1" dirty="0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250" b="1" dirty="0" err="1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</a:t>
            </a:r>
            <a:r>
              <a:rPr lang="en-US" sz="2250" b="1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2250" b="1" dirty="0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</a:t>
            </a:r>
            <a:r>
              <a:rPr lang="en-US" sz="2250" b="1" dirty="0" err="1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adaniy</a:t>
            </a:r>
            <a:r>
              <a:rPr lang="en-US" sz="2250" b="1" dirty="0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2250" b="1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</a:t>
            </a:r>
            <a:r>
              <a:rPr lang="en-US" sz="2250" b="1" dirty="0" err="1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ub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39947" y="4171834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647129" y="4457584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161605" y="-8706"/>
                </a:moveTo>
                <a:cubicBezTo>
                  <a:pt x="153970" y="-10247"/>
                  <a:pt x="146134" y="-10247"/>
                  <a:pt x="138499" y="-8706"/>
                </a:cubicBezTo>
                <a:lnTo>
                  <a:pt x="12926" y="16408"/>
                </a:lnTo>
                <a:cubicBezTo>
                  <a:pt x="5425" y="17882"/>
                  <a:pt x="0" y="24512"/>
                  <a:pt x="0" y="32147"/>
                </a:cubicBezTo>
                <a:cubicBezTo>
                  <a:pt x="0" y="39045"/>
                  <a:pt x="4353" y="45073"/>
                  <a:pt x="10716" y="47283"/>
                </a:cubicBezTo>
                <a:lnTo>
                  <a:pt x="10716" y="96441"/>
                </a:lnTo>
                <a:lnTo>
                  <a:pt x="201" y="149081"/>
                </a:lnTo>
                <a:cubicBezTo>
                  <a:pt x="67" y="149684"/>
                  <a:pt x="0" y="150354"/>
                  <a:pt x="0" y="151023"/>
                </a:cubicBezTo>
                <a:cubicBezTo>
                  <a:pt x="0" y="156381"/>
                  <a:pt x="4353" y="160801"/>
                  <a:pt x="9778" y="160801"/>
                </a:cubicBezTo>
                <a:lnTo>
                  <a:pt x="33151" y="160801"/>
                </a:lnTo>
                <a:cubicBezTo>
                  <a:pt x="38509" y="160801"/>
                  <a:pt x="42929" y="156448"/>
                  <a:pt x="42929" y="151023"/>
                </a:cubicBezTo>
                <a:cubicBezTo>
                  <a:pt x="42929" y="150354"/>
                  <a:pt x="42863" y="149751"/>
                  <a:pt x="42729" y="149081"/>
                </a:cubicBezTo>
                <a:lnTo>
                  <a:pt x="32147" y="96441"/>
                </a:lnTo>
                <a:lnTo>
                  <a:pt x="32147" y="51770"/>
                </a:lnTo>
                <a:lnTo>
                  <a:pt x="64294" y="58199"/>
                </a:lnTo>
                <a:lnTo>
                  <a:pt x="64294" y="96441"/>
                </a:lnTo>
                <a:cubicBezTo>
                  <a:pt x="64294" y="143790"/>
                  <a:pt x="102669" y="182166"/>
                  <a:pt x="150019" y="182166"/>
                </a:cubicBezTo>
                <a:cubicBezTo>
                  <a:pt x="197368" y="182166"/>
                  <a:pt x="235744" y="143790"/>
                  <a:pt x="235744" y="96441"/>
                </a:cubicBezTo>
                <a:lnTo>
                  <a:pt x="235744" y="58199"/>
                </a:lnTo>
                <a:lnTo>
                  <a:pt x="287112" y="47952"/>
                </a:lnTo>
                <a:cubicBezTo>
                  <a:pt x="294613" y="46412"/>
                  <a:pt x="300038" y="39782"/>
                  <a:pt x="300038" y="32147"/>
                </a:cubicBezTo>
                <a:cubicBezTo>
                  <a:pt x="300038" y="24512"/>
                  <a:pt x="294613" y="17882"/>
                  <a:pt x="287112" y="16408"/>
                </a:cubicBezTo>
                <a:lnTo>
                  <a:pt x="161605" y="-8706"/>
                </a:lnTo>
                <a:close/>
                <a:moveTo>
                  <a:pt x="150019" y="150019"/>
                </a:moveTo>
                <a:cubicBezTo>
                  <a:pt x="120417" y="150019"/>
                  <a:pt x="96441" y="126043"/>
                  <a:pt x="96441" y="96441"/>
                </a:cubicBezTo>
                <a:lnTo>
                  <a:pt x="203597" y="96441"/>
                </a:lnTo>
                <a:cubicBezTo>
                  <a:pt x="203597" y="126043"/>
                  <a:pt x="179621" y="150019"/>
                  <a:pt x="150019" y="150019"/>
                </a:cubicBezTo>
                <a:close/>
                <a:moveTo>
                  <a:pt x="80434" y="214379"/>
                </a:moveTo>
                <a:cubicBezTo>
                  <a:pt x="39313" y="233266"/>
                  <a:pt x="10716" y="274789"/>
                  <a:pt x="10716" y="323009"/>
                </a:cubicBezTo>
                <a:cubicBezTo>
                  <a:pt x="10716" y="333993"/>
                  <a:pt x="19623" y="342900"/>
                  <a:pt x="30607" y="342900"/>
                </a:cubicBezTo>
                <a:lnTo>
                  <a:pt x="133945" y="342900"/>
                </a:lnTo>
                <a:lnTo>
                  <a:pt x="133945" y="245120"/>
                </a:lnTo>
                <a:lnTo>
                  <a:pt x="95503" y="216322"/>
                </a:lnTo>
                <a:cubicBezTo>
                  <a:pt x="91150" y="213040"/>
                  <a:pt x="85323" y="212169"/>
                  <a:pt x="80367" y="214446"/>
                </a:cubicBezTo>
                <a:close/>
                <a:moveTo>
                  <a:pt x="166092" y="342900"/>
                </a:moveTo>
                <a:lnTo>
                  <a:pt x="269431" y="342900"/>
                </a:lnTo>
                <a:cubicBezTo>
                  <a:pt x="280415" y="342900"/>
                  <a:pt x="289322" y="333993"/>
                  <a:pt x="289322" y="323009"/>
                </a:cubicBezTo>
                <a:cubicBezTo>
                  <a:pt x="289322" y="274789"/>
                  <a:pt x="260725" y="233266"/>
                  <a:pt x="219603" y="214446"/>
                </a:cubicBezTo>
                <a:cubicBezTo>
                  <a:pt x="214647" y="212169"/>
                  <a:pt x="208821" y="213040"/>
                  <a:pt x="204468" y="216322"/>
                </a:cubicBezTo>
                <a:lnTo>
                  <a:pt x="166025" y="245120"/>
                </a:lnTo>
                <a:lnTo>
                  <a:pt x="166025" y="342900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1" name="Text 8"/>
          <p:cNvSpPr/>
          <p:nvPr/>
        </p:nvSpPr>
        <p:spPr>
          <a:xfrm>
            <a:off x="4253746" y="5238629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Yoshlar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263271" y="5543429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25+ Stajirovka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674043" y="4171834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959793" y="4457584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3486" y="190738"/>
                </a:moveTo>
                <a:cubicBezTo>
                  <a:pt x="36299" y="192145"/>
                  <a:pt x="39514" y="192881"/>
                  <a:pt x="42863" y="192881"/>
                </a:cubicBezTo>
                <a:lnTo>
                  <a:pt x="76818" y="192881"/>
                </a:lnTo>
                <a:cubicBezTo>
                  <a:pt x="82510" y="192881"/>
                  <a:pt x="87935" y="195158"/>
                  <a:pt x="91953" y="199177"/>
                </a:cubicBezTo>
                <a:lnTo>
                  <a:pt x="100861" y="208084"/>
                </a:lnTo>
                <a:cubicBezTo>
                  <a:pt x="104879" y="212102"/>
                  <a:pt x="110304" y="214379"/>
                  <a:pt x="115997" y="214379"/>
                </a:cubicBezTo>
                <a:lnTo>
                  <a:pt x="128521" y="214379"/>
                </a:lnTo>
                <a:cubicBezTo>
                  <a:pt x="140375" y="214379"/>
                  <a:pt x="149952" y="204802"/>
                  <a:pt x="149952" y="192948"/>
                </a:cubicBezTo>
                <a:lnTo>
                  <a:pt x="149952" y="166159"/>
                </a:lnTo>
                <a:cubicBezTo>
                  <a:pt x="149952" y="157252"/>
                  <a:pt x="157118" y="150086"/>
                  <a:pt x="166025" y="150086"/>
                </a:cubicBezTo>
                <a:cubicBezTo>
                  <a:pt x="174933" y="150086"/>
                  <a:pt x="182099" y="142920"/>
                  <a:pt x="182099" y="134012"/>
                </a:cubicBezTo>
                <a:lnTo>
                  <a:pt x="182099" y="105415"/>
                </a:lnTo>
                <a:cubicBezTo>
                  <a:pt x="182099" y="99722"/>
                  <a:pt x="184376" y="94297"/>
                  <a:pt x="188394" y="90279"/>
                </a:cubicBezTo>
                <a:lnTo>
                  <a:pt x="197301" y="81372"/>
                </a:lnTo>
                <a:cubicBezTo>
                  <a:pt x="201320" y="77353"/>
                  <a:pt x="203597" y="71929"/>
                  <a:pt x="203597" y="66236"/>
                </a:cubicBezTo>
                <a:lnTo>
                  <a:pt x="203597" y="38174"/>
                </a:lnTo>
                <a:cubicBezTo>
                  <a:pt x="203597" y="37371"/>
                  <a:pt x="203530" y="36634"/>
                  <a:pt x="203463" y="35830"/>
                </a:cubicBezTo>
                <a:cubicBezTo>
                  <a:pt x="193149" y="33419"/>
                  <a:pt x="182434" y="32147"/>
                  <a:pt x="171450" y="32147"/>
                </a:cubicBezTo>
                <a:cubicBezTo>
                  <a:pt x="94498" y="32147"/>
                  <a:pt x="32147" y="94498"/>
                  <a:pt x="32147" y="171450"/>
                </a:cubicBezTo>
                <a:cubicBezTo>
                  <a:pt x="32147" y="178013"/>
                  <a:pt x="32616" y="184443"/>
                  <a:pt x="33486" y="190738"/>
                </a:cubicBezTo>
                <a:close/>
                <a:moveTo>
                  <a:pt x="303587" y="215719"/>
                </a:moveTo>
                <a:cubicBezTo>
                  <a:pt x="301444" y="214781"/>
                  <a:pt x="299100" y="214313"/>
                  <a:pt x="296555" y="214313"/>
                </a:cubicBezTo>
                <a:lnTo>
                  <a:pt x="289322" y="214313"/>
                </a:lnTo>
                <a:cubicBezTo>
                  <a:pt x="283428" y="214313"/>
                  <a:pt x="278606" y="209490"/>
                  <a:pt x="278606" y="203597"/>
                </a:cubicBezTo>
                <a:cubicBezTo>
                  <a:pt x="278606" y="197703"/>
                  <a:pt x="273784" y="192881"/>
                  <a:pt x="267891" y="192881"/>
                </a:cubicBezTo>
                <a:lnTo>
                  <a:pt x="244651" y="192881"/>
                </a:lnTo>
                <a:cubicBezTo>
                  <a:pt x="238958" y="192881"/>
                  <a:pt x="233534" y="195158"/>
                  <a:pt x="229515" y="199177"/>
                </a:cubicBezTo>
                <a:lnTo>
                  <a:pt x="199177" y="229515"/>
                </a:lnTo>
                <a:cubicBezTo>
                  <a:pt x="195158" y="233534"/>
                  <a:pt x="192881" y="238958"/>
                  <a:pt x="192881" y="244651"/>
                </a:cubicBezTo>
                <a:lnTo>
                  <a:pt x="192881" y="257175"/>
                </a:lnTo>
                <a:cubicBezTo>
                  <a:pt x="192881" y="269029"/>
                  <a:pt x="202458" y="278606"/>
                  <a:pt x="214313" y="278606"/>
                </a:cubicBezTo>
                <a:lnTo>
                  <a:pt x="226836" y="278606"/>
                </a:lnTo>
                <a:cubicBezTo>
                  <a:pt x="232529" y="278606"/>
                  <a:pt x="237954" y="280883"/>
                  <a:pt x="241972" y="284902"/>
                </a:cubicBezTo>
                <a:cubicBezTo>
                  <a:pt x="243446" y="286375"/>
                  <a:pt x="245120" y="287648"/>
                  <a:pt x="246861" y="288585"/>
                </a:cubicBezTo>
                <a:cubicBezTo>
                  <a:pt x="273181" y="271574"/>
                  <a:pt x="293407" y="245991"/>
                  <a:pt x="303520" y="215719"/>
                </a:cubicBezTo>
                <a:close/>
                <a:moveTo>
                  <a:pt x="0" y="171450"/>
                </a:moveTo>
                <a:cubicBezTo>
                  <a:pt x="0" y="76824"/>
                  <a:pt x="76824" y="0"/>
                  <a:pt x="171450" y="0"/>
                </a:cubicBezTo>
                <a:cubicBezTo>
                  <a:pt x="266076" y="0"/>
                  <a:pt x="342900" y="76824"/>
                  <a:pt x="342900" y="171450"/>
                </a:cubicBezTo>
                <a:cubicBezTo>
                  <a:pt x="342900" y="266076"/>
                  <a:pt x="266076" y="342900"/>
                  <a:pt x="171450" y="342900"/>
                </a:cubicBezTo>
                <a:cubicBezTo>
                  <a:pt x="76824" y="342900"/>
                  <a:pt x="0" y="266076"/>
                  <a:pt x="0" y="171450"/>
                </a:cubicBezTo>
                <a:close/>
                <a:moveTo>
                  <a:pt x="85725" y="246459"/>
                </a:moveTo>
                <a:cubicBezTo>
                  <a:pt x="85725" y="252353"/>
                  <a:pt x="90547" y="257175"/>
                  <a:pt x="96441" y="257175"/>
                </a:cubicBezTo>
                <a:lnTo>
                  <a:pt x="117872" y="257175"/>
                </a:lnTo>
                <a:cubicBezTo>
                  <a:pt x="123765" y="257175"/>
                  <a:pt x="128588" y="252353"/>
                  <a:pt x="128588" y="246459"/>
                </a:cubicBezTo>
                <a:cubicBezTo>
                  <a:pt x="128588" y="240566"/>
                  <a:pt x="123765" y="235744"/>
                  <a:pt x="117872" y="235744"/>
                </a:cubicBezTo>
                <a:lnTo>
                  <a:pt x="96441" y="235744"/>
                </a:lnTo>
                <a:cubicBezTo>
                  <a:pt x="90547" y="235744"/>
                  <a:pt x="85725" y="240566"/>
                  <a:pt x="85725" y="246459"/>
                </a:cubicBezTo>
                <a:close/>
                <a:moveTo>
                  <a:pt x="182166" y="171450"/>
                </a:moveTo>
                <a:cubicBezTo>
                  <a:pt x="176272" y="171450"/>
                  <a:pt x="171450" y="176272"/>
                  <a:pt x="171450" y="182166"/>
                </a:cubicBezTo>
                <a:lnTo>
                  <a:pt x="171450" y="203597"/>
                </a:lnTo>
                <a:cubicBezTo>
                  <a:pt x="171450" y="209490"/>
                  <a:pt x="176272" y="214313"/>
                  <a:pt x="182166" y="214313"/>
                </a:cubicBezTo>
                <a:cubicBezTo>
                  <a:pt x="188059" y="214313"/>
                  <a:pt x="192881" y="209490"/>
                  <a:pt x="192881" y="203597"/>
                </a:cubicBezTo>
                <a:lnTo>
                  <a:pt x="192881" y="182166"/>
                </a:lnTo>
                <a:cubicBezTo>
                  <a:pt x="192881" y="176272"/>
                  <a:pt x="188059" y="171450"/>
                  <a:pt x="182166" y="171450"/>
                </a:cubicBezTo>
                <a:close/>
                <a:moveTo>
                  <a:pt x="214313" y="96441"/>
                </a:moveTo>
                <a:lnTo>
                  <a:pt x="214313" y="117872"/>
                </a:lnTo>
                <a:cubicBezTo>
                  <a:pt x="214313" y="123765"/>
                  <a:pt x="219135" y="128588"/>
                  <a:pt x="225028" y="128588"/>
                </a:cubicBezTo>
                <a:cubicBezTo>
                  <a:pt x="230922" y="128588"/>
                  <a:pt x="235744" y="123765"/>
                  <a:pt x="235744" y="117872"/>
                </a:cubicBezTo>
                <a:lnTo>
                  <a:pt x="235744" y="96441"/>
                </a:lnTo>
                <a:cubicBezTo>
                  <a:pt x="235744" y="90547"/>
                  <a:pt x="230922" y="85725"/>
                  <a:pt x="225028" y="85725"/>
                </a:cubicBezTo>
                <a:cubicBezTo>
                  <a:pt x="219135" y="85725"/>
                  <a:pt x="214313" y="90547"/>
                  <a:pt x="214313" y="96441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5" name="Text 12"/>
          <p:cNvSpPr/>
          <p:nvPr/>
        </p:nvSpPr>
        <p:spPr>
          <a:xfrm>
            <a:off x="5626418" y="5238629"/>
            <a:ext cx="100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Art-Export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635943" y="5543429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Global Bozor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972776" y="4171834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7279957" y="4457584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164686" y="-17346"/>
                </a:moveTo>
                <a:cubicBezTo>
                  <a:pt x="155711" y="-22838"/>
                  <a:pt x="144393" y="-22838"/>
                  <a:pt x="135419" y="-17346"/>
                </a:cubicBezTo>
                <a:cubicBezTo>
                  <a:pt x="119077" y="-7367"/>
                  <a:pt x="108965" y="-4688"/>
                  <a:pt x="89810" y="-5090"/>
                </a:cubicBezTo>
                <a:cubicBezTo>
                  <a:pt x="79296" y="-5358"/>
                  <a:pt x="69518" y="335"/>
                  <a:pt x="64428" y="9577"/>
                </a:cubicBezTo>
                <a:cubicBezTo>
                  <a:pt x="55252" y="26387"/>
                  <a:pt x="47818" y="33821"/>
                  <a:pt x="31008" y="42996"/>
                </a:cubicBezTo>
                <a:cubicBezTo>
                  <a:pt x="21766" y="48019"/>
                  <a:pt x="16140" y="57864"/>
                  <a:pt x="16341" y="68379"/>
                </a:cubicBezTo>
                <a:cubicBezTo>
                  <a:pt x="16810" y="87533"/>
                  <a:pt x="14064" y="97646"/>
                  <a:pt x="4085" y="113987"/>
                </a:cubicBezTo>
                <a:cubicBezTo>
                  <a:pt x="-1406" y="122962"/>
                  <a:pt x="-1406" y="134280"/>
                  <a:pt x="4085" y="143255"/>
                </a:cubicBezTo>
                <a:cubicBezTo>
                  <a:pt x="14064" y="159596"/>
                  <a:pt x="16743" y="169709"/>
                  <a:pt x="16341" y="188863"/>
                </a:cubicBezTo>
                <a:cubicBezTo>
                  <a:pt x="16073" y="199378"/>
                  <a:pt x="21766" y="209156"/>
                  <a:pt x="31008" y="214246"/>
                </a:cubicBezTo>
                <a:cubicBezTo>
                  <a:pt x="45809" y="222349"/>
                  <a:pt x="53310" y="229046"/>
                  <a:pt x="61213" y="242039"/>
                </a:cubicBezTo>
                <a:lnTo>
                  <a:pt x="28597" y="307070"/>
                </a:lnTo>
                <a:cubicBezTo>
                  <a:pt x="24646" y="315039"/>
                  <a:pt x="27861" y="324683"/>
                  <a:pt x="35763" y="328635"/>
                </a:cubicBezTo>
                <a:lnTo>
                  <a:pt x="93360" y="357433"/>
                </a:lnTo>
                <a:cubicBezTo>
                  <a:pt x="101062" y="361251"/>
                  <a:pt x="110438" y="358371"/>
                  <a:pt x="114590" y="350870"/>
                </a:cubicBezTo>
                <a:lnTo>
                  <a:pt x="149952" y="287179"/>
                </a:lnTo>
                <a:lnTo>
                  <a:pt x="185313" y="350870"/>
                </a:lnTo>
                <a:cubicBezTo>
                  <a:pt x="189466" y="358371"/>
                  <a:pt x="198842" y="361317"/>
                  <a:pt x="206544" y="357433"/>
                </a:cubicBezTo>
                <a:lnTo>
                  <a:pt x="264140" y="328635"/>
                </a:lnTo>
                <a:cubicBezTo>
                  <a:pt x="272110" y="324683"/>
                  <a:pt x="275325" y="315039"/>
                  <a:pt x="271306" y="307070"/>
                </a:cubicBezTo>
                <a:lnTo>
                  <a:pt x="238758" y="241972"/>
                </a:lnTo>
                <a:cubicBezTo>
                  <a:pt x="246593" y="228980"/>
                  <a:pt x="254161" y="222282"/>
                  <a:pt x="268962" y="214179"/>
                </a:cubicBezTo>
                <a:cubicBezTo>
                  <a:pt x="278204" y="209156"/>
                  <a:pt x="283830" y="199311"/>
                  <a:pt x="283629" y="188796"/>
                </a:cubicBezTo>
                <a:cubicBezTo>
                  <a:pt x="283160" y="169642"/>
                  <a:pt x="285906" y="159529"/>
                  <a:pt x="295885" y="143188"/>
                </a:cubicBezTo>
                <a:cubicBezTo>
                  <a:pt x="301377" y="134213"/>
                  <a:pt x="301377" y="122895"/>
                  <a:pt x="295885" y="113920"/>
                </a:cubicBezTo>
                <a:cubicBezTo>
                  <a:pt x="285906" y="97579"/>
                  <a:pt x="283227" y="87466"/>
                  <a:pt x="283629" y="68312"/>
                </a:cubicBezTo>
                <a:cubicBezTo>
                  <a:pt x="283897" y="57797"/>
                  <a:pt x="278204" y="48019"/>
                  <a:pt x="268962" y="42929"/>
                </a:cubicBezTo>
                <a:cubicBezTo>
                  <a:pt x="252152" y="33754"/>
                  <a:pt x="244718" y="26320"/>
                  <a:pt x="235543" y="9510"/>
                </a:cubicBezTo>
                <a:cubicBezTo>
                  <a:pt x="230520" y="268"/>
                  <a:pt x="220675" y="-5358"/>
                  <a:pt x="210160" y="-5157"/>
                </a:cubicBezTo>
                <a:cubicBezTo>
                  <a:pt x="191006" y="-4688"/>
                  <a:pt x="180893" y="-7434"/>
                  <a:pt x="164552" y="-17413"/>
                </a:cubicBezTo>
                <a:close/>
                <a:moveTo>
                  <a:pt x="150019" y="64294"/>
                </a:moveTo>
                <a:cubicBezTo>
                  <a:pt x="185503" y="64294"/>
                  <a:pt x="214313" y="93103"/>
                  <a:pt x="214313" y="128588"/>
                </a:cubicBezTo>
                <a:cubicBezTo>
                  <a:pt x="214313" y="164072"/>
                  <a:pt x="185503" y="192881"/>
                  <a:pt x="150019" y="192881"/>
                </a:cubicBezTo>
                <a:cubicBezTo>
                  <a:pt x="114534" y="192881"/>
                  <a:pt x="85725" y="164072"/>
                  <a:pt x="85725" y="128588"/>
                </a:cubicBezTo>
                <a:cubicBezTo>
                  <a:pt x="85725" y="93103"/>
                  <a:pt x="114534" y="64294"/>
                  <a:pt x="150019" y="64294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9" name="Text 16"/>
          <p:cNvSpPr/>
          <p:nvPr/>
        </p:nvSpPr>
        <p:spPr>
          <a:xfrm>
            <a:off x="6921818" y="5238629"/>
            <a:ext cx="1019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Nufuz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931343" y="5543429"/>
            <a:ext cx="100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Madaniy Hub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4A90A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IJTIMOIY TA'SIR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Yoshlar </a:t>
            </a:r>
            <a:r>
              <a:rPr lang="en-US" sz="2700" b="1" dirty="0" err="1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</a:t>
            </a:r>
            <a:r>
              <a:rPr lang="en-US" sz="27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uz-Latn-UZ" sz="270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</a:t>
            </a:r>
            <a:r>
              <a:rPr lang="en-US" sz="2700" b="1" dirty="0" err="1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adaniy</a:t>
            </a:r>
            <a:r>
              <a:rPr lang="en-US" sz="270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uz-Latn-UZ" sz="27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</a:t>
            </a:r>
            <a:r>
              <a:rPr lang="en-US" sz="2700" b="1" dirty="0" err="1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ksport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57150"/>
          </a:xfrm>
          <a:custGeom>
            <a:avLst/>
            <a:gdLst/>
            <a:ahLst/>
            <a:cxnLst/>
            <a:rect l="l" t="t" r="r" b="b"/>
            <a:pathLst>
              <a:path w="762000" h="57150">
                <a:moveTo>
                  <a:pt x="0" y="0"/>
                </a:moveTo>
                <a:lnTo>
                  <a:pt x="762000" y="0"/>
                </a:lnTo>
                <a:lnTo>
                  <a:pt x="762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28750"/>
            <a:ext cx="5581650" cy="4076700"/>
          </a:xfrm>
          <a:custGeom>
            <a:avLst/>
            <a:gdLst/>
            <a:ahLst/>
            <a:cxnLst/>
            <a:rect l="l" t="t" r="r" b="b"/>
            <a:pathLst>
              <a:path w="5581650" h="4076700">
                <a:moveTo>
                  <a:pt x="38100" y="0"/>
                </a:moveTo>
                <a:lnTo>
                  <a:pt x="5467339" y="0"/>
                </a:lnTo>
                <a:cubicBezTo>
                  <a:pt x="5530471" y="0"/>
                  <a:pt x="5581650" y="51179"/>
                  <a:pt x="5581650" y="114311"/>
                </a:cubicBezTo>
                <a:lnTo>
                  <a:pt x="5581650" y="3962389"/>
                </a:lnTo>
                <a:cubicBezTo>
                  <a:pt x="5581650" y="4025521"/>
                  <a:pt x="5530471" y="4076700"/>
                  <a:pt x="5467339" y="4076700"/>
                </a:cubicBezTo>
                <a:lnTo>
                  <a:pt x="38100" y="4076700"/>
                </a:lnTo>
                <a:cubicBezTo>
                  <a:pt x="17058" y="4076700"/>
                  <a:pt x="0" y="4059642"/>
                  <a:pt x="0" y="4038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428750"/>
            <a:ext cx="38100" cy="4076700"/>
          </a:xfrm>
          <a:custGeom>
            <a:avLst/>
            <a:gdLst/>
            <a:ahLst/>
            <a:cxnLst/>
            <a:rect l="l" t="t" r="r" b="b"/>
            <a:pathLst>
              <a:path w="38100" h="4076700">
                <a:moveTo>
                  <a:pt x="38100" y="0"/>
                </a:moveTo>
                <a:lnTo>
                  <a:pt x="38100" y="0"/>
                </a:lnTo>
                <a:lnTo>
                  <a:pt x="38100" y="4076700"/>
                </a:lnTo>
                <a:lnTo>
                  <a:pt x="38100" y="4076700"/>
                </a:lnTo>
                <a:cubicBezTo>
                  <a:pt x="17072" y="4076700"/>
                  <a:pt x="0" y="4059628"/>
                  <a:pt x="0" y="4038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6573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8" name="Shape 6"/>
          <p:cNvSpPr/>
          <p:nvPr/>
        </p:nvSpPr>
        <p:spPr>
          <a:xfrm>
            <a:off x="852488" y="18478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7737" y="-5804"/>
                </a:moveTo>
                <a:cubicBezTo>
                  <a:pt x="102647" y="-6831"/>
                  <a:pt x="97423" y="-6831"/>
                  <a:pt x="92333" y="-5804"/>
                </a:cubicBezTo>
                <a:lnTo>
                  <a:pt x="8617" y="10939"/>
                </a:lnTo>
                <a:cubicBezTo>
                  <a:pt x="3617" y="11921"/>
                  <a:pt x="0" y="16341"/>
                  <a:pt x="0" y="21431"/>
                </a:cubicBezTo>
                <a:cubicBezTo>
                  <a:pt x="0" y="26030"/>
                  <a:pt x="2902" y="30048"/>
                  <a:pt x="7144" y="31522"/>
                </a:cubicBezTo>
                <a:lnTo>
                  <a:pt x="7144" y="64294"/>
                </a:lnTo>
                <a:lnTo>
                  <a:pt x="134" y="99387"/>
                </a:lnTo>
                <a:cubicBezTo>
                  <a:pt x="45" y="99789"/>
                  <a:pt x="0" y="100236"/>
                  <a:pt x="0" y="100682"/>
                </a:cubicBezTo>
                <a:cubicBezTo>
                  <a:pt x="0" y="104254"/>
                  <a:pt x="2902" y="107201"/>
                  <a:pt x="6519" y="107201"/>
                </a:cubicBezTo>
                <a:lnTo>
                  <a:pt x="22101" y="107201"/>
                </a:lnTo>
                <a:cubicBezTo>
                  <a:pt x="25673" y="107201"/>
                  <a:pt x="28620" y="104299"/>
                  <a:pt x="28620" y="100682"/>
                </a:cubicBezTo>
                <a:cubicBezTo>
                  <a:pt x="28620" y="100236"/>
                  <a:pt x="28575" y="99834"/>
                  <a:pt x="28486" y="99387"/>
                </a:cubicBezTo>
                <a:lnTo>
                  <a:pt x="21431" y="64294"/>
                </a:lnTo>
                <a:lnTo>
                  <a:pt x="21431" y="34513"/>
                </a:lnTo>
                <a:lnTo>
                  <a:pt x="42863" y="38799"/>
                </a:lnTo>
                <a:lnTo>
                  <a:pt x="42863" y="64294"/>
                </a:lnTo>
                <a:cubicBezTo>
                  <a:pt x="42863" y="95860"/>
                  <a:pt x="68446" y="121444"/>
                  <a:pt x="100013" y="121444"/>
                </a:cubicBezTo>
                <a:cubicBezTo>
                  <a:pt x="131579" y="121444"/>
                  <a:pt x="157163" y="95860"/>
                  <a:pt x="157163" y="64294"/>
                </a:cubicBezTo>
                <a:lnTo>
                  <a:pt x="157163" y="38799"/>
                </a:lnTo>
                <a:lnTo>
                  <a:pt x="191408" y="31968"/>
                </a:lnTo>
                <a:cubicBezTo>
                  <a:pt x="196408" y="30941"/>
                  <a:pt x="200025" y="26521"/>
                  <a:pt x="200025" y="21431"/>
                </a:cubicBezTo>
                <a:cubicBezTo>
                  <a:pt x="200025" y="16341"/>
                  <a:pt x="196408" y="11921"/>
                  <a:pt x="191408" y="10939"/>
                </a:cubicBezTo>
                <a:lnTo>
                  <a:pt x="107737" y="-5804"/>
                </a:lnTo>
                <a:close/>
                <a:moveTo>
                  <a:pt x="100013" y="100013"/>
                </a:moveTo>
                <a:cubicBezTo>
                  <a:pt x="80278" y="100013"/>
                  <a:pt x="64294" y="84028"/>
                  <a:pt x="64294" y="64294"/>
                </a:cubicBezTo>
                <a:lnTo>
                  <a:pt x="135731" y="64294"/>
                </a:lnTo>
                <a:cubicBezTo>
                  <a:pt x="135731" y="84028"/>
                  <a:pt x="119747" y="100013"/>
                  <a:pt x="100013" y="100013"/>
                </a:cubicBezTo>
                <a:close/>
                <a:moveTo>
                  <a:pt x="53623" y="142920"/>
                </a:moveTo>
                <a:cubicBezTo>
                  <a:pt x="26209" y="155511"/>
                  <a:pt x="7144" y="183193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89297" y="228600"/>
                </a:lnTo>
                <a:lnTo>
                  <a:pt x="89297" y="163413"/>
                </a:lnTo>
                <a:lnTo>
                  <a:pt x="63669" y="144214"/>
                </a:lnTo>
                <a:cubicBezTo>
                  <a:pt x="60767" y="142027"/>
                  <a:pt x="56882" y="141446"/>
                  <a:pt x="53578" y="142964"/>
                </a:cubicBezTo>
                <a:close/>
                <a:moveTo>
                  <a:pt x="110728" y="228600"/>
                </a:move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83193"/>
                  <a:pt x="173816" y="155511"/>
                  <a:pt x="146402" y="142964"/>
                </a:cubicBezTo>
                <a:cubicBezTo>
                  <a:pt x="143098" y="141446"/>
                  <a:pt x="139214" y="142027"/>
                  <a:pt x="136312" y="144214"/>
                </a:cubicBezTo>
                <a:lnTo>
                  <a:pt x="110683" y="163413"/>
                </a:lnTo>
                <a:lnTo>
                  <a:pt x="110683" y="2286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409700" y="1657350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Yoshlar uchun Imkoniyatlar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09700" y="2076329"/>
            <a:ext cx="44196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Har yili 25+ yosh artist</a:t>
            </a: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ning xalqaro bepul stajirovkasi. Bu loyiha yangi avlod san'atkorlarini xalqaro maydonga olib chiqish uchun strategik imkoniyat yaratadi.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09700" y="2971679"/>
            <a:ext cx="2114550" cy="876300"/>
          </a:xfrm>
          <a:custGeom>
            <a:avLst/>
            <a:gdLst/>
            <a:ahLst/>
            <a:cxnLst/>
            <a:rect l="l" t="t" r="r" b="b"/>
            <a:pathLst>
              <a:path w="2114550" h="876300">
                <a:moveTo>
                  <a:pt x="76203" y="0"/>
                </a:moveTo>
                <a:lnTo>
                  <a:pt x="2038347" y="0"/>
                </a:lnTo>
                <a:cubicBezTo>
                  <a:pt x="2080433" y="0"/>
                  <a:pt x="2114550" y="34117"/>
                  <a:pt x="2114550" y="76203"/>
                </a:cubicBezTo>
                <a:lnTo>
                  <a:pt x="2114550" y="800097"/>
                </a:lnTo>
                <a:cubicBezTo>
                  <a:pt x="2114550" y="842183"/>
                  <a:pt x="2080433" y="876300"/>
                  <a:pt x="203834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3A5C">
              <a:alpha val="5098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524000" y="3085979"/>
            <a:ext cx="1962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 err="1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Xalqaro</a:t>
            </a:r>
            <a:r>
              <a:rPr lang="en-US" sz="1200" b="1" dirty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200" b="1" dirty="0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</a:t>
            </a:r>
            <a:r>
              <a:rPr lang="en-US" sz="1200" b="1" dirty="0" err="1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ajriba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24000" y="3352679"/>
            <a:ext cx="1952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Dunyo klassik san'at markazlarida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38550" y="2971679"/>
            <a:ext cx="2114550" cy="876300"/>
          </a:xfrm>
          <a:custGeom>
            <a:avLst/>
            <a:gdLst/>
            <a:ahLst/>
            <a:cxnLst/>
            <a:rect l="l" t="t" r="r" b="b"/>
            <a:pathLst>
              <a:path w="2114550" h="876300">
                <a:moveTo>
                  <a:pt x="76203" y="0"/>
                </a:moveTo>
                <a:lnTo>
                  <a:pt x="2038347" y="0"/>
                </a:lnTo>
                <a:cubicBezTo>
                  <a:pt x="2080433" y="0"/>
                  <a:pt x="2114550" y="34117"/>
                  <a:pt x="2114550" y="76203"/>
                </a:cubicBezTo>
                <a:lnTo>
                  <a:pt x="2114550" y="800097"/>
                </a:lnTo>
                <a:cubicBezTo>
                  <a:pt x="2114550" y="842183"/>
                  <a:pt x="2080433" y="876300"/>
                  <a:pt x="203834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3A5C">
              <a:alpha val="5098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752850" y="3085979"/>
            <a:ext cx="1962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Professional </a:t>
            </a:r>
            <a:r>
              <a:rPr lang="uz-Latn-UZ" sz="1200" b="1" dirty="0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</a:t>
            </a:r>
            <a:r>
              <a:rPr lang="en-US" sz="1200" b="1" dirty="0" err="1" smtClean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ivojlanish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52850" y="3352679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Master-klass va workshoplar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000" y="5695717"/>
            <a:ext cx="5600700" cy="990600"/>
          </a:xfrm>
          <a:custGeom>
            <a:avLst/>
            <a:gdLst/>
            <a:ahLst/>
            <a:cxnLst/>
            <a:rect l="l" t="t" r="r" b="b"/>
            <a:pathLst>
              <a:path w="5600700" h="990600">
                <a:moveTo>
                  <a:pt x="114295" y="0"/>
                </a:moveTo>
                <a:lnTo>
                  <a:pt x="5486405" y="0"/>
                </a:lnTo>
                <a:cubicBezTo>
                  <a:pt x="5549486" y="0"/>
                  <a:pt x="5600700" y="51214"/>
                  <a:pt x="5600700" y="114295"/>
                </a:cubicBezTo>
                <a:lnTo>
                  <a:pt x="5600700" y="876305"/>
                </a:lnTo>
                <a:cubicBezTo>
                  <a:pt x="5600700" y="939386"/>
                  <a:pt x="5549486" y="990600"/>
                  <a:pt x="5486405" y="990600"/>
                </a:cubicBezTo>
                <a:lnTo>
                  <a:pt x="114295" y="990600"/>
                </a:lnTo>
                <a:cubicBezTo>
                  <a:pt x="51214" y="990600"/>
                  <a:pt x="0" y="939386"/>
                  <a:pt x="0" y="8763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1A3A5C"/>
              </a:gs>
              <a:gs pos="100000">
                <a:srgbClr val="4A90A4"/>
              </a:gs>
            </a:gsLst>
            <a:lin ang="0" scaled="1"/>
          </a:gradFill>
          <a:ln/>
        </p:spPr>
      </p:sp>
      <p:sp>
        <p:nvSpPr>
          <p:cNvPr id="18" name="Shape 16"/>
          <p:cNvSpPr/>
          <p:nvPr/>
        </p:nvSpPr>
        <p:spPr>
          <a:xfrm>
            <a:off x="573881" y="6048142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9" name="Text 17"/>
          <p:cNvSpPr/>
          <p:nvPr/>
        </p:nvSpPr>
        <p:spPr>
          <a:xfrm>
            <a:off x="1081088" y="5943367"/>
            <a:ext cx="1990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 </a:t>
            </a:r>
            <a:r>
              <a:rPr lang="uz-Latn-UZ" sz="1350" b="1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</a:t>
            </a:r>
            <a:r>
              <a:rPr lang="en-US" sz="1350" b="1" dirty="0" err="1" smtClean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illik</a:t>
            </a:r>
            <a:r>
              <a:rPr lang="en-US" sz="1350" b="1" dirty="0" smtClean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350" b="1" dirty="0" smtClean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</a:t>
            </a:r>
            <a:r>
              <a:rPr lang="en-US" sz="1350" b="1" dirty="0" err="1" smtClean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81088" y="6210067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125+ yosh artist stajirovkasi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81086" y="5886217"/>
            <a:ext cx="91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D4A5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125+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76336" y="6267217"/>
            <a:ext cx="81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Artist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9350" y="1428750"/>
            <a:ext cx="5581650" cy="3067050"/>
          </a:xfrm>
          <a:custGeom>
            <a:avLst/>
            <a:gdLst/>
            <a:ahLst/>
            <a:cxnLst/>
            <a:rect l="l" t="t" r="r" b="b"/>
            <a:pathLst>
              <a:path w="5581650" h="3067050">
                <a:moveTo>
                  <a:pt x="38100" y="0"/>
                </a:moveTo>
                <a:lnTo>
                  <a:pt x="5467341" y="0"/>
                </a:lnTo>
                <a:cubicBezTo>
                  <a:pt x="5530472" y="0"/>
                  <a:pt x="5581650" y="51178"/>
                  <a:pt x="5581650" y="114309"/>
                </a:cubicBezTo>
                <a:lnTo>
                  <a:pt x="5581650" y="2952741"/>
                </a:lnTo>
                <a:cubicBezTo>
                  <a:pt x="5581650" y="3015872"/>
                  <a:pt x="5530472" y="3067050"/>
                  <a:pt x="5467341" y="3067050"/>
                </a:cubicBezTo>
                <a:lnTo>
                  <a:pt x="38100" y="3067050"/>
                </a:lnTo>
                <a:cubicBezTo>
                  <a:pt x="17058" y="3067050"/>
                  <a:pt x="0" y="3049992"/>
                  <a:pt x="0" y="3028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29350" y="1428750"/>
            <a:ext cx="38100" cy="3067050"/>
          </a:xfrm>
          <a:custGeom>
            <a:avLst/>
            <a:gdLst/>
            <a:ahLst/>
            <a:cxnLst/>
            <a:rect l="l" t="t" r="r" b="b"/>
            <a:pathLst>
              <a:path w="38100" h="3067050">
                <a:moveTo>
                  <a:pt x="38100" y="0"/>
                </a:moveTo>
                <a:lnTo>
                  <a:pt x="38100" y="0"/>
                </a:lnTo>
                <a:lnTo>
                  <a:pt x="38100" y="3067050"/>
                </a:lnTo>
                <a:lnTo>
                  <a:pt x="38100" y="3067050"/>
                </a:lnTo>
                <a:cubicBezTo>
                  <a:pt x="17072" y="3067050"/>
                  <a:pt x="0" y="3049978"/>
                  <a:pt x="0" y="3028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25" name="Shape 23"/>
          <p:cNvSpPr/>
          <p:nvPr/>
        </p:nvSpPr>
        <p:spPr>
          <a:xfrm>
            <a:off x="6477000" y="16573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26" name="Shape 24"/>
          <p:cNvSpPr/>
          <p:nvPr/>
        </p:nvSpPr>
        <p:spPr>
          <a:xfrm>
            <a:off x="6667500" y="1847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324" y="127159"/>
                </a:moveTo>
                <a:cubicBezTo>
                  <a:pt x="24199" y="128096"/>
                  <a:pt x="26343" y="128588"/>
                  <a:pt x="28575" y="128588"/>
                </a:cubicBezTo>
                <a:lnTo>
                  <a:pt x="51212" y="128588"/>
                </a:lnTo>
                <a:cubicBezTo>
                  <a:pt x="55007" y="128588"/>
                  <a:pt x="58623" y="130106"/>
                  <a:pt x="61302" y="132784"/>
                </a:cubicBezTo>
                <a:lnTo>
                  <a:pt x="67241" y="138723"/>
                </a:lnTo>
                <a:cubicBezTo>
                  <a:pt x="69919" y="141402"/>
                  <a:pt x="73536" y="142920"/>
                  <a:pt x="77331" y="142920"/>
                </a:cubicBezTo>
                <a:lnTo>
                  <a:pt x="85680" y="142920"/>
                </a:lnTo>
                <a:cubicBezTo>
                  <a:pt x="93583" y="142920"/>
                  <a:pt x="99968" y="136535"/>
                  <a:pt x="99968" y="128632"/>
                </a:cubicBezTo>
                <a:lnTo>
                  <a:pt x="99968" y="110773"/>
                </a:lnTo>
                <a:cubicBezTo>
                  <a:pt x="99968" y="104835"/>
                  <a:pt x="104745" y="100057"/>
                  <a:pt x="110683" y="100057"/>
                </a:cubicBezTo>
                <a:cubicBezTo>
                  <a:pt x="116622" y="100057"/>
                  <a:pt x="121399" y="95280"/>
                  <a:pt x="121399" y="89342"/>
                </a:cubicBezTo>
                <a:lnTo>
                  <a:pt x="121399" y="70277"/>
                </a:lnTo>
                <a:cubicBezTo>
                  <a:pt x="121399" y="66482"/>
                  <a:pt x="122917" y="62865"/>
                  <a:pt x="125596" y="60186"/>
                </a:cubicBezTo>
                <a:lnTo>
                  <a:pt x="131534" y="54248"/>
                </a:lnTo>
                <a:cubicBezTo>
                  <a:pt x="134213" y="51569"/>
                  <a:pt x="135731" y="47952"/>
                  <a:pt x="135731" y="44157"/>
                </a:cubicBezTo>
                <a:lnTo>
                  <a:pt x="135731" y="25450"/>
                </a:lnTo>
                <a:cubicBezTo>
                  <a:pt x="135731" y="24914"/>
                  <a:pt x="135687" y="24423"/>
                  <a:pt x="135642" y="23887"/>
                </a:cubicBezTo>
                <a:cubicBezTo>
                  <a:pt x="128766" y="22280"/>
                  <a:pt x="121622" y="21431"/>
                  <a:pt x="114300" y="21431"/>
                </a:cubicBezTo>
                <a:cubicBezTo>
                  <a:pt x="62999" y="21431"/>
                  <a:pt x="21431" y="62999"/>
                  <a:pt x="21431" y="114300"/>
                </a:cubicBezTo>
                <a:cubicBezTo>
                  <a:pt x="21431" y="118676"/>
                  <a:pt x="21744" y="122962"/>
                  <a:pt x="22324" y="127159"/>
                </a:cubicBezTo>
                <a:close/>
                <a:moveTo>
                  <a:pt x="202391" y="143813"/>
                </a:moveTo>
                <a:cubicBezTo>
                  <a:pt x="200963" y="143188"/>
                  <a:pt x="199400" y="142875"/>
                  <a:pt x="197703" y="142875"/>
                </a:cubicBezTo>
                <a:lnTo>
                  <a:pt x="192881" y="142875"/>
                </a:lnTo>
                <a:cubicBezTo>
                  <a:pt x="188952" y="142875"/>
                  <a:pt x="185738" y="139660"/>
                  <a:pt x="185738" y="135731"/>
                </a:cubicBezTo>
                <a:cubicBezTo>
                  <a:pt x="185738" y="131802"/>
                  <a:pt x="182523" y="128588"/>
                  <a:pt x="178594" y="128588"/>
                </a:cubicBezTo>
                <a:lnTo>
                  <a:pt x="163101" y="128588"/>
                </a:lnTo>
                <a:cubicBezTo>
                  <a:pt x="159306" y="128588"/>
                  <a:pt x="155689" y="130106"/>
                  <a:pt x="153010" y="132784"/>
                </a:cubicBezTo>
                <a:lnTo>
                  <a:pt x="132784" y="153010"/>
                </a:lnTo>
                <a:cubicBezTo>
                  <a:pt x="130106" y="155689"/>
                  <a:pt x="128588" y="159306"/>
                  <a:pt x="128588" y="163101"/>
                </a:cubicBezTo>
                <a:lnTo>
                  <a:pt x="128588" y="171450"/>
                </a:lnTo>
                <a:cubicBezTo>
                  <a:pt x="128588" y="179353"/>
                  <a:pt x="134972" y="185738"/>
                  <a:pt x="142875" y="185738"/>
                </a:cubicBezTo>
                <a:lnTo>
                  <a:pt x="151224" y="185738"/>
                </a:lnTo>
                <a:cubicBezTo>
                  <a:pt x="155019" y="185738"/>
                  <a:pt x="158636" y="187256"/>
                  <a:pt x="161315" y="189934"/>
                </a:cubicBezTo>
                <a:cubicBezTo>
                  <a:pt x="162297" y="190917"/>
                  <a:pt x="163413" y="191765"/>
                  <a:pt x="164574" y="192390"/>
                </a:cubicBezTo>
                <a:cubicBezTo>
                  <a:pt x="182121" y="181049"/>
                  <a:pt x="195605" y="163994"/>
                  <a:pt x="202347" y="143813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57150" y="164306"/>
                </a:moveTo>
                <a:cubicBezTo>
                  <a:pt x="57150" y="168235"/>
                  <a:pt x="60365" y="171450"/>
                  <a:pt x="64294" y="171450"/>
                </a:cubicBezTo>
                <a:lnTo>
                  <a:pt x="78581" y="171450"/>
                </a:lnTo>
                <a:cubicBezTo>
                  <a:pt x="82510" y="171450"/>
                  <a:pt x="85725" y="168235"/>
                  <a:pt x="85725" y="164306"/>
                </a:cubicBezTo>
                <a:cubicBezTo>
                  <a:pt x="85725" y="160377"/>
                  <a:pt x="82510" y="157163"/>
                  <a:pt x="78581" y="157163"/>
                </a:cubicBezTo>
                <a:lnTo>
                  <a:pt x="64294" y="157163"/>
                </a:lnTo>
                <a:cubicBezTo>
                  <a:pt x="60365" y="157163"/>
                  <a:pt x="57150" y="160377"/>
                  <a:pt x="57150" y="164306"/>
                </a:cubicBezTo>
                <a:close/>
                <a:moveTo>
                  <a:pt x="121444" y="114300"/>
                </a:moveTo>
                <a:cubicBezTo>
                  <a:pt x="117515" y="114300"/>
                  <a:pt x="114300" y="117515"/>
                  <a:pt x="114300" y="121444"/>
                </a:cubicBezTo>
                <a:lnTo>
                  <a:pt x="114300" y="135731"/>
                </a:lnTo>
                <a:cubicBezTo>
                  <a:pt x="114300" y="139660"/>
                  <a:pt x="117515" y="142875"/>
                  <a:pt x="121444" y="142875"/>
                </a:cubicBezTo>
                <a:cubicBezTo>
                  <a:pt x="125373" y="142875"/>
                  <a:pt x="128588" y="139660"/>
                  <a:pt x="128588" y="135731"/>
                </a:cubicBezTo>
                <a:lnTo>
                  <a:pt x="128588" y="121444"/>
                </a:lnTo>
                <a:cubicBezTo>
                  <a:pt x="128588" y="117515"/>
                  <a:pt x="125373" y="114300"/>
                  <a:pt x="121444" y="114300"/>
                </a:cubicBezTo>
                <a:close/>
                <a:moveTo>
                  <a:pt x="142875" y="64294"/>
                </a:moveTo>
                <a:lnTo>
                  <a:pt x="142875" y="78581"/>
                </a:lnTo>
                <a:cubicBezTo>
                  <a:pt x="142875" y="82510"/>
                  <a:pt x="146090" y="85725"/>
                  <a:pt x="150019" y="85725"/>
                </a:cubicBezTo>
                <a:cubicBezTo>
                  <a:pt x="153948" y="85725"/>
                  <a:pt x="157163" y="82510"/>
                  <a:pt x="157163" y="78581"/>
                </a:cubicBezTo>
                <a:lnTo>
                  <a:pt x="157163" y="64294"/>
                </a:lnTo>
                <a:cubicBezTo>
                  <a:pt x="157163" y="60365"/>
                  <a:pt x="153948" y="57150"/>
                  <a:pt x="150019" y="57150"/>
                </a:cubicBezTo>
                <a:cubicBezTo>
                  <a:pt x="146090" y="57150"/>
                  <a:pt x="142875" y="60365"/>
                  <a:pt x="142875" y="6429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239000" y="1657350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Art-Export </a:t>
            </a:r>
            <a:r>
              <a:rPr lang="uz-Latn-UZ" sz="180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</a:t>
            </a:r>
            <a:r>
              <a:rPr lang="en-US" sz="1800" b="1" dirty="0" err="1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trategiyasi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39000" y="2076329"/>
            <a:ext cx="44196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O'zbek madaniyatini</a:t>
            </a: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raqamli va jonli tarzda global bozorga olib chiqish. Xalqaro platformalar orqali milliy san'atni dunyoga tanitish.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239000" y="2971679"/>
            <a:ext cx="4343400" cy="381000"/>
          </a:xfrm>
          <a:custGeom>
            <a:avLst/>
            <a:gdLst/>
            <a:ahLst/>
            <a:cxnLst/>
            <a:rect l="l" t="t" r="r" b="b"/>
            <a:pathLst>
              <a:path w="4343400" h="381000">
                <a:moveTo>
                  <a:pt x="76200" y="0"/>
                </a:moveTo>
                <a:lnTo>
                  <a:pt x="4267200" y="0"/>
                </a:lnTo>
                <a:cubicBezTo>
                  <a:pt x="4309256" y="0"/>
                  <a:pt x="4343400" y="34144"/>
                  <a:pt x="4343400" y="76200"/>
                </a:cubicBezTo>
                <a:lnTo>
                  <a:pt x="4343400" y="304800"/>
                </a:lnTo>
                <a:cubicBezTo>
                  <a:pt x="4343400" y="346856"/>
                  <a:pt x="4309256" y="381000"/>
                  <a:pt x="42672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0A4">
              <a:alpha val="5098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324725" y="3085979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8575" y="19050"/>
                </a:moveTo>
                <a:cubicBezTo>
                  <a:pt x="18068" y="19050"/>
                  <a:pt x="9525" y="27593"/>
                  <a:pt x="9525" y="38100"/>
                </a:cubicBezTo>
                <a:lnTo>
                  <a:pt x="9525" y="114300"/>
                </a:lnTo>
                <a:cubicBezTo>
                  <a:pt x="9525" y="124807"/>
                  <a:pt x="18068" y="133350"/>
                  <a:pt x="28575" y="133350"/>
                </a:cubicBezTo>
                <a:lnTo>
                  <a:pt x="104775" y="133350"/>
                </a:lnTo>
                <a:cubicBezTo>
                  <a:pt x="115282" y="133350"/>
                  <a:pt x="123825" y="124807"/>
                  <a:pt x="123825" y="114300"/>
                </a:cubicBezTo>
                <a:lnTo>
                  <a:pt x="123825" y="38100"/>
                </a:lnTo>
                <a:cubicBezTo>
                  <a:pt x="123825" y="27593"/>
                  <a:pt x="115282" y="19050"/>
                  <a:pt x="104775" y="19050"/>
                </a:cubicBezTo>
                <a:lnTo>
                  <a:pt x="28575" y="19050"/>
                </a:lnTo>
                <a:close/>
                <a:moveTo>
                  <a:pt x="138113" y="100013"/>
                </a:moveTo>
                <a:lnTo>
                  <a:pt x="159990" y="117515"/>
                </a:lnTo>
                <a:cubicBezTo>
                  <a:pt x="161240" y="118527"/>
                  <a:pt x="162788" y="119062"/>
                  <a:pt x="164396" y="119062"/>
                </a:cubicBezTo>
                <a:cubicBezTo>
                  <a:pt x="168295" y="119062"/>
                  <a:pt x="171450" y="115907"/>
                  <a:pt x="171450" y="112008"/>
                </a:cubicBezTo>
                <a:lnTo>
                  <a:pt x="171450" y="40392"/>
                </a:lnTo>
                <a:cubicBezTo>
                  <a:pt x="171450" y="36493"/>
                  <a:pt x="168295" y="33338"/>
                  <a:pt x="164396" y="33338"/>
                </a:cubicBezTo>
                <a:cubicBezTo>
                  <a:pt x="162788" y="33338"/>
                  <a:pt x="161240" y="33873"/>
                  <a:pt x="159990" y="34885"/>
                </a:cubicBezTo>
                <a:lnTo>
                  <a:pt x="138113" y="52388"/>
                </a:lnTo>
                <a:lnTo>
                  <a:pt x="138113" y="100013"/>
                </a:ln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31" name="Text 29"/>
          <p:cNvSpPr/>
          <p:nvPr/>
        </p:nvSpPr>
        <p:spPr>
          <a:xfrm>
            <a:off x="7620000" y="3047879"/>
            <a:ext cx="2714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Raqamli kontsertlar va translyatsiyalar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239000" y="3428879"/>
            <a:ext cx="4343400" cy="381000"/>
          </a:xfrm>
          <a:custGeom>
            <a:avLst/>
            <a:gdLst/>
            <a:ahLst/>
            <a:cxnLst/>
            <a:rect l="l" t="t" r="r" b="b"/>
            <a:pathLst>
              <a:path w="4343400" h="381000">
                <a:moveTo>
                  <a:pt x="76200" y="0"/>
                </a:moveTo>
                <a:lnTo>
                  <a:pt x="4267200" y="0"/>
                </a:lnTo>
                <a:cubicBezTo>
                  <a:pt x="4309256" y="0"/>
                  <a:pt x="4343400" y="34144"/>
                  <a:pt x="4343400" y="76200"/>
                </a:cubicBezTo>
                <a:lnTo>
                  <a:pt x="4343400" y="304800"/>
                </a:lnTo>
                <a:cubicBezTo>
                  <a:pt x="4343400" y="346856"/>
                  <a:pt x="4309256" y="381000"/>
                  <a:pt x="42672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0A4">
              <a:alpha val="5098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324725" y="3543179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0040" y="25360"/>
                </a:moveTo>
                <a:lnTo>
                  <a:pt x="45333" y="63937"/>
                </a:lnTo>
                <a:cubicBezTo>
                  <a:pt x="43964" y="65455"/>
                  <a:pt x="44023" y="67806"/>
                  <a:pt x="45482" y="69265"/>
                </a:cubicBezTo>
                <a:cubicBezTo>
                  <a:pt x="54560" y="78343"/>
                  <a:pt x="69294" y="78343"/>
                  <a:pt x="78373" y="69265"/>
                </a:cubicBezTo>
                <a:lnTo>
                  <a:pt x="87838" y="59799"/>
                </a:lnTo>
                <a:cubicBezTo>
                  <a:pt x="89089" y="58549"/>
                  <a:pt x="90666" y="57864"/>
                  <a:pt x="92273" y="57745"/>
                </a:cubicBezTo>
                <a:cubicBezTo>
                  <a:pt x="94298" y="57567"/>
                  <a:pt x="96381" y="58251"/>
                  <a:pt x="97929" y="59799"/>
                </a:cubicBezTo>
                <a:lnTo>
                  <a:pt x="150495" y="111919"/>
                </a:lnTo>
                <a:lnTo>
                  <a:pt x="171450" y="95250"/>
                </a:lnTo>
                <a:lnTo>
                  <a:pt x="171450" y="9525"/>
                </a:lnTo>
                <a:lnTo>
                  <a:pt x="138113" y="28575"/>
                </a:lnTo>
                <a:lnTo>
                  <a:pt x="131028" y="23842"/>
                </a:lnTo>
                <a:cubicBezTo>
                  <a:pt x="126325" y="20717"/>
                  <a:pt x="120819" y="19050"/>
                  <a:pt x="115163" y="19050"/>
                </a:cubicBezTo>
                <a:lnTo>
                  <a:pt x="94208" y="19050"/>
                </a:lnTo>
                <a:cubicBezTo>
                  <a:pt x="93881" y="19050"/>
                  <a:pt x="93524" y="19050"/>
                  <a:pt x="93196" y="19080"/>
                </a:cubicBezTo>
                <a:cubicBezTo>
                  <a:pt x="88166" y="19348"/>
                  <a:pt x="83433" y="21610"/>
                  <a:pt x="80040" y="25360"/>
                </a:cubicBezTo>
                <a:close/>
                <a:moveTo>
                  <a:pt x="34707" y="54382"/>
                </a:moveTo>
                <a:lnTo>
                  <a:pt x="66496" y="19050"/>
                </a:lnTo>
                <a:lnTo>
                  <a:pt x="54709" y="19050"/>
                </a:lnTo>
                <a:cubicBezTo>
                  <a:pt x="47119" y="19050"/>
                  <a:pt x="39856" y="22056"/>
                  <a:pt x="34498" y="27414"/>
                </a:cubicBezTo>
                <a:lnTo>
                  <a:pt x="33338" y="28575"/>
                </a:lnTo>
                <a:lnTo>
                  <a:pt x="0" y="9525"/>
                </a:lnTo>
                <a:lnTo>
                  <a:pt x="0" y="95250"/>
                </a:lnTo>
                <a:lnTo>
                  <a:pt x="46553" y="134035"/>
                </a:lnTo>
                <a:cubicBezTo>
                  <a:pt x="53400" y="139750"/>
                  <a:pt x="62032" y="142875"/>
                  <a:pt x="70931" y="142875"/>
                </a:cubicBezTo>
                <a:lnTo>
                  <a:pt x="75605" y="142875"/>
                </a:lnTo>
                <a:lnTo>
                  <a:pt x="73521" y="140791"/>
                </a:lnTo>
                <a:cubicBezTo>
                  <a:pt x="70723" y="137993"/>
                  <a:pt x="70723" y="133469"/>
                  <a:pt x="73521" y="130701"/>
                </a:cubicBezTo>
                <a:cubicBezTo>
                  <a:pt x="76319" y="127933"/>
                  <a:pt x="80843" y="127903"/>
                  <a:pt x="83612" y="130701"/>
                </a:cubicBezTo>
                <a:lnTo>
                  <a:pt x="95816" y="142905"/>
                </a:lnTo>
                <a:lnTo>
                  <a:pt x="98494" y="142905"/>
                </a:lnTo>
                <a:cubicBezTo>
                  <a:pt x="104180" y="142905"/>
                  <a:pt x="109746" y="141625"/>
                  <a:pt x="114806" y="139244"/>
                </a:cubicBezTo>
                <a:lnTo>
                  <a:pt x="106859" y="131266"/>
                </a:lnTo>
                <a:cubicBezTo>
                  <a:pt x="104061" y="128468"/>
                  <a:pt x="104061" y="123944"/>
                  <a:pt x="106859" y="121176"/>
                </a:cubicBezTo>
                <a:cubicBezTo>
                  <a:pt x="109657" y="118408"/>
                  <a:pt x="114181" y="118378"/>
                  <a:pt x="116949" y="121176"/>
                </a:cubicBezTo>
                <a:lnTo>
                  <a:pt x="126474" y="130701"/>
                </a:lnTo>
                <a:lnTo>
                  <a:pt x="131683" y="125492"/>
                </a:lnTo>
                <a:cubicBezTo>
                  <a:pt x="134332" y="122843"/>
                  <a:pt x="135106" y="119003"/>
                  <a:pt x="133945" y="115639"/>
                </a:cubicBezTo>
                <a:lnTo>
                  <a:pt x="92899" y="74920"/>
                </a:lnTo>
                <a:lnTo>
                  <a:pt x="88463" y="79355"/>
                </a:lnTo>
                <a:cubicBezTo>
                  <a:pt x="73789" y="94030"/>
                  <a:pt x="50036" y="94030"/>
                  <a:pt x="35362" y="79355"/>
                </a:cubicBezTo>
                <a:cubicBezTo>
                  <a:pt x="28515" y="72509"/>
                  <a:pt x="28248" y="61526"/>
                  <a:pt x="34707" y="54352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34" name="Text 32"/>
          <p:cNvSpPr/>
          <p:nvPr/>
        </p:nvSpPr>
        <p:spPr>
          <a:xfrm>
            <a:off x="7620000" y="3505079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Xalqaro festival va turnelar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239000" y="3886079"/>
            <a:ext cx="4343400" cy="381000"/>
          </a:xfrm>
          <a:custGeom>
            <a:avLst/>
            <a:gdLst/>
            <a:ahLst/>
            <a:cxnLst/>
            <a:rect l="l" t="t" r="r" b="b"/>
            <a:pathLst>
              <a:path w="4343400" h="381000">
                <a:moveTo>
                  <a:pt x="76200" y="0"/>
                </a:moveTo>
                <a:lnTo>
                  <a:pt x="4267200" y="0"/>
                </a:lnTo>
                <a:cubicBezTo>
                  <a:pt x="4309256" y="0"/>
                  <a:pt x="4343400" y="34144"/>
                  <a:pt x="4343400" y="76200"/>
                </a:cubicBezTo>
                <a:lnTo>
                  <a:pt x="4343400" y="304800"/>
                </a:lnTo>
                <a:cubicBezTo>
                  <a:pt x="4343400" y="346856"/>
                  <a:pt x="4309256" y="381000"/>
                  <a:pt x="42672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0A4">
              <a:alpha val="5098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334250" y="400037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76200" y="85725"/>
                </a:moveTo>
                <a:cubicBezTo>
                  <a:pt x="70943" y="85725"/>
                  <a:pt x="66675" y="81457"/>
                  <a:pt x="66675" y="76200"/>
                </a:cubicBezTo>
                <a:cubicBezTo>
                  <a:pt x="66675" y="70943"/>
                  <a:pt x="70943" y="66675"/>
                  <a:pt x="76200" y="66675"/>
                </a:cubicBezTo>
                <a:cubicBezTo>
                  <a:pt x="81457" y="66675"/>
                  <a:pt x="85725" y="70943"/>
                  <a:pt x="85725" y="76200"/>
                </a:cubicBezTo>
                <a:cubicBezTo>
                  <a:pt x="85725" y="81457"/>
                  <a:pt x="81457" y="85725"/>
                  <a:pt x="76200" y="85725"/>
                </a:cubicBezTo>
                <a:close/>
                <a:moveTo>
                  <a:pt x="47625" y="76200"/>
                </a:moveTo>
                <a:cubicBezTo>
                  <a:pt x="47625" y="91971"/>
                  <a:pt x="60429" y="104775"/>
                  <a:pt x="76200" y="104775"/>
                </a:cubicBezTo>
                <a:cubicBezTo>
                  <a:pt x="91971" y="104775"/>
                  <a:pt x="104775" y="91971"/>
                  <a:pt x="104775" y="76200"/>
                </a:cubicBezTo>
                <a:cubicBezTo>
                  <a:pt x="104775" y="60429"/>
                  <a:pt x="91971" y="47625"/>
                  <a:pt x="76200" y="47625"/>
                </a:cubicBezTo>
                <a:cubicBezTo>
                  <a:pt x="60429" y="47625"/>
                  <a:pt x="47625" y="60429"/>
                  <a:pt x="47625" y="76200"/>
                </a:cubicBezTo>
                <a:close/>
                <a:moveTo>
                  <a:pt x="30956" y="71438"/>
                </a:moveTo>
                <a:cubicBezTo>
                  <a:pt x="30956" y="61793"/>
                  <a:pt x="35808" y="51614"/>
                  <a:pt x="43696" y="43696"/>
                </a:cubicBezTo>
                <a:cubicBezTo>
                  <a:pt x="51584" y="35778"/>
                  <a:pt x="61793" y="30956"/>
                  <a:pt x="71438" y="30956"/>
                </a:cubicBezTo>
                <a:cubicBezTo>
                  <a:pt x="75396" y="30956"/>
                  <a:pt x="78581" y="27771"/>
                  <a:pt x="78581" y="23813"/>
                </a:cubicBezTo>
                <a:cubicBezTo>
                  <a:pt x="78581" y="19854"/>
                  <a:pt x="75396" y="16669"/>
                  <a:pt x="71438" y="16669"/>
                </a:cubicBezTo>
                <a:cubicBezTo>
                  <a:pt x="57180" y="16669"/>
                  <a:pt x="43547" y="23664"/>
                  <a:pt x="33605" y="33605"/>
                </a:cubicBezTo>
                <a:cubicBezTo>
                  <a:pt x="23664" y="43547"/>
                  <a:pt x="16669" y="57180"/>
                  <a:pt x="16669" y="71438"/>
                </a:cubicBezTo>
                <a:cubicBezTo>
                  <a:pt x="16669" y="75396"/>
                  <a:pt x="19854" y="78581"/>
                  <a:pt x="23813" y="78581"/>
                </a:cubicBezTo>
                <a:cubicBezTo>
                  <a:pt x="27771" y="78581"/>
                  <a:pt x="30956" y="75396"/>
                  <a:pt x="30956" y="71438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37" name="Text 35"/>
          <p:cNvSpPr/>
          <p:nvPr/>
        </p:nvSpPr>
        <p:spPr>
          <a:xfrm>
            <a:off x="7620000" y="3962279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Grammofon yozuvlari va albomlar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29350" y="4686179"/>
            <a:ext cx="5581650" cy="2000250"/>
          </a:xfrm>
          <a:custGeom>
            <a:avLst/>
            <a:gdLst/>
            <a:ahLst/>
            <a:cxnLst/>
            <a:rect l="l" t="t" r="r" b="b"/>
            <a:pathLst>
              <a:path w="5581650" h="2000250">
                <a:moveTo>
                  <a:pt x="38100" y="0"/>
                </a:moveTo>
                <a:lnTo>
                  <a:pt x="5467356" y="0"/>
                </a:lnTo>
                <a:cubicBezTo>
                  <a:pt x="5530436" y="0"/>
                  <a:pt x="5581650" y="51214"/>
                  <a:pt x="5581650" y="114294"/>
                </a:cubicBezTo>
                <a:lnTo>
                  <a:pt x="5581650" y="1885956"/>
                </a:lnTo>
                <a:cubicBezTo>
                  <a:pt x="5581650" y="1949036"/>
                  <a:pt x="5530436" y="2000250"/>
                  <a:pt x="5467356" y="2000250"/>
                </a:cubicBezTo>
                <a:lnTo>
                  <a:pt x="38100" y="2000250"/>
                </a:lnTo>
                <a:cubicBezTo>
                  <a:pt x="17058" y="2000250"/>
                  <a:pt x="0" y="1983192"/>
                  <a:pt x="0" y="1962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29350" y="4686179"/>
            <a:ext cx="38100" cy="2000250"/>
          </a:xfrm>
          <a:custGeom>
            <a:avLst/>
            <a:gdLst/>
            <a:ahLst/>
            <a:cxnLst/>
            <a:rect l="l" t="t" r="r" b="b"/>
            <a:pathLst>
              <a:path w="38100" h="2000250">
                <a:moveTo>
                  <a:pt x="38100" y="0"/>
                </a:moveTo>
                <a:lnTo>
                  <a:pt x="38100" y="0"/>
                </a:lnTo>
                <a:lnTo>
                  <a:pt x="38100" y="2000250"/>
                </a:lnTo>
                <a:lnTo>
                  <a:pt x="38100" y="2000250"/>
                </a:lnTo>
                <a:cubicBezTo>
                  <a:pt x="17072" y="2000250"/>
                  <a:pt x="0" y="1983178"/>
                  <a:pt x="0" y="1962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40" name="Shape 38"/>
          <p:cNvSpPr/>
          <p:nvPr/>
        </p:nvSpPr>
        <p:spPr>
          <a:xfrm>
            <a:off x="6477000" y="491477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41" name="Shape 39"/>
          <p:cNvSpPr/>
          <p:nvPr/>
        </p:nvSpPr>
        <p:spPr>
          <a:xfrm>
            <a:off x="6681788" y="5105279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9791" y="-11564"/>
                </a:moveTo>
                <a:cubicBezTo>
                  <a:pt x="103808" y="-15225"/>
                  <a:pt x="96262" y="-15225"/>
                  <a:pt x="90279" y="-11564"/>
                </a:cubicBezTo>
                <a:cubicBezTo>
                  <a:pt x="79385" y="-4911"/>
                  <a:pt x="72643" y="-3125"/>
                  <a:pt x="59874" y="-3393"/>
                </a:cubicBezTo>
                <a:cubicBezTo>
                  <a:pt x="52864" y="-3572"/>
                  <a:pt x="46345" y="223"/>
                  <a:pt x="42952" y="6385"/>
                </a:cubicBezTo>
                <a:cubicBezTo>
                  <a:pt x="36835" y="17591"/>
                  <a:pt x="31879" y="22547"/>
                  <a:pt x="20672" y="28664"/>
                </a:cubicBezTo>
                <a:cubicBezTo>
                  <a:pt x="14511" y="32013"/>
                  <a:pt x="10760" y="38576"/>
                  <a:pt x="10894" y="45586"/>
                </a:cubicBezTo>
                <a:cubicBezTo>
                  <a:pt x="11207" y="58356"/>
                  <a:pt x="9376" y="65097"/>
                  <a:pt x="2724" y="75992"/>
                </a:cubicBezTo>
                <a:cubicBezTo>
                  <a:pt x="-938" y="81975"/>
                  <a:pt x="-938" y="89520"/>
                  <a:pt x="2724" y="95503"/>
                </a:cubicBezTo>
                <a:cubicBezTo>
                  <a:pt x="9376" y="106397"/>
                  <a:pt x="11162" y="113139"/>
                  <a:pt x="10894" y="125909"/>
                </a:cubicBezTo>
                <a:cubicBezTo>
                  <a:pt x="10716" y="132918"/>
                  <a:pt x="14511" y="139437"/>
                  <a:pt x="20672" y="142830"/>
                </a:cubicBezTo>
                <a:cubicBezTo>
                  <a:pt x="30540" y="148233"/>
                  <a:pt x="35540" y="152698"/>
                  <a:pt x="40809" y="161359"/>
                </a:cubicBezTo>
                <a:lnTo>
                  <a:pt x="19065" y="204713"/>
                </a:lnTo>
                <a:cubicBezTo>
                  <a:pt x="16431" y="210026"/>
                  <a:pt x="18574" y="216456"/>
                  <a:pt x="23842" y="219090"/>
                </a:cubicBezTo>
                <a:lnTo>
                  <a:pt x="62240" y="238289"/>
                </a:lnTo>
                <a:cubicBezTo>
                  <a:pt x="67374" y="240834"/>
                  <a:pt x="73625" y="238914"/>
                  <a:pt x="76393" y="233913"/>
                </a:cubicBezTo>
                <a:lnTo>
                  <a:pt x="99968" y="191453"/>
                </a:lnTo>
                <a:lnTo>
                  <a:pt x="123542" y="233913"/>
                </a:lnTo>
                <a:cubicBezTo>
                  <a:pt x="126310" y="238914"/>
                  <a:pt x="132561" y="240878"/>
                  <a:pt x="137696" y="238289"/>
                </a:cubicBezTo>
                <a:lnTo>
                  <a:pt x="176093" y="219090"/>
                </a:lnTo>
                <a:cubicBezTo>
                  <a:pt x="181407" y="216456"/>
                  <a:pt x="183550" y="210026"/>
                  <a:pt x="180871" y="204713"/>
                </a:cubicBezTo>
                <a:lnTo>
                  <a:pt x="159172" y="161315"/>
                </a:lnTo>
                <a:cubicBezTo>
                  <a:pt x="164396" y="152653"/>
                  <a:pt x="169441" y="148188"/>
                  <a:pt x="179308" y="142786"/>
                </a:cubicBezTo>
                <a:cubicBezTo>
                  <a:pt x="185470" y="139437"/>
                  <a:pt x="189220" y="132874"/>
                  <a:pt x="189086" y="125864"/>
                </a:cubicBezTo>
                <a:cubicBezTo>
                  <a:pt x="188774" y="113094"/>
                  <a:pt x="190604" y="106353"/>
                  <a:pt x="197257" y="95458"/>
                </a:cubicBezTo>
                <a:cubicBezTo>
                  <a:pt x="200918" y="89475"/>
                  <a:pt x="200918" y="81930"/>
                  <a:pt x="197257" y="75947"/>
                </a:cubicBezTo>
                <a:cubicBezTo>
                  <a:pt x="190604" y="65053"/>
                  <a:pt x="188818" y="58311"/>
                  <a:pt x="189086" y="45541"/>
                </a:cubicBezTo>
                <a:cubicBezTo>
                  <a:pt x="189265" y="38532"/>
                  <a:pt x="185470" y="32013"/>
                  <a:pt x="179308" y="28620"/>
                </a:cubicBezTo>
                <a:cubicBezTo>
                  <a:pt x="168101" y="22503"/>
                  <a:pt x="163145" y="17547"/>
                  <a:pt x="157029" y="6340"/>
                </a:cubicBezTo>
                <a:cubicBezTo>
                  <a:pt x="153680" y="179"/>
                  <a:pt x="147117" y="-3572"/>
                  <a:pt x="140107" y="-3438"/>
                </a:cubicBezTo>
                <a:cubicBezTo>
                  <a:pt x="127337" y="-3125"/>
                  <a:pt x="120595" y="-4956"/>
                  <a:pt x="109701" y="-11609"/>
                </a:cubicBezTo>
                <a:close/>
                <a:moveTo>
                  <a:pt x="100013" y="42863"/>
                </a:moveTo>
                <a:cubicBezTo>
                  <a:pt x="123669" y="42863"/>
                  <a:pt x="142875" y="62069"/>
                  <a:pt x="142875" y="85725"/>
                </a:cubicBezTo>
                <a:cubicBezTo>
                  <a:pt x="142875" y="109381"/>
                  <a:pt x="123669" y="128588"/>
                  <a:pt x="100013" y="128588"/>
                </a:cubicBezTo>
                <a:cubicBezTo>
                  <a:pt x="76356" y="128588"/>
                  <a:pt x="57150" y="109381"/>
                  <a:pt x="57150" y="85725"/>
                </a:cubicBezTo>
                <a:cubicBezTo>
                  <a:pt x="57150" y="62069"/>
                  <a:pt x="76356" y="42863"/>
                  <a:pt x="100012" y="428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7239000" y="4914779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 err="1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Madaniy</a:t>
            </a:r>
            <a:r>
              <a:rPr lang="en-US" sz="18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uz-Latn-UZ" sz="180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</a:t>
            </a:r>
            <a:r>
              <a:rPr lang="en-US" sz="1800" b="1" dirty="0" err="1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ub</a:t>
            </a:r>
            <a:r>
              <a:rPr lang="en-US" sz="180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uz-Latn-UZ" sz="1800" b="1" dirty="0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</a:t>
            </a:r>
            <a:r>
              <a:rPr lang="en-US" sz="1800" b="1" dirty="0" err="1" smtClean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aqomi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239000" y="5333767"/>
            <a:ext cx="44196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Filarmoniyaning </a:t>
            </a:r>
            <a:r>
              <a:rPr lang="en-US" sz="1200" b="1" dirty="0">
                <a:solidFill>
                  <a:srgbClr val="1A3A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MDH va Osiyo mintaqasida</a:t>
            </a:r>
            <a:r>
              <a:rPr lang="en-US" sz="12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"Madaniy Hub"ga aylanishi. Bu nafaqat moliyaviy foyda, balki milliy madaniyatni dunyoga tanitishda muhim rol.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239000" y="6191017"/>
            <a:ext cx="542925" cy="266700"/>
          </a:xfrm>
          <a:custGeom>
            <a:avLst/>
            <a:gdLst/>
            <a:ahLst/>
            <a:cxnLst/>
            <a:rect l="l" t="t" r="r" b="b"/>
            <a:pathLst>
              <a:path w="542925" h="266700">
                <a:moveTo>
                  <a:pt x="133350" y="0"/>
                </a:moveTo>
                <a:lnTo>
                  <a:pt x="409575" y="0"/>
                </a:lnTo>
                <a:cubicBezTo>
                  <a:pt x="483173" y="0"/>
                  <a:pt x="542925" y="59752"/>
                  <a:pt x="542925" y="133350"/>
                </a:cubicBezTo>
                <a:lnTo>
                  <a:pt x="542925" y="133350"/>
                </a:lnTo>
                <a:cubicBezTo>
                  <a:pt x="542925" y="206948"/>
                  <a:pt x="483173" y="266700"/>
                  <a:pt x="4095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D4A574">
              <a:alpha val="1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239000" y="6191017"/>
            <a:ext cx="6096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5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MDH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854077" y="6191017"/>
            <a:ext cx="571500" cy="266700"/>
          </a:xfrm>
          <a:custGeom>
            <a:avLst/>
            <a:gdLst/>
            <a:ahLst/>
            <a:cxnLst/>
            <a:rect l="l" t="t" r="r" b="b"/>
            <a:pathLst>
              <a:path w="571500" h="266700">
                <a:moveTo>
                  <a:pt x="133350" y="0"/>
                </a:moveTo>
                <a:lnTo>
                  <a:pt x="438150" y="0"/>
                </a:lnTo>
                <a:cubicBezTo>
                  <a:pt x="511748" y="0"/>
                  <a:pt x="571500" y="59752"/>
                  <a:pt x="571500" y="133350"/>
                </a:cubicBezTo>
                <a:lnTo>
                  <a:pt x="571500" y="133350"/>
                </a:lnTo>
                <a:cubicBezTo>
                  <a:pt x="571500" y="206948"/>
                  <a:pt x="511748" y="266700"/>
                  <a:pt x="4381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D4A574">
              <a:alpha val="1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854077" y="6191017"/>
            <a:ext cx="6381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5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Osiyo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502134" y="6191017"/>
            <a:ext cx="733425" cy="266700"/>
          </a:xfrm>
          <a:custGeom>
            <a:avLst/>
            <a:gdLst/>
            <a:ahLst/>
            <a:cxnLst/>
            <a:rect l="l" t="t" r="r" b="b"/>
            <a:pathLst>
              <a:path w="733425" h="266700">
                <a:moveTo>
                  <a:pt x="133350" y="0"/>
                </a:moveTo>
                <a:lnTo>
                  <a:pt x="600075" y="0"/>
                </a:lnTo>
                <a:cubicBezTo>
                  <a:pt x="673673" y="0"/>
                  <a:pt x="733425" y="59752"/>
                  <a:pt x="733425" y="133350"/>
                </a:cubicBezTo>
                <a:lnTo>
                  <a:pt x="733425" y="133350"/>
                </a:lnTo>
                <a:cubicBezTo>
                  <a:pt x="733425" y="206948"/>
                  <a:pt x="673673" y="266700"/>
                  <a:pt x="6000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D4A574">
              <a:alpha val="1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502134" y="6191017"/>
            <a:ext cx="8001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5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Yevropa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fredonia.edu/6ffa89245fbb18da3aa9e43291b1ebf62bc9b1bd.webp"/>
          <p:cNvPicPr>
            <a:picLocks noChangeAspect="1"/>
          </p:cNvPicPr>
          <p:nvPr/>
        </p:nvPicPr>
        <p:blipFill>
          <a:blip r:embed="rId3"/>
          <a:srcRect l="3293" r="329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3A5C">
                  <a:alpha val="95000"/>
                </a:srgbClr>
              </a:gs>
              <a:gs pos="50000">
                <a:srgbClr val="4A90A4">
                  <a:alpha val="90000"/>
                </a:srgbClr>
              </a:gs>
              <a:gs pos="100000">
                <a:srgbClr val="D4A574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212556" y="95250"/>
            <a:ext cx="1762125" cy="419100"/>
          </a:xfrm>
          <a:custGeom>
            <a:avLst/>
            <a:gdLst/>
            <a:ahLst/>
            <a:cxnLst/>
            <a:rect l="l" t="t" r="r" b="b"/>
            <a:pathLst>
              <a:path w="1762125" h="419100">
                <a:moveTo>
                  <a:pt x="209550" y="0"/>
                </a:moveTo>
                <a:lnTo>
                  <a:pt x="1552575" y="0"/>
                </a:lnTo>
                <a:cubicBezTo>
                  <a:pt x="1668229" y="0"/>
                  <a:pt x="1762125" y="93896"/>
                  <a:pt x="1762125" y="209550"/>
                </a:cubicBezTo>
                <a:lnTo>
                  <a:pt x="1762125" y="209550"/>
                </a:lnTo>
                <a:cubicBezTo>
                  <a:pt x="1762125" y="325204"/>
                  <a:pt x="1668229" y="419100"/>
                  <a:pt x="1552575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5" name="Text 2"/>
          <p:cNvSpPr/>
          <p:nvPr/>
        </p:nvSpPr>
        <p:spPr>
          <a:xfrm>
            <a:off x="5164931" y="95250"/>
            <a:ext cx="1857375" cy="419100"/>
          </a:xfrm>
          <a:prstGeom prst="rect">
            <a:avLst/>
          </a:prstGeom>
          <a:noFill/>
          <a:ln/>
        </p:spPr>
        <p:txBody>
          <a:bodyPr wrap="square" lIns="228600" tIns="76200" rIns="22860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KELAJAK </a:t>
            </a:r>
            <a:r>
              <a:rPr lang="en-US" sz="1500" b="1" dirty="0" smtClean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SARI</a:t>
            </a:r>
            <a:r>
              <a:rPr lang="uz-Latn-UZ" sz="1500" b="1" dirty="0" smtClean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!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823567" y="742950"/>
            <a:ext cx="654367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Raqamli</a:t>
            </a:r>
            <a:r>
              <a:rPr lang="en-US" sz="4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uz-Latn-UZ" sz="4500" b="1" dirty="0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</a:t>
            </a:r>
            <a:r>
              <a:rPr lang="en-US" sz="4500" b="1" dirty="0" err="1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ransformatsiya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uz-Latn-UZ" sz="45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</a:t>
            </a:r>
            <a:r>
              <a:rPr lang="en-US" sz="4500" b="1" dirty="0" err="1" smtClean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angi</a:t>
            </a:r>
            <a:r>
              <a:rPr lang="en-US" sz="4500" b="1" dirty="0" smtClean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uz-Latn-UZ" sz="45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r>
              <a:rPr lang="en-US" sz="4500" b="1" dirty="0" err="1" smtClean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osqich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2400300"/>
            <a:ext cx="1219200" cy="0"/>
          </a:xfrm>
          <a:custGeom>
            <a:avLst/>
            <a:gdLst/>
            <a:ahLst/>
            <a:cxnLst/>
            <a:rect l="l" t="t" r="r" b="b"/>
            <a:pathLst>
              <a:path w="1219200">
                <a:moveTo>
                  <a:pt x="0" y="0"/>
                </a:moveTo>
                <a:lnTo>
                  <a:pt x="1219200" y="0"/>
                </a:lnTo>
                <a:lnTo>
                  <a:pt x="121920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8" name="Text 5"/>
          <p:cNvSpPr/>
          <p:nvPr/>
        </p:nvSpPr>
        <p:spPr>
          <a:xfrm>
            <a:off x="1752600" y="2705100"/>
            <a:ext cx="86868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Raqamli Filarmoniya 2026 loyihasi O'zbekiston madaniyatini xalqaro maydonda yangi bosqichga olib chiqish uchun strategik imkoniyat. AI texnologiyalari orqali biz nafaqat samaradorlikni oshiramiz, balki yangi avlod artistlarini </a:t>
            </a:r>
            <a:r>
              <a:rPr lang="en-US" sz="1800" dirty="0" err="1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tarbiyalaymiz</a:t>
            </a: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800" dirty="0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/>
            </a:r>
            <a:br>
              <a:rPr lang="uz-Latn-UZ" sz="1800" dirty="0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</a:br>
            <a:r>
              <a:rPr lang="en-US" sz="1800" dirty="0" err="1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</a:t>
            </a:r>
            <a:r>
              <a:rPr lang="en-US" sz="1800" dirty="0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milliy madaniyatimizni dunyoga tanitamiz.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719864" y="4572000"/>
            <a:ext cx="1514475" cy="1276350"/>
          </a:xfrm>
          <a:custGeom>
            <a:avLst/>
            <a:gdLst/>
            <a:ahLst/>
            <a:cxnLst/>
            <a:rect l="l" t="t" r="r" b="b"/>
            <a:pathLst>
              <a:path w="1514475" h="1276350">
                <a:moveTo>
                  <a:pt x="114297" y="0"/>
                </a:moveTo>
                <a:lnTo>
                  <a:pt x="1400178" y="0"/>
                </a:lnTo>
                <a:cubicBezTo>
                  <a:pt x="1463260" y="0"/>
                  <a:pt x="1514475" y="51215"/>
                  <a:pt x="1514475" y="114297"/>
                </a:cubicBezTo>
                <a:lnTo>
                  <a:pt x="1514475" y="1162053"/>
                </a:lnTo>
                <a:cubicBezTo>
                  <a:pt x="1514475" y="1225135"/>
                  <a:pt x="1463260" y="1276350"/>
                  <a:pt x="1400178" y="1276350"/>
                </a:cubicBezTo>
                <a:lnTo>
                  <a:pt x="114297" y="1276350"/>
                </a:lnTo>
                <a:cubicBezTo>
                  <a:pt x="51215" y="1276350"/>
                  <a:pt x="0" y="1225135"/>
                  <a:pt x="0" y="116205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301960" y="4762500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96453" y="0"/>
                </a:moveTo>
                <a:cubicBezTo>
                  <a:pt x="196453" y="-9878"/>
                  <a:pt x="188472" y="-17859"/>
                  <a:pt x="178594" y="-17859"/>
                </a:cubicBezTo>
                <a:cubicBezTo>
                  <a:pt x="168715" y="-17859"/>
                  <a:pt x="160734" y="-9878"/>
                  <a:pt x="160734" y="0"/>
                </a:cubicBezTo>
                <a:lnTo>
                  <a:pt x="160734" y="35719"/>
                </a:lnTo>
                <a:lnTo>
                  <a:pt x="107156" y="35719"/>
                </a:lnTo>
                <a:cubicBezTo>
                  <a:pt x="77577" y="35719"/>
                  <a:pt x="53578" y="59717"/>
                  <a:pt x="53578" y="89297"/>
                </a:cubicBezTo>
                <a:lnTo>
                  <a:pt x="53578" y="214313"/>
                </a:lnTo>
                <a:cubicBezTo>
                  <a:pt x="53578" y="243892"/>
                  <a:pt x="77577" y="267891"/>
                  <a:pt x="107156" y="267891"/>
                </a:cubicBezTo>
                <a:lnTo>
                  <a:pt x="250031" y="267891"/>
                </a:lnTo>
                <a:cubicBezTo>
                  <a:pt x="279611" y="267891"/>
                  <a:pt x="303609" y="243892"/>
                  <a:pt x="303609" y="214313"/>
                </a:cubicBezTo>
                <a:lnTo>
                  <a:pt x="303609" y="89297"/>
                </a:lnTo>
                <a:cubicBezTo>
                  <a:pt x="303609" y="59717"/>
                  <a:pt x="279611" y="35719"/>
                  <a:pt x="250031" y="35719"/>
                </a:cubicBezTo>
                <a:lnTo>
                  <a:pt x="196453" y="35719"/>
                </a:lnTo>
                <a:lnTo>
                  <a:pt x="196453" y="0"/>
                </a:lnTo>
                <a:close/>
                <a:moveTo>
                  <a:pt x="89297" y="205383"/>
                </a:moveTo>
                <a:cubicBezTo>
                  <a:pt x="89297" y="197960"/>
                  <a:pt x="95269" y="191988"/>
                  <a:pt x="102691" y="191988"/>
                </a:cubicBezTo>
                <a:lnTo>
                  <a:pt x="120551" y="191988"/>
                </a:lnTo>
                <a:cubicBezTo>
                  <a:pt x="127974" y="191988"/>
                  <a:pt x="133945" y="197960"/>
                  <a:pt x="133945" y="205383"/>
                </a:cubicBezTo>
                <a:cubicBezTo>
                  <a:pt x="133945" y="212806"/>
                  <a:pt x="127974" y="218777"/>
                  <a:pt x="120551" y="218777"/>
                </a:cubicBezTo>
                <a:lnTo>
                  <a:pt x="102691" y="218777"/>
                </a:lnTo>
                <a:cubicBezTo>
                  <a:pt x="95269" y="218777"/>
                  <a:pt x="89297" y="212806"/>
                  <a:pt x="89297" y="205383"/>
                </a:cubicBezTo>
                <a:close/>
                <a:moveTo>
                  <a:pt x="156270" y="205383"/>
                </a:moveTo>
                <a:cubicBezTo>
                  <a:pt x="156270" y="197960"/>
                  <a:pt x="162241" y="191988"/>
                  <a:pt x="169664" y="191988"/>
                </a:cubicBezTo>
                <a:lnTo>
                  <a:pt x="187523" y="191988"/>
                </a:lnTo>
                <a:cubicBezTo>
                  <a:pt x="194946" y="191988"/>
                  <a:pt x="200918" y="197960"/>
                  <a:pt x="200918" y="205383"/>
                </a:cubicBezTo>
                <a:cubicBezTo>
                  <a:pt x="200918" y="212806"/>
                  <a:pt x="194946" y="218777"/>
                  <a:pt x="187523" y="218777"/>
                </a:cubicBezTo>
                <a:lnTo>
                  <a:pt x="169664" y="218777"/>
                </a:lnTo>
                <a:cubicBezTo>
                  <a:pt x="162241" y="218777"/>
                  <a:pt x="156270" y="212806"/>
                  <a:pt x="156270" y="205383"/>
                </a:cubicBezTo>
                <a:close/>
                <a:moveTo>
                  <a:pt x="223242" y="205383"/>
                </a:moveTo>
                <a:cubicBezTo>
                  <a:pt x="223242" y="197960"/>
                  <a:pt x="229214" y="191988"/>
                  <a:pt x="236637" y="191988"/>
                </a:cubicBezTo>
                <a:lnTo>
                  <a:pt x="254496" y="191988"/>
                </a:lnTo>
                <a:cubicBezTo>
                  <a:pt x="261919" y="191988"/>
                  <a:pt x="267891" y="197960"/>
                  <a:pt x="267891" y="205383"/>
                </a:cubicBezTo>
                <a:cubicBezTo>
                  <a:pt x="267891" y="212806"/>
                  <a:pt x="261919" y="218777"/>
                  <a:pt x="254496" y="218777"/>
                </a:cubicBezTo>
                <a:lnTo>
                  <a:pt x="236637" y="218777"/>
                </a:lnTo>
                <a:cubicBezTo>
                  <a:pt x="229214" y="218777"/>
                  <a:pt x="223242" y="212806"/>
                  <a:pt x="223242" y="205383"/>
                </a:cubicBezTo>
                <a:close/>
                <a:moveTo>
                  <a:pt x="125016" y="98227"/>
                </a:moveTo>
                <a:cubicBezTo>
                  <a:pt x="139801" y="98227"/>
                  <a:pt x="151805" y="110230"/>
                  <a:pt x="151805" y="125016"/>
                </a:cubicBezTo>
                <a:cubicBezTo>
                  <a:pt x="151805" y="139801"/>
                  <a:pt x="139801" y="151805"/>
                  <a:pt x="125016" y="151805"/>
                </a:cubicBezTo>
                <a:cubicBezTo>
                  <a:pt x="110230" y="151805"/>
                  <a:pt x="98227" y="139801"/>
                  <a:pt x="98227" y="125016"/>
                </a:cubicBezTo>
                <a:cubicBezTo>
                  <a:pt x="98227" y="110230"/>
                  <a:pt x="110230" y="98227"/>
                  <a:pt x="125016" y="98227"/>
                </a:cubicBezTo>
                <a:close/>
                <a:moveTo>
                  <a:pt x="205383" y="125016"/>
                </a:moveTo>
                <a:cubicBezTo>
                  <a:pt x="205383" y="110230"/>
                  <a:pt x="217387" y="98227"/>
                  <a:pt x="232172" y="98227"/>
                </a:cubicBezTo>
                <a:cubicBezTo>
                  <a:pt x="246957" y="98227"/>
                  <a:pt x="258961" y="110230"/>
                  <a:pt x="258961" y="125016"/>
                </a:cubicBezTo>
                <a:cubicBezTo>
                  <a:pt x="258961" y="139801"/>
                  <a:pt x="246957" y="151805"/>
                  <a:pt x="232172" y="151805"/>
                </a:cubicBezTo>
                <a:cubicBezTo>
                  <a:pt x="217387" y="151805"/>
                  <a:pt x="205383" y="139801"/>
                  <a:pt x="205383" y="125016"/>
                </a:cubicBezTo>
                <a:close/>
                <a:moveTo>
                  <a:pt x="35719" y="125016"/>
                </a:moveTo>
                <a:cubicBezTo>
                  <a:pt x="35719" y="115137"/>
                  <a:pt x="27738" y="107156"/>
                  <a:pt x="17859" y="107156"/>
                </a:cubicBezTo>
                <a:cubicBezTo>
                  <a:pt x="7981" y="107156"/>
                  <a:pt x="0" y="115137"/>
                  <a:pt x="0" y="125016"/>
                </a:cubicBezTo>
                <a:lnTo>
                  <a:pt x="0" y="178594"/>
                </a:lnTo>
                <a:cubicBezTo>
                  <a:pt x="0" y="188472"/>
                  <a:pt x="7981" y="196453"/>
                  <a:pt x="17859" y="196453"/>
                </a:cubicBezTo>
                <a:cubicBezTo>
                  <a:pt x="27738" y="196453"/>
                  <a:pt x="35719" y="188472"/>
                  <a:pt x="35719" y="178594"/>
                </a:cubicBezTo>
                <a:lnTo>
                  <a:pt x="35719" y="125016"/>
                </a:lnTo>
                <a:close/>
                <a:moveTo>
                  <a:pt x="339328" y="107156"/>
                </a:moveTo>
                <a:cubicBezTo>
                  <a:pt x="329450" y="107156"/>
                  <a:pt x="321469" y="115137"/>
                  <a:pt x="321469" y="125016"/>
                </a:cubicBezTo>
                <a:lnTo>
                  <a:pt x="321469" y="178594"/>
                </a:lnTo>
                <a:cubicBezTo>
                  <a:pt x="321469" y="188472"/>
                  <a:pt x="329450" y="196453"/>
                  <a:pt x="339328" y="196453"/>
                </a:cubicBezTo>
                <a:cubicBezTo>
                  <a:pt x="349207" y="196453"/>
                  <a:pt x="357188" y="188472"/>
                  <a:pt x="357188" y="178594"/>
                </a:cubicBezTo>
                <a:lnTo>
                  <a:pt x="357188" y="125016"/>
                </a:lnTo>
                <a:cubicBezTo>
                  <a:pt x="357188" y="115137"/>
                  <a:pt x="349207" y="107156"/>
                  <a:pt x="339328" y="107156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1" name="Text 8"/>
          <p:cNvSpPr/>
          <p:nvPr/>
        </p:nvSpPr>
        <p:spPr>
          <a:xfrm>
            <a:off x="2867501" y="5162550"/>
            <a:ext cx="121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Inqilobi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872264" y="5429250"/>
            <a:ext cx="120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24/7 Monitoring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465082" y="4572000"/>
            <a:ext cx="1514475" cy="1276350"/>
          </a:xfrm>
          <a:custGeom>
            <a:avLst/>
            <a:gdLst/>
            <a:ahLst/>
            <a:cxnLst/>
            <a:rect l="l" t="t" r="r" b="b"/>
            <a:pathLst>
              <a:path w="1514475" h="1276350">
                <a:moveTo>
                  <a:pt x="114297" y="0"/>
                </a:moveTo>
                <a:lnTo>
                  <a:pt x="1400178" y="0"/>
                </a:lnTo>
                <a:cubicBezTo>
                  <a:pt x="1463260" y="0"/>
                  <a:pt x="1514475" y="51215"/>
                  <a:pt x="1514475" y="114297"/>
                </a:cubicBezTo>
                <a:lnTo>
                  <a:pt x="1514475" y="1162053"/>
                </a:lnTo>
                <a:cubicBezTo>
                  <a:pt x="1514475" y="1225135"/>
                  <a:pt x="1463260" y="1276350"/>
                  <a:pt x="1400178" y="1276350"/>
                </a:cubicBezTo>
                <a:lnTo>
                  <a:pt x="114297" y="1276350"/>
                </a:lnTo>
                <a:cubicBezTo>
                  <a:pt x="51215" y="1276350"/>
                  <a:pt x="0" y="1225135"/>
                  <a:pt x="0" y="116205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136475" y="4762500"/>
            <a:ext cx="178594" cy="285750"/>
          </a:xfrm>
          <a:custGeom>
            <a:avLst/>
            <a:gdLst/>
            <a:ahLst/>
            <a:cxnLst/>
            <a:rect l="l" t="t" r="r" b="b"/>
            <a:pathLst>
              <a:path w="178594" h="285750">
                <a:moveTo>
                  <a:pt x="75902" y="13395"/>
                </a:moveTo>
                <a:cubicBezTo>
                  <a:pt x="75902" y="5972"/>
                  <a:pt x="81874" y="0"/>
                  <a:pt x="89297" y="0"/>
                </a:cubicBezTo>
                <a:cubicBezTo>
                  <a:pt x="96720" y="0"/>
                  <a:pt x="102691" y="5972"/>
                  <a:pt x="102691" y="13395"/>
                </a:cubicBezTo>
                <a:lnTo>
                  <a:pt x="102691" y="35719"/>
                </a:lnTo>
                <a:lnTo>
                  <a:pt x="133945" y="35719"/>
                </a:lnTo>
                <a:cubicBezTo>
                  <a:pt x="143824" y="35719"/>
                  <a:pt x="151805" y="43700"/>
                  <a:pt x="151805" y="53578"/>
                </a:cubicBezTo>
                <a:cubicBezTo>
                  <a:pt x="151805" y="63457"/>
                  <a:pt x="143824" y="71438"/>
                  <a:pt x="133945" y="71438"/>
                </a:cubicBezTo>
                <a:lnTo>
                  <a:pt x="69819" y="71438"/>
                </a:lnTo>
                <a:cubicBezTo>
                  <a:pt x="55922" y="71438"/>
                  <a:pt x="44648" y="82711"/>
                  <a:pt x="44648" y="96608"/>
                </a:cubicBezTo>
                <a:cubicBezTo>
                  <a:pt x="44648" y="109165"/>
                  <a:pt x="53857" y="119769"/>
                  <a:pt x="66247" y="121555"/>
                </a:cubicBezTo>
                <a:lnTo>
                  <a:pt x="117370" y="128867"/>
                </a:lnTo>
                <a:cubicBezTo>
                  <a:pt x="147396" y="133164"/>
                  <a:pt x="169664" y="158837"/>
                  <a:pt x="169664" y="189142"/>
                </a:cubicBezTo>
                <a:cubicBezTo>
                  <a:pt x="169664" y="222796"/>
                  <a:pt x="142373" y="250031"/>
                  <a:pt x="108775" y="250031"/>
                </a:cubicBezTo>
                <a:lnTo>
                  <a:pt x="102691" y="250031"/>
                </a:lnTo>
                <a:lnTo>
                  <a:pt x="102691" y="272355"/>
                </a:lnTo>
                <a:cubicBezTo>
                  <a:pt x="102691" y="279778"/>
                  <a:pt x="96720" y="285750"/>
                  <a:pt x="89297" y="285750"/>
                </a:cubicBezTo>
                <a:cubicBezTo>
                  <a:pt x="81874" y="285750"/>
                  <a:pt x="75902" y="279778"/>
                  <a:pt x="75902" y="272355"/>
                </a:cubicBezTo>
                <a:lnTo>
                  <a:pt x="75902" y="250031"/>
                </a:lnTo>
                <a:lnTo>
                  <a:pt x="35719" y="250031"/>
                </a:lnTo>
                <a:cubicBezTo>
                  <a:pt x="25840" y="250031"/>
                  <a:pt x="17859" y="242050"/>
                  <a:pt x="17859" y="232172"/>
                </a:cubicBezTo>
                <a:cubicBezTo>
                  <a:pt x="17859" y="222293"/>
                  <a:pt x="25840" y="214313"/>
                  <a:pt x="35719" y="214313"/>
                </a:cubicBezTo>
                <a:lnTo>
                  <a:pt x="108775" y="214313"/>
                </a:lnTo>
                <a:cubicBezTo>
                  <a:pt x="122672" y="214313"/>
                  <a:pt x="133945" y="203039"/>
                  <a:pt x="133945" y="189142"/>
                </a:cubicBezTo>
                <a:cubicBezTo>
                  <a:pt x="133945" y="176585"/>
                  <a:pt x="124737" y="165981"/>
                  <a:pt x="112347" y="164195"/>
                </a:cubicBezTo>
                <a:lnTo>
                  <a:pt x="61224" y="156883"/>
                </a:lnTo>
                <a:cubicBezTo>
                  <a:pt x="31198" y="152642"/>
                  <a:pt x="8930" y="126913"/>
                  <a:pt x="8930" y="96608"/>
                </a:cubicBezTo>
                <a:cubicBezTo>
                  <a:pt x="8930" y="63010"/>
                  <a:pt x="36221" y="35719"/>
                  <a:pt x="69819" y="35719"/>
                </a:cubicBezTo>
                <a:lnTo>
                  <a:pt x="75902" y="35719"/>
                </a:lnTo>
                <a:lnTo>
                  <a:pt x="75902" y="13395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5" name="Text 12"/>
          <p:cNvSpPr/>
          <p:nvPr/>
        </p:nvSpPr>
        <p:spPr>
          <a:xfrm>
            <a:off x="4612719" y="5162550"/>
            <a:ext cx="121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$100K+ ROI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17482" y="5429250"/>
            <a:ext cx="120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 err="1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Yillik</a:t>
            </a: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200" dirty="0" smtClean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</a:t>
            </a:r>
            <a:r>
              <a:rPr lang="en-US" sz="1200" dirty="0" err="1" smtClean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aromad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210300" y="4572000"/>
            <a:ext cx="1514475" cy="1276350"/>
          </a:xfrm>
          <a:custGeom>
            <a:avLst/>
            <a:gdLst/>
            <a:ahLst/>
            <a:cxnLst/>
            <a:rect l="l" t="t" r="r" b="b"/>
            <a:pathLst>
              <a:path w="1514475" h="1276350">
                <a:moveTo>
                  <a:pt x="114297" y="0"/>
                </a:moveTo>
                <a:lnTo>
                  <a:pt x="1400178" y="0"/>
                </a:lnTo>
                <a:cubicBezTo>
                  <a:pt x="1463260" y="0"/>
                  <a:pt x="1514475" y="51215"/>
                  <a:pt x="1514475" y="114297"/>
                </a:cubicBezTo>
                <a:lnTo>
                  <a:pt x="1514475" y="1162053"/>
                </a:lnTo>
                <a:cubicBezTo>
                  <a:pt x="1514475" y="1225135"/>
                  <a:pt x="1463260" y="1276350"/>
                  <a:pt x="1400178" y="1276350"/>
                </a:cubicBezTo>
                <a:lnTo>
                  <a:pt x="114297" y="1276350"/>
                </a:lnTo>
                <a:cubicBezTo>
                  <a:pt x="51215" y="1276350"/>
                  <a:pt x="0" y="1225135"/>
                  <a:pt x="0" y="116205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6792396" y="4762500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9" name="Text 16"/>
          <p:cNvSpPr/>
          <p:nvPr/>
        </p:nvSpPr>
        <p:spPr>
          <a:xfrm>
            <a:off x="6357938" y="5162550"/>
            <a:ext cx="121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125+ Artist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62700" y="5429250"/>
            <a:ext cx="120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 </a:t>
            </a:r>
            <a:r>
              <a:rPr lang="uz-Latn-UZ" sz="1200" dirty="0" smtClean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</a:t>
            </a:r>
            <a:r>
              <a:rPr lang="en-US" sz="1200" dirty="0" err="1" smtClean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illik</a:t>
            </a:r>
            <a:r>
              <a:rPr lang="en-US" sz="1200" dirty="0" smtClean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200" dirty="0" smtClean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</a:t>
            </a:r>
            <a:r>
              <a:rPr lang="en-US" sz="1200" dirty="0" err="1" smtClean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eja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955518" y="4572000"/>
            <a:ext cx="1514475" cy="1276350"/>
          </a:xfrm>
          <a:custGeom>
            <a:avLst/>
            <a:gdLst/>
            <a:ahLst/>
            <a:cxnLst/>
            <a:rect l="l" t="t" r="r" b="b"/>
            <a:pathLst>
              <a:path w="1514475" h="1276350">
                <a:moveTo>
                  <a:pt x="114297" y="0"/>
                </a:moveTo>
                <a:lnTo>
                  <a:pt x="1400178" y="0"/>
                </a:lnTo>
                <a:cubicBezTo>
                  <a:pt x="1463260" y="0"/>
                  <a:pt x="1514475" y="51215"/>
                  <a:pt x="1514475" y="114297"/>
                </a:cubicBezTo>
                <a:lnTo>
                  <a:pt x="1514475" y="1162053"/>
                </a:lnTo>
                <a:cubicBezTo>
                  <a:pt x="1514475" y="1225135"/>
                  <a:pt x="1463260" y="1276350"/>
                  <a:pt x="1400178" y="1276350"/>
                </a:cubicBezTo>
                <a:lnTo>
                  <a:pt x="114297" y="1276350"/>
                </a:lnTo>
                <a:cubicBezTo>
                  <a:pt x="51215" y="1276350"/>
                  <a:pt x="0" y="1225135"/>
                  <a:pt x="0" y="116205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8573334" y="47625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96397" y="156270"/>
                </a:moveTo>
                <a:lnTo>
                  <a:pt x="89855" y="156270"/>
                </a:lnTo>
                <a:cubicBezTo>
                  <a:pt x="91473" y="192267"/>
                  <a:pt x="99454" y="225419"/>
                  <a:pt x="110784" y="249696"/>
                </a:cubicBezTo>
                <a:cubicBezTo>
                  <a:pt x="117146" y="263370"/>
                  <a:pt x="124011" y="273025"/>
                  <a:pt x="130373" y="278941"/>
                </a:cubicBezTo>
                <a:cubicBezTo>
                  <a:pt x="136624" y="284801"/>
                  <a:pt x="140922" y="285750"/>
                  <a:pt x="143154" y="285750"/>
                </a:cubicBezTo>
                <a:cubicBezTo>
                  <a:pt x="145386" y="285750"/>
                  <a:pt x="149684" y="284801"/>
                  <a:pt x="155935" y="278941"/>
                </a:cubicBezTo>
                <a:cubicBezTo>
                  <a:pt x="162297" y="273025"/>
                  <a:pt x="169162" y="263314"/>
                  <a:pt x="175524" y="249696"/>
                </a:cubicBezTo>
                <a:cubicBezTo>
                  <a:pt x="186854" y="225419"/>
                  <a:pt x="194835" y="192267"/>
                  <a:pt x="196453" y="156270"/>
                </a:cubicBezTo>
                <a:close/>
                <a:moveTo>
                  <a:pt x="89799" y="129480"/>
                </a:moveTo>
                <a:lnTo>
                  <a:pt x="196342" y="129480"/>
                </a:lnTo>
                <a:cubicBezTo>
                  <a:pt x="194779" y="93483"/>
                  <a:pt x="186798" y="60331"/>
                  <a:pt x="175468" y="36054"/>
                </a:cubicBezTo>
                <a:cubicBezTo>
                  <a:pt x="169106" y="22436"/>
                  <a:pt x="162241" y="12725"/>
                  <a:pt x="155879" y="6809"/>
                </a:cubicBezTo>
                <a:cubicBezTo>
                  <a:pt x="149628" y="949"/>
                  <a:pt x="145331" y="0"/>
                  <a:pt x="143098" y="0"/>
                </a:cubicBezTo>
                <a:cubicBezTo>
                  <a:pt x="140866" y="0"/>
                  <a:pt x="136568" y="949"/>
                  <a:pt x="130318" y="6809"/>
                </a:cubicBezTo>
                <a:cubicBezTo>
                  <a:pt x="123955" y="12725"/>
                  <a:pt x="117091" y="22436"/>
                  <a:pt x="110728" y="36054"/>
                </a:cubicBezTo>
                <a:cubicBezTo>
                  <a:pt x="99399" y="60331"/>
                  <a:pt x="91418" y="93483"/>
                  <a:pt x="89799" y="129480"/>
                </a:cubicBezTo>
                <a:close/>
                <a:moveTo>
                  <a:pt x="63010" y="129480"/>
                </a:moveTo>
                <a:cubicBezTo>
                  <a:pt x="64963" y="81707"/>
                  <a:pt x="77298" y="37337"/>
                  <a:pt x="95324" y="8204"/>
                </a:cubicBezTo>
                <a:cubicBezTo>
                  <a:pt x="43923" y="26398"/>
                  <a:pt x="6083" y="73223"/>
                  <a:pt x="837" y="129480"/>
                </a:cubicBezTo>
                <a:lnTo>
                  <a:pt x="63010" y="129480"/>
                </a:lnTo>
                <a:close/>
                <a:moveTo>
                  <a:pt x="837" y="156270"/>
                </a:moveTo>
                <a:cubicBezTo>
                  <a:pt x="6083" y="212527"/>
                  <a:pt x="43923" y="259352"/>
                  <a:pt x="95324" y="277546"/>
                </a:cubicBezTo>
                <a:cubicBezTo>
                  <a:pt x="77298" y="248413"/>
                  <a:pt x="64963" y="204043"/>
                  <a:pt x="63010" y="156270"/>
                </a:cubicBezTo>
                <a:lnTo>
                  <a:pt x="837" y="156270"/>
                </a:lnTo>
                <a:close/>
                <a:moveTo>
                  <a:pt x="223186" y="156270"/>
                </a:moveTo>
                <a:cubicBezTo>
                  <a:pt x="221233" y="204043"/>
                  <a:pt x="208899" y="248413"/>
                  <a:pt x="190872" y="277546"/>
                </a:cubicBezTo>
                <a:cubicBezTo>
                  <a:pt x="242274" y="259296"/>
                  <a:pt x="280113" y="212527"/>
                  <a:pt x="285359" y="156270"/>
                </a:cubicBezTo>
                <a:lnTo>
                  <a:pt x="223186" y="156270"/>
                </a:lnTo>
                <a:close/>
                <a:moveTo>
                  <a:pt x="285359" y="129480"/>
                </a:moveTo>
                <a:cubicBezTo>
                  <a:pt x="280113" y="73223"/>
                  <a:pt x="242274" y="26398"/>
                  <a:pt x="190872" y="8204"/>
                </a:cubicBezTo>
                <a:cubicBezTo>
                  <a:pt x="208899" y="37337"/>
                  <a:pt x="221233" y="81707"/>
                  <a:pt x="223186" y="129480"/>
                </a:cubicBezTo>
                <a:lnTo>
                  <a:pt x="285359" y="129480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23" name="Text 20"/>
          <p:cNvSpPr/>
          <p:nvPr/>
        </p:nvSpPr>
        <p:spPr>
          <a:xfrm>
            <a:off x="8103156" y="5162550"/>
            <a:ext cx="121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Global Hub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107918" y="5429250"/>
            <a:ext cx="120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 err="1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Madaniy</a:t>
            </a: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200" dirty="0" smtClean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</a:t>
            </a:r>
            <a:r>
              <a:rPr lang="en-US" sz="1200" dirty="0" err="1" smtClean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arkaz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967407" y="6229350"/>
            <a:ext cx="2257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Raqamli Filarmoniya 2026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972169" y="6534150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 err="1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Xalqaro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uz-Latn-UZ" sz="1200" dirty="0" smtClean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</a:t>
            </a:r>
            <a:r>
              <a:rPr lang="en-US" sz="1200" dirty="0" err="1" smtClean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amkorlikda</a:t>
            </a:r>
            <a:r>
              <a:rPr lang="en-US" sz="1200" dirty="0" smtClean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</a:t>
            </a:r>
            <a:r>
              <a:rPr lang="uz-Latn-UZ" sz="1200" dirty="0" smtClean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r>
              <a:rPr lang="en-US" sz="1200" dirty="0" err="1" smtClean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nqilobi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1017</Words>
  <Application>Microsoft Office PowerPoint</Application>
  <PresentationFormat>Широкоэкранный</PresentationFormat>
  <Paragraphs>232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Liter</vt:lpstr>
      <vt:lpstr>MiSans</vt:lpstr>
      <vt:lpstr>Calibri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Raqamli Filarmoniya 2026: Xalqaro Hamkorlikda AI Inqilobi</dc:title>
  <dc:subject>Raqamli Filarmoniya 2026: Xalqaro Hamkorlikda AI Inqilobi</dc:subject>
  <dc:creator>Kimi</dc:creator>
  <cp:lastModifiedBy>Azizbek Mirzarakhimov</cp:lastModifiedBy>
  <cp:revision>3</cp:revision>
  <dcterms:created xsi:type="dcterms:W3CDTF">2026-02-17T04:32:11Z</dcterms:created>
  <dcterms:modified xsi:type="dcterms:W3CDTF">2026-02-17T04:55:50Z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{"Label":"Raqamli Filarmoniya 2026: Xalqaro Hamkorlikda AI Inqilobi","ContentProducer":"001191110108MACG2KBH8F10000","ProduceID":"19c47379-5882-8684-8000-0000f10fabde","ReservedCode1":"","ContentPropagator":"001191110108MACG2KBH8F20000","PropagateID":"19c</vt:lpwstr>
  </property>
</Properties>
</file>